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28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938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ithub.com/sudhamanc/ConversationalSalesAgen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udhamanc/ConversationalSalesAgent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udhamanc/ConversationalSalesAg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Conversational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Agent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Quarter Progress Report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4, 2026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228600" cy="228600"/>
          </a:xfrm>
          <a:prstGeom prst="rect">
            <a:avLst/>
          </a:prstGeom>
        </p:spPr>
      </p:pic>
      <p:sp>
        <p:nvSpPr>
          <p:cNvPr id="9" name="Text 6">
            <a:hlinkClick r:id="rId4"/>
          </p:cNvPr>
          <p:cNvSpPr/>
          <p:nvPr/>
        </p:nvSpPr>
        <p:spPr>
          <a:xfrm>
            <a:off x="105156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github.com/sudhamanc/ConversationalSalesAgent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758952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4320"/>
            <a:ext cx="411480" cy="41148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48942"/>
              </p:ext>
            </p:extLst>
          </p:nvPr>
        </p:nvGraphicFramePr>
        <p:xfrm>
          <a:off x="640080" y="1005840"/>
          <a:ext cx="7863840" cy="2377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Member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Role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Contributions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Sudhaman Chandrasekaran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SuperAgent orchestrator, OfferManagement, system integration, ADK architecture,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 (rgbarathan752)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ProductAgent, ServiceabilityAgent, OrderAgent,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CustomerComms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Agent,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 Mohan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PaymentAgent, Service Fulfillment Agent,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Aubin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DiscoveryAgent (Prospect DB), Lead Generation Agent,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201168" cy="201168"/>
          </a:xfrm>
          <a:prstGeom prst="rect">
            <a:avLst/>
          </a:prstGeom>
        </p:spPr>
      </p:pic>
      <p:sp>
        <p:nvSpPr>
          <p:cNvPr id="8" name="Text 3">
            <a:hlinkClick r:id="rId5"/>
          </p:cNvPr>
          <p:cNvSpPr/>
          <p:nvPr/>
        </p:nvSpPr>
        <p:spPr>
          <a:xfrm>
            <a:off x="914400" y="3657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github.com/sudhamanc/ConversationalSalesAgent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0386" y="800100"/>
            <a:ext cx="8783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B2B system that automates the sales cycle for an MSO/telco  — from prospect discovery through order fulfillment — using conversational AI.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703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telecom sales involves multiple handoff steps, each requiring domain expertise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600200"/>
            <a:ext cx="3703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00600" y="160020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288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9200" y="22402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specialized AI agents orchestrated by a SuperAgent using Google ADK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246120"/>
            <a:ext cx="3703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32461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747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429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68680" y="38862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LLM · Google ADK · FastAPI · React 19 · SQLite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00600" y="3246120"/>
            <a:ext cx="3703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00600" y="324612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4747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429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0" y="38862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Agent / Sub-Agent hierarchical delegation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371600" cy="59436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1389888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94560" y="868680"/>
            <a:ext cx="146304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94560" y="868680"/>
            <a:ext cx="146304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0058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9456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SuperAgent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1600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57600" y="1389888"/>
            <a:ext cx="182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840480" y="914400"/>
            <a:ext cx="96012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840480" y="914400"/>
            <a:ext cx="960120" cy="274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1033272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42232" y="9601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977640" y="1490472"/>
            <a:ext cx="6858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1554480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06240" y="14904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3657600" y="1389888"/>
            <a:ext cx="121615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73752" y="914400"/>
            <a:ext cx="96012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73752" y="914400"/>
            <a:ext cx="96012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1033272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75504" y="9601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5010912" y="1490472"/>
            <a:ext cx="6858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554480"/>
            <a:ext cx="146304" cy="1463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14904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API</a:t>
            </a:r>
            <a:endParaRPr lang="en-US" sz="700" dirty="0"/>
          </a:p>
        </p:txBody>
      </p:sp>
      <p:sp>
        <p:nvSpPr>
          <p:cNvPr id="28" name="Shape 21"/>
          <p:cNvSpPr/>
          <p:nvPr/>
        </p:nvSpPr>
        <p:spPr>
          <a:xfrm>
            <a:off x="3657600" y="1389888"/>
            <a:ext cx="2249424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5907024" y="914400"/>
            <a:ext cx="96012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5907024" y="914400"/>
            <a:ext cx="960120" cy="274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1033272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08776" y="9601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33" name="Shape 25"/>
          <p:cNvSpPr/>
          <p:nvPr/>
        </p:nvSpPr>
        <p:spPr>
          <a:xfrm>
            <a:off x="6044184" y="1490472"/>
            <a:ext cx="6858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1554480"/>
            <a:ext cx="146304" cy="14630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272784" y="14904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700" dirty="0"/>
          </a:p>
        </p:txBody>
      </p:sp>
      <p:sp>
        <p:nvSpPr>
          <p:cNvPr id="36" name="Shape 27"/>
          <p:cNvSpPr/>
          <p:nvPr/>
        </p:nvSpPr>
        <p:spPr>
          <a:xfrm>
            <a:off x="3657600" y="1389888"/>
            <a:ext cx="328269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6940296" y="914400"/>
            <a:ext cx="96012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6940296" y="914400"/>
            <a:ext cx="96012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1033272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242048" y="9601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Mgmt</a:t>
            </a:r>
            <a:endParaRPr lang="en-US" sz="800" dirty="0"/>
          </a:p>
        </p:txBody>
      </p:sp>
      <p:sp>
        <p:nvSpPr>
          <p:cNvPr id="41" name="Shape 31"/>
          <p:cNvSpPr/>
          <p:nvPr/>
        </p:nvSpPr>
        <p:spPr>
          <a:xfrm>
            <a:off x="7077456" y="1490472"/>
            <a:ext cx="6858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1554480"/>
            <a:ext cx="146304" cy="14630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306056" y="14904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700" dirty="0"/>
          </a:p>
        </p:txBody>
      </p:sp>
      <p:sp>
        <p:nvSpPr>
          <p:cNvPr id="44" name="Shape 33"/>
          <p:cNvSpPr/>
          <p:nvPr/>
        </p:nvSpPr>
        <p:spPr>
          <a:xfrm>
            <a:off x="3657600" y="1389888"/>
            <a:ext cx="431596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4"/>
          <p:cNvSpPr/>
          <p:nvPr/>
        </p:nvSpPr>
        <p:spPr>
          <a:xfrm>
            <a:off x="7973568" y="914400"/>
            <a:ext cx="96012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5"/>
          <p:cNvSpPr/>
          <p:nvPr/>
        </p:nvSpPr>
        <p:spPr>
          <a:xfrm>
            <a:off x="7973568" y="914400"/>
            <a:ext cx="960120" cy="274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0" y="1033272"/>
            <a:ext cx="201168" cy="20116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8275320" y="9601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00" dirty="0"/>
          </a:p>
        </p:txBody>
      </p:sp>
      <p:sp>
        <p:nvSpPr>
          <p:cNvPr id="49" name="Shape 37"/>
          <p:cNvSpPr/>
          <p:nvPr/>
        </p:nvSpPr>
        <p:spPr>
          <a:xfrm>
            <a:off x="3657600" y="1389888"/>
            <a:ext cx="182880" cy="11018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8"/>
          <p:cNvSpPr/>
          <p:nvPr/>
        </p:nvSpPr>
        <p:spPr>
          <a:xfrm>
            <a:off x="3840480" y="2240280"/>
            <a:ext cx="96012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39"/>
          <p:cNvSpPr/>
          <p:nvPr/>
        </p:nvSpPr>
        <p:spPr>
          <a:xfrm>
            <a:off x="3840480" y="2240280"/>
            <a:ext cx="960120" cy="274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632" y="2359152"/>
            <a:ext cx="201168" cy="201168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4142232" y="2286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00" dirty="0"/>
          </a:p>
        </p:txBody>
      </p:sp>
      <p:sp>
        <p:nvSpPr>
          <p:cNvPr id="54" name="Shape 41"/>
          <p:cNvSpPr/>
          <p:nvPr/>
        </p:nvSpPr>
        <p:spPr>
          <a:xfrm>
            <a:off x="3977640" y="2816352"/>
            <a:ext cx="6858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2880360"/>
            <a:ext cx="146304" cy="146304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4206240" y="28163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Gateway</a:t>
            </a:r>
            <a:endParaRPr lang="en-US" sz="700" dirty="0"/>
          </a:p>
        </p:txBody>
      </p:sp>
      <p:sp>
        <p:nvSpPr>
          <p:cNvPr id="57" name="Shape 43"/>
          <p:cNvSpPr/>
          <p:nvPr/>
        </p:nvSpPr>
        <p:spPr>
          <a:xfrm>
            <a:off x="3657600" y="1389888"/>
            <a:ext cx="1216152" cy="11018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44"/>
          <p:cNvSpPr/>
          <p:nvPr/>
        </p:nvSpPr>
        <p:spPr>
          <a:xfrm>
            <a:off x="4873752" y="2240280"/>
            <a:ext cx="96012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45"/>
          <p:cNvSpPr/>
          <p:nvPr/>
        </p:nvSpPr>
        <p:spPr>
          <a:xfrm>
            <a:off x="4873752" y="2240280"/>
            <a:ext cx="960120" cy="274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6904" y="2359152"/>
            <a:ext cx="201168" cy="201168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5175504" y="2286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800" dirty="0"/>
          </a:p>
        </p:txBody>
      </p:sp>
      <p:sp>
        <p:nvSpPr>
          <p:cNvPr id="62" name="Shape 47"/>
          <p:cNvSpPr/>
          <p:nvPr/>
        </p:nvSpPr>
        <p:spPr>
          <a:xfrm>
            <a:off x="5010912" y="2816352"/>
            <a:ext cx="685800" cy="3200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880360"/>
            <a:ext cx="146304" cy="146304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5239512" y="28163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700" dirty="0"/>
          </a:p>
        </p:txBody>
      </p:sp>
      <p:sp>
        <p:nvSpPr>
          <p:cNvPr id="65" name="Shape 49"/>
          <p:cNvSpPr/>
          <p:nvPr/>
        </p:nvSpPr>
        <p:spPr>
          <a:xfrm>
            <a:off x="3657600" y="1389888"/>
            <a:ext cx="2249424" cy="11018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0"/>
          <p:cNvSpPr/>
          <p:nvPr/>
        </p:nvSpPr>
        <p:spPr>
          <a:xfrm>
            <a:off x="5907024" y="2240280"/>
            <a:ext cx="96012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51"/>
          <p:cNvSpPr/>
          <p:nvPr/>
        </p:nvSpPr>
        <p:spPr>
          <a:xfrm>
            <a:off x="5907024" y="2240280"/>
            <a:ext cx="96012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0176" y="2359152"/>
            <a:ext cx="201168" cy="201168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6208776" y="2286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800" dirty="0"/>
          </a:p>
        </p:txBody>
      </p:sp>
      <p:sp>
        <p:nvSpPr>
          <p:cNvPr id="70" name="Shape 53"/>
          <p:cNvSpPr/>
          <p:nvPr/>
        </p:nvSpPr>
        <p:spPr>
          <a:xfrm>
            <a:off x="3657600" y="1389888"/>
            <a:ext cx="3282696" cy="11018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54"/>
          <p:cNvSpPr/>
          <p:nvPr/>
        </p:nvSpPr>
        <p:spPr>
          <a:xfrm>
            <a:off x="6940296" y="2240280"/>
            <a:ext cx="96012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55"/>
          <p:cNvSpPr/>
          <p:nvPr/>
        </p:nvSpPr>
        <p:spPr>
          <a:xfrm>
            <a:off x="6940296" y="2240280"/>
            <a:ext cx="96012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3448" y="2359152"/>
            <a:ext cx="201168" cy="201168"/>
          </a:xfrm>
          <a:prstGeom prst="rect">
            <a:avLst/>
          </a:prstGeom>
        </p:spPr>
      </p:pic>
      <p:sp>
        <p:nvSpPr>
          <p:cNvPr id="74" name="Text 56"/>
          <p:cNvSpPr/>
          <p:nvPr/>
        </p:nvSpPr>
        <p:spPr>
          <a:xfrm>
            <a:off x="7242048" y="2286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</a:t>
            </a:r>
            <a:endParaRPr lang="en-US" sz="800" dirty="0"/>
          </a:p>
        </p:txBody>
      </p:sp>
      <p:sp>
        <p:nvSpPr>
          <p:cNvPr id="75" name="Shape 57"/>
          <p:cNvSpPr/>
          <p:nvPr/>
        </p:nvSpPr>
        <p:spPr>
          <a:xfrm>
            <a:off x="3657600" y="1389888"/>
            <a:ext cx="4315968" cy="11018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58"/>
          <p:cNvSpPr/>
          <p:nvPr/>
        </p:nvSpPr>
        <p:spPr>
          <a:xfrm>
            <a:off x="7973568" y="2240280"/>
            <a:ext cx="96012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Shape 59"/>
          <p:cNvSpPr/>
          <p:nvPr/>
        </p:nvSpPr>
        <p:spPr>
          <a:xfrm>
            <a:off x="7973568" y="2240280"/>
            <a:ext cx="960120" cy="274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46720" y="2359152"/>
            <a:ext cx="201168" cy="201168"/>
          </a:xfrm>
          <a:prstGeom prst="rect">
            <a:avLst/>
          </a:prstGeom>
        </p:spPr>
      </p:pic>
      <p:sp>
        <p:nvSpPr>
          <p:cNvPr id="79" name="Text 60"/>
          <p:cNvSpPr/>
          <p:nvPr/>
        </p:nvSpPr>
        <p:spPr>
          <a:xfrm>
            <a:off x="8275320" y="2286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: Conversation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/ Routing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307592"/>
            <a:ext cx="7863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527048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need internet for my office"</a:t>
            </a:r>
            <a:endParaRPr lang="en-US" sz="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572768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0352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 → Discovery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212140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580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5156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"Company name and address?"</a:t>
            </a:r>
            <a:endParaRPr lang="en-US" sz="9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67128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352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85800" y="2715768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8580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5156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274320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"Crane.io, 123 Main St, Phila PA"</a:t>
            </a:r>
            <a:endParaRPr lang="en-US" sz="9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761488"/>
            <a:ext cx="182880" cy="1828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30352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Registered!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85800" y="3310128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8580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5156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274320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→ Serviceability</a:t>
            </a:r>
            <a:endParaRPr lang="en-US" sz="95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355848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0352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"Fiber 1G/5G/10G available"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685800" y="3904488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68580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051560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274320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"Fiber 5G pricing?"</a:t>
            </a:r>
            <a:endParaRPr lang="en-US" sz="95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950208"/>
            <a:ext cx="182880" cy="18288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30352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Mgmt → $299/mo (36-mo)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685800" y="449884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685800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1051560" y="4434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2743200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"I'll take it"</a:t>
            </a:r>
            <a:endParaRPr lang="en-US" sz="95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4544568"/>
            <a:ext cx="182880" cy="18288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303520" y="4434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Confirmed! Install Feb 28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Code: SuperAgent — The Root Orchestrator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SuperAgent is the central brain. It routes every user message to the correct sub-agent.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google.adk.agents import 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google.genai import types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10 sub-agents imported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.sub_agents.discovery import discovery_agent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(serviceability, product, offer, order, payment, fulfillment, comms, greeting, faq)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root_agent = Agent(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name="super_sales_agent",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model="gemini-2.0-flash",              # Google Gemini LLM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instruction=ORCHESTRATOR_INSTRUCTION,   # Routing rules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description="B2B Sales Orchestrator",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sub_agents=[                            # ADK handles delegation natively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discovery_agent, serviceability_agent, product_agent,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offer_management_agent, payment_agent, order_agent,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service_fulfillment_agent, customer_communication_agent,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greeting_agent, faq_agent,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generate_content_config=types.GenerateContentConfig(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temperature=0.7,        # Creative for conversation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top_p=0.9,              # Nucleus sampling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top_k=40,               # Token selection breadth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max_output_tokens=2048,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Code: Orchestrator Prompt (Routing Rules)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SuperAgent's prompt defines priority-ordered routing rules — it acts purely as a router.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365760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4297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ORCHESTRATOR_INSTRUCTION = """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the central orchestrator for a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sales system. Your ONLY job is to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each request to the correct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specialist sub-agent.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RULES (priority order):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Company identification → discovery_agent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Address / coverage → serviceability_agent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Product specs → product_agent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Pricing / quotes → offer_management_agent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Cart / orders → order_agent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Payment → payment_agent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Installation → service_fulfillment_agent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Notifications → customer_communication_agent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Greetings → greeting_agent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FAQ → faq_agent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MUST ALWAYS call transfer_to_agent.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MUST NOT generate any text response.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0" y="1188720"/>
            <a:ext cx="338328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181051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5000" y="1764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Router-only pattern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 never talks to the user directly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235915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0" y="23134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15000" y="2514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before product, product before pricing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290779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5000" y="28620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chaining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3063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discovery → auto-route to serviceability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456432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15000" y="34107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delegation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36118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transfer_to_agent is an ADK-native function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Code: Sub-Agent — Deterministic Agent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like ServiceabilityAgent use temperature 0.0 for deterministic, tool-based responses.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google.adk.agents import Agent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google.genai import types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.tools.gis_tools import check_service_availability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Hardcoded name — never read from .env to avoid conflicts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GEMINI_MODEL = os.getenv("GEMINI_MODEL")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serviceability_agent = Agent(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name="serviceability_agent",            # Hardcoded, not from env var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model=GEMINI_MODEL,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instruction=SERVICEABILITY_INSTRUCTION, # Domain-specific prompt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description="PRE-SALE address validation &amp; coverage check",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validate_and_parse_address,         # Address parsing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check_service_availability,         # GIS / coverage lookup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get_infrastructure_by_technology,   # Tech-specific details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generate_content_config=types.GenerateContentConfig(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temperature=0.0,   # Deterministic — no hallucination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top_p=0.1,         # Very focused sampling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top_k=10,          # Minimal token variation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max_output_tokens=2048,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Code: Tool Pattern (FunctionTool)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deterministic functions — no LLM calls inside. They return structured JSON to prevent hallucination.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320040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4297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Tools return JSON, not prose text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prevents the LLM from rephrasing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hallucinating critical data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search_companies(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company_name: str = None,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prospecting database."""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db.search_companies(company_name)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json.dumps({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"found": len(results),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"companies": [{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"company_name": c['Company Name'],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"address": 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"street": c['Street'],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"city": c['City'],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"state": c['State'],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"zip_code": c['zip_code']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for c in results]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03520" y="1188720"/>
            <a:ext cx="338328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JSON Tool Outputs?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16459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Problem: LLMs rephrase text, changing digits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0" y="18928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Tool returns "19103" → LLM says "19106"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Solution: Structured JSON with explicit fields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0" y="23865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Result: Zero hallucination on addresses, prices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03520" y="2880360"/>
            <a:ext cx="338328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Guide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3291840"/>
          <a:ext cx="3017520" cy="148132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Agent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Temp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Why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Greeting/FAQ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Catalog-exact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Code: Importlib Isolation for Sub-Agents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ADK enforces one parent per agent. Importing normally triggers __init__.py, binding to the wrong parent.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SuperAgent/super_agent/sub_agents/discovery/agent.py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Loads DiscoveryAgent WITHOUT triggering its __init__.py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importlib.util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types as pytypes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Stub parent packages to prevent __init__.py execution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pkg_name in ["bootstrap_agent", "bootstrap_agent.sub_agents",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"bootstrap_agent.sub_agents.discovery"]: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pkg_name not in sys.modules: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stub = pytypes.ModuleType(pkg_name)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stub.__path__ = [os.path.join(DISCOVERY_BASE, *pkg_name.split("."))]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sys.modules[pkg_name] = stub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the agent module in isolation — fresh, unbound instance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agent_spec = importlib.util.spec_from_file_location(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"bootstrap_agent.sub_agents.discovery.discovery_agent",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os.path.join(DISCOVERY_PKG, "discovery_agent.py"),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agent_mod = importlib.util.module_from_spec(agent_spec)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agent_spec.loader.exec_module(agent_mod)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discovery_agent = agent_mod.discovery_agent  # Fresh instance for SuperAgent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Made — Winter Quarter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 (Weeks 1–9)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89888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371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Chat UI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36776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618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 Backend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8366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18653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 Orchestrator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0552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112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DiscoveryAgent + SQLite DB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2359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ServiceabilityAgent + GIS</a:t>
            </a:r>
            <a:endParaRPr lang="en-US" sz="9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24328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2606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ProductAgent + Catalog</a:t>
            </a:r>
            <a:endParaRPr lang="en-US" sz="9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71216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68680" y="28529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OfferManagement + Pricing</a:t>
            </a:r>
            <a:endParaRPr lang="en-US" sz="9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18104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68680" y="30998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OrderAgent + Cart/Contracts</a:t>
            </a:r>
            <a:endParaRPr lang="en-US" sz="9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64992"/>
            <a:ext cx="164592" cy="16459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68680" y="3346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PaymentAgent + Credit Check</a:t>
            </a:r>
            <a:endParaRPr lang="en-US" sz="9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164592" cy="16459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868680" y="35935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ServiceFulfillmentAgent</a:t>
            </a:r>
            <a:endParaRPr lang="en-US" sz="95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58768"/>
            <a:ext cx="164592" cy="164592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868680" y="38404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CustomerCommsAgent</a:t>
            </a:r>
            <a:endParaRPr lang="en-US" sz="95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05656"/>
            <a:ext cx="164592" cy="164592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868680" y="40873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GreetingAgent + FAQAgent</a:t>
            </a:r>
            <a:endParaRPr lang="en-US" sz="950" dirty="0"/>
          </a:p>
        </p:txBody>
      </p:sp>
      <p:sp>
        <p:nvSpPr>
          <p:cNvPr id="31" name="Shape 17"/>
          <p:cNvSpPr/>
          <p:nvPr/>
        </p:nvSpPr>
        <p:spPr>
          <a:xfrm>
            <a:off x="4754880" y="91440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18"/>
          <p:cNvSpPr/>
          <p:nvPr/>
        </p:nvSpPr>
        <p:spPr>
          <a:xfrm>
            <a:off x="493776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Milestones</a:t>
            </a:r>
            <a:endParaRPr lang="en-US" sz="1400" dirty="0"/>
          </a:p>
        </p:txBody>
      </p:sp>
      <p:sp>
        <p:nvSpPr>
          <p:cNvPr id="33" name="Shape 19"/>
          <p:cNvSpPr/>
          <p:nvPr/>
        </p:nvSpPr>
        <p:spPr>
          <a:xfrm>
            <a:off x="4937760" y="1371600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0"/>
          <p:cNvSpPr/>
          <p:nvPr/>
        </p:nvSpPr>
        <p:spPr>
          <a:xfrm>
            <a:off x="4937760" y="1371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</a:t>
            </a:r>
            <a:endParaRPr lang="en-US" sz="750" dirty="0"/>
          </a:p>
        </p:txBody>
      </p:sp>
      <p:sp>
        <p:nvSpPr>
          <p:cNvPr id="35" name="Text 21"/>
          <p:cNvSpPr/>
          <p:nvPr/>
        </p:nvSpPr>
        <p:spPr>
          <a:xfrm>
            <a:off x="5669280" y="1371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created, README, architecture docs</a:t>
            </a:r>
            <a:endParaRPr lang="en-US" sz="900" dirty="0"/>
          </a:p>
        </p:txBody>
      </p:sp>
      <p:sp>
        <p:nvSpPr>
          <p:cNvPr id="36" name="Shape 22"/>
          <p:cNvSpPr/>
          <p:nvPr/>
        </p:nvSpPr>
        <p:spPr>
          <a:xfrm>
            <a:off x="4937760" y="1682496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3"/>
          <p:cNvSpPr/>
          <p:nvPr/>
        </p:nvSpPr>
        <p:spPr>
          <a:xfrm>
            <a:off x="4937760" y="16824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7</a:t>
            </a:r>
            <a:endParaRPr lang="en-US" sz="750" dirty="0"/>
          </a:p>
        </p:txBody>
      </p:sp>
      <p:sp>
        <p:nvSpPr>
          <p:cNvPr id="38" name="Text 24"/>
          <p:cNvSpPr/>
          <p:nvPr/>
        </p:nvSpPr>
        <p:spPr>
          <a:xfrm>
            <a:off x="5669280" y="16824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BootStrapAgent template, MilestonePlan</a:t>
            </a:r>
            <a:endParaRPr lang="en-US" sz="900" dirty="0"/>
          </a:p>
        </p:txBody>
      </p:sp>
      <p:sp>
        <p:nvSpPr>
          <p:cNvPr id="39" name="Shape 25"/>
          <p:cNvSpPr/>
          <p:nvPr/>
        </p:nvSpPr>
        <p:spPr>
          <a:xfrm>
            <a:off x="4937760" y="1993392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26"/>
          <p:cNvSpPr/>
          <p:nvPr/>
        </p:nvSpPr>
        <p:spPr>
          <a:xfrm>
            <a:off x="4937760" y="1993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10</a:t>
            </a:r>
            <a:endParaRPr lang="en-US" sz="750" dirty="0"/>
          </a:p>
        </p:txBody>
      </p:sp>
      <p:sp>
        <p:nvSpPr>
          <p:cNvPr id="41" name="Text 27"/>
          <p:cNvSpPr/>
          <p:nvPr/>
        </p:nvSpPr>
        <p:spPr>
          <a:xfrm>
            <a:off x="5669280" y="1993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 + FastAPI + SSE + React UI</a:t>
            </a:r>
            <a:endParaRPr lang="en-US" sz="900" dirty="0"/>
          </a:p>
        </p:txBody>
      </p:sp>
      <p:sp>
        <p:nvSpPr>
          <p:cNvPr id="42" name="Shape 28"/>
          <p:cNvSpPr/>
          <p:nvPr/>
        </p:nvSpPr>
        <p:spPr>
          <a:xfrm>
            <a:off x="4937760" y="2304288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29"/>
          <p:cNvSpPr/>
          <p:nvPr/>
        </p:nvSpPr>
        <p:spPr>
          <a:xfrm>
            <a:off x="4937760" y="23042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11</a:t>
            </a:r>
            <a:endParaRPr lang="en-US" sz="750" dirty="0"/>
          </a:p>
        </p:txBody>
      </p:sp>
      <p:sp>
        <p:nvSpPr>
          <p:cNvPr id="44" name="Text 30"/>
          <p:cNvSpPr/>
          <p:nvPr/>
        </p:nvSpPr>
        <p:spPr>
          <a:xfrm>
            <a:off x="566928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DiscoveryAgent with SQLite prospect DB</a:t>
            </a:r>
            <a:endParaRPr lang="en-US" sz="900" dirty="0"/>
          </a:p>
        </p:txBody>
      </p:sp>
      <p:sp>
        <p:nvSpPr>
          <p:cNvPr id="45" name="Shape 31"/>
          <p:cNvSpPr/>
          <p:nvPr/>
        </p:nvSpPr>
        <p:spPr>
          <a:xfrm>
            <a:off x="4937760" y="2615184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2"/>
          <p:cNvSpPr/>
          <p:nvPr/>
        </p:nvSpPr>
        <p:spPr>
          <a:xfrm>
            <a:off x="4937760" y="26151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13</a:t>
            </a:r>
            <a:endParaRPr lang="en-US" sz="750" dirty="0"/>
          </a:p>
        </p:txBody>
      </p:sp>
      <p:sp>
        <p:nvSpPr>
          <p:cNvPr id="47" name="Text 33"/>
          <p:cNvSpPr/>
          <p:nvPr/>
        </p:nvSpPr>
        <p:spPr>
          <a:xfrm>
            <a:off x="5669280" y="2615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+ Product integrated</a:t>
            </a:r>
            <a:endParaRPr lang="en-US" sz="900" dirty="0"/>
          </a:p>
        </p:txBody>
      </p:sp>
      <p:sp>
        <p:nvSpPr>
          <p:cNvPr id="48" name="Shape 34"/>
          <p:cNvSpPr/>
          <p:nvPr/>
        </p:nvSpPr>
        <p:spPr>
          <a:xfrm>
            <a:off x="4937760" y="2926080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35"/>
          <p:cNvSpPr/>
          <p:nvPr/>
        </p:nvSpPr>
        <p:spPr>
          <a:xfrm>
            <a:off x="4937760" y="2926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15</a:t>
            </a:r>
            <a:endParaRPr lang="en-US" sz="750" dirty="0"/>
          </a:p>
        </p:txBody>
      </p:sp>
      <p:sp>
        <p:nvSpPr>
          <p:cNvPr id="50" name="Text 36"/>
          <p:cNvSpPr/>
          <p:nvPr/>
        </p:nvSpPr>
        <p:spPr>
          <a:xfrm>
            <a:off x="5669280" y="2926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coordination + JSON integrity</a:t>
            </a:r>
            <a:endParaRPr lang="en-US" sz="900" dirty="0"/>
          </a:p>
        </p:txBody>
      </p:sp>
      <p:sp>
        <p:nvSpPr>
          <p:cNvPr id="51" name="Shape 37"/>
          <p:cNvSpPr/>
          <p:nvPr/>
        </p:nvSpPr>
        <p:spPr>
          <a:xfrm>
            <a:off x="4937760" y="3236976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38"/>
          <p:cNvSpPr/>
          <p:nvPr/>
        </p:nvSpPr>
        <p:spPr>
          <a:xfrm>
            <a:off x="4937760" y="32369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17</a:t>
            </a:r>
            <a:endParaRPr lang="en-US" sz="750" dirty="0"/>
          </a:p>
        </p:txBody>
      </p:sp>
      <p:sp>
        <p:nvSpPr>
          <p:cNvPr id="53" name="Text 39"/>
          <p:cNvSpPr/>
          <p:nvPr/>
        </p:nvSpPr>
        <p:spPr>
          <a:xfrm>
            <a:off x="5669280" y="32369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+ Service Fulfillment</a:t>
            </a:r>
            <a:endParaRPr lang="en-US" sz="900" dirty="0"/>
          </a:p>
        </p:txBody>
      </p:sp>
      <p:sp>
        <p:nvSpPr>
          <p:cNvPr id="54" name="Shape 40"/>
          <p:cNvSpPr/>
          <p:nvPr/>
        </p:nvSpPr>
        <p:spPr>
          <a:xfrm>
            <a:off x="4937760" y="3547872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1"/>
          <p:cNvSpPr/>
          <p:nvPr/>
        </p:nvSpPr>
        <p:spPr>
          <a:xfrm>
            <a:off x="4937760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21</a:t>
            </a:r>
            <a:endParaRPr lang="en-US" sz="750" dirty="0"/>
          </a:p>
        </p:txBody>
      </p:sp>
      <p:sp>
        <p:nvSpPr>
          <p:cNvPr id="56" name="Text 42"/>
          <p:cNvSpPr/>
          <p:nvPr/>
        </p:nvSpPr>
        <p:spPr>
          <a:xfrm>
            <a:off x="5669280" y="35478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Mgmt, Order, Comms agents</a:t>
            </a:r>
            <a:endParaRPr lang="en-US" sz="900" dirty="0"/>
          </a:p>
        </p:txBody>
      </p:sp>
      <p:sp>
        <p:nvSpPr>
          <p:cNvPr id="57" name="Shape 43"/>
          <p:cNvSpPr/>
          <p:nvPr/>
        </p:nvSpPr>
        <p:spPr>
          <a:xfrm>
            <a:off x="4937760" y="3858768"/>
            <a:ext cx="640080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4"/>
          <p:cNvSpPr/>
          <p:nvPr/>
        </p:nvSpPr>
        <p:spPr>
          <a:xfrm>
            <a:off x="4937760" y="38587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26</a:t>
            </a:r>
            <a:endParaRPr lang="en-US" sz="750" dirty="0"/>
          </a:p>
        </p:txBody>
      </p:sp>
      <p:sp>
        <p:nvSpPr>
          <p:cNvPr id="59" name="Text 45"/>
          <p:cNvSpPr/>
          <p:nvPr/>
        </p:nvSpPr>
        <p:spPr>
          <a:xfrm>
            <a:off x="5669280" y="3858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orchestration working</a:t>
            </a:r>
            <a:endParaRPr lang="en-US" sz="900" dirty="0"/>
          </a:p>
        </p:txBody>
      </p:sp>
      <p:sp>
        <p:nvSpPr>
          <p:cNvPr id="60" name="Shape 46"/>
          <p:cNvSpPr/>
          <p:nvPr/>
        </p:nvSpPr>
        <p:spPr>
          <a:xfrm>
            <a:off x="4937760" y="4306824"/>
            <a:ext cx="3657600" cy="3657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47"/>
          <p:cNvSpPr/>
          <p:nvPr/>
        </p:nvSpPr>
        <p:spPr>
          <a:xfrm>
            <a:off x="4937760" y="4306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40+ commits across the team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vs. Initial Goals — Honest Accounting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Schedule  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3807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built and integrated (Initial goal was 6–7 by end of Winter)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828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sales flow working (was a Spring goal)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22860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coordination pattern developed and tested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6974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651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with SSE streaming — real-time agent responses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1089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063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tool outputs — solved cross-agent hallucination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Remaining / Deferred to Spring  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1453896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66360" y="1417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/ RAG for product Q&amp;A (replaced by in-repo catalog)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83480" y="1801368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66360" y="17647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(A2A) protocol — using ADK native delegation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2148840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2112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dashboard — logging infra in place but no UI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83480" y="2496312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245973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quote/order databases — currently in-memory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83480" y="2843784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28072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handling &amp; comprehensive error recovery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3191256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66360" y="31546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Vertex/GCP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" y="403250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We are tracking to our milestone plan for Winter Quarter. All core agents are functional. Spring Quarter shifts to hardening, persistence, observability, and the final demo.</a:t>
            </a:r>
            <a:endParaRPr lang="en-US" sz="1000" dirty="0"/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AE38A0E5-F757-52F9-5EB1-E65F22C9FCB1}"/>
              </a:ext>
            </a:extLst>
          </p:cNvPr>
          <p:cNvSpPr/>
          <p:nvPr/>
        </p:nvSpPr>
        <p:spPr>
          <a:xfrm>
            <a:off x="4983480" y="3557847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920C4F54-0344-BA20-C2CE-E814957FA119}"/>
              </a:ext>
            </a:extLst>
          </p:cNvPr>
          <p:cNvSpPr/>
          <p:nvPr/>
        </p:nvSpPr>
        <p:spPr>
          <a:xfrm>
            <a:off x="5166360" y="3521271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testing across all sales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Background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work is based 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572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— ADK's native multi-agent delegation was the key architectural choice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143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143000"/>
            <a:ext cx="4572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Gemini API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3776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integration with ADK; gemini-3-flash-preview</a:t>
            </a:r>
          </a:p>
          <a:p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chosen for speed/cost balance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2286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2286000"/>
            <a:ext cx="45720" cy="10058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688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Cable/MSO Domain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 at Comcast — direct familiarity with B2B sales, serviceability, fulfillment and order flows for SMB products.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54880" y="2286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54880" y="2286000"/>
            <a:ext cx="4572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6888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0352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Research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93776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LLM multi-agent patterns (ReAct, CoT) — chose hierarchical orchestration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3429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57200" y="3429000"/>
            <a:ext cx="45720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058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ADK Shell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4008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Working on an internal initiative that allowed us to reuse an ADK shell agent 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754880" y="3429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4754880" y="3429000"/>
            <a:ext cx="4572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61188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0352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Development Frameworks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93776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Reviewed LangGraph/LangChain, ADK and Strands before choosing Google ADK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Code Was Written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 Collaboration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943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5720" cy="685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533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80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Design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1554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the team, based on ADK docs and telecom domain expertise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5943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45720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762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103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 Coding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51560" y="2377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&amp; Claude used for boilerplate, debugging, prompt writing, DB schemas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5943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2834640"/>
            <a:ext cx="45720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992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926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Human-Written Core Logic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51560" y="3200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rules, tool implementations, agent coordination, integration testing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657600"/>
            <a:ext cx="5943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57200" y="3657600"/>
            <a:ext cx="45720" cy="6858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3749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51560" y="4023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reviewed by team members before merging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57200" y="4434840"/>
            <a:ext cx="45720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in transparent attribution. AI tools accelerated development but every design decision and integration was human-driven.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Did What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402336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Sudhaman Chandrasekaran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005840"/>
            <a:ext cx="713232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11880" y="10058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commits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325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SuperAgent orchestrator + routing logic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5453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OfferManagementAgent pricing engine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764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FastAPI server + SSE streaming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984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Integration of all 10 sub-agents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2037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Multi-turn coordination strategy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Documentation (AGENTS.md, CLAUDE.md)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0233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02336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1005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 (rgbarathan752)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9560" y="1005840"/>
            <a:ext cx="713232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09560" y="10058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commits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37760" y="1325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ProductAgent with catalog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15453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ServiceabilityAgent + GIS tools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1764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OrderAgent cart management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1984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CustomerCommsAgent notifications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40233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402336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Arun Mohan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11880" y="3017520"/>
            <a:ext cx="713232" cy="2286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880" y="30175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commits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3337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PaymentAgent — credit checks &amp; authorization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3557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ServiceFulfillmentAgent — scheduling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37764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Payment gateway integration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40233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02336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Aubin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09560" y="3017520"/>
            <a:ext cx="713232" cy="228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909560" y="30175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37760" y="3337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DiscoveryAgent — prospect database (SQLite)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37760" y="3557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Lead Generation Agent — BANT qualification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37764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Database schema &amp; migration scripts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39959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Company data seeding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4320"/>
            <a:ext cx="411480" cy="41148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274792"/>
              </p:ext>
            </p:extLst>
          </p:nvPr>
        </p:nvGraphicFramePr>
        <p:xfrm>
          <a:off x="640080" y="960120"/>
          <a:ext cx="7863840" cy="32461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Layer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Technology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3 Flash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reasoning, intent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ADK 1.20+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orchestration, tool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 + FastAPI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logic, REST + SSE streaming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+ Vite + Tailwind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UI with real-time message display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data, order 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Comms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 Sub-Agent Delegation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inter-agent routing (no custom protocol)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Assistants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Copilot, Claude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acceleration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6B6D4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743200"/>
            <a:ext cx="274320" cy="274320"/>
          </a:xfrm>
          <a:prstGeom prst="rect">
            <a:avLst/>
          </a:prstGeom>
        </p:spPr>
      </p:pic>
      <p:sp>
        <p:nvSpPr>
          <p:cNvPr id="7" name="Text 4">
            <a:hlinkClick r:id="rId4"/>
          </p:cNvPr>
          <p:cNvSpPr/>
          <p:nvPr/>
        </p:nvSpPr>
        <p:spPr>
          <a:xfrm>
            <a:off x="31089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github.com/sudhamanc/ConversationalSalesAgent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3931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Quarter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2193</Words>
  <Application>Microsoft Macintosh PowerPoint</Application>
  <PresentationFormat>On-screen Show (16:9)</PresentationFormat>
  <Paragraphs>400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Conversational Sales Agent — Progress Report</dc:title>
  <dc:subject>PptxGenJS Presentation</dc:subject>
  <dc:creator>Sudhaman Chandrasekaran</dc:creator>
  <cp:lastModifiedBy>Chandrasekaran, Sudhaman</cp:lastModifiedBy>
  <cp:revision>16</cp:revision>
  <dcterms:created xsi:type="dcterms:W3CDTF">2026-03-01T03:41:26Z</dcterms:created>
  <dcterms:modified xsi:type="dcterms:W3CDTF">2026-03-01T05:09:18Z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2026-03-01T03:52:07Z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0252b7ae-8148-4016-97a7-6a9fad2d7b53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50, 0, 1, 1</vt:lpwstr>
  </property>
</Properties>
</file>