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4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86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938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8788F-D364-E037-2FEE-4A17B586B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08A34-04D9-D846-BEAE-2E42B738E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7E743-CA1E-4FA4-1DB3-4D4CB042C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44D90-946E-E795-C21E-10994564C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sudhamanc/ConversationalSalesAgen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udhamanc/ConversationalSalesAgent" TargetMode="Externa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udhamanc/ConversationalSalesAge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Conversational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Sales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Progress 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4, 2026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228600" cy="228600"/>
          </a:xfrm>
          <a:prstGeom prst="rect">
            <a:avLst/>
          </a:prstGeom>
        </p:spPr>
      </p:pic>
      <p:sp>
        <p:nvSpPr>
          <p:cNvPr id="9" name="Text 6">
            <a:hlinkClick r:id="rId4"/>
          </p:cNvPr>
          <p:cNvSpPr/>
          <p:nvPr/>
        </p:nvSpPr>
        <p:spPr>
          <a:xfrm>
            <a:off x="105156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589520" y="36576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348942"/>
              </p:ext>
            </p:extLst>
          </p:nvPr>
        </p:nvGraphicFramePr>
        <p:xfrm>
          <a:off x="640080" y="1005840"/>
          <a:ext cx="7863840" cy="23774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Member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Contributions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Sudhaman Chandrasekaran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 orchestrator, OfferManagement, system integration, ADK architecture,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 (rgbarathan752)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ProductAgent, ServiceabilityAgent, OrderAgent, </a:t>
                      </a:r>
                      <a:r>
                        <a:rPr lang="en-US" sz="105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CustomerComms</a:t>
                      </a: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Arun Mohan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PaymentAgent, Service Fulfillment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DiscoveryAgent (Prospect DB), Lead Generation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201168" cy="201168"/>
          </a:xfrm>
          <a:prstGeom prst="rect">
            <a:avLst/>
          </a:prstGeom>
        </p:spPr>
      </p:pic>
      <p:sp>
        <p:nvSpPr>
          <p:cNvPr id="8" name="Text 3">
            <a:hlinkClick r:id="rId5"/>
          </p:cNvPr>
          <p:cNvSpPr/>
          <p:nvPr/>
        </p:nvSpPr>
        <p:spPr>
          <a:xfrm>
            <a:off x="914400" y="3657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828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0386" y="800100"/>
            <a:ext cx="8783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B2B system that automates the sales cycle for an MSO/telco  — from prospect discovery through order fulfillment — using conversational AI.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6002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telecom sales involves multiple handoff steps, each requiring domain expertise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00600" y="16002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288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specialized AI agents orchestrated by a SuperAgent using Google ADK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246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747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LLM · Google ADK · FastAPI · React 19 · SQLite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0060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00600" y="3246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47472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4068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Agent / Sub-Agent hierarchical delegation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solidFill>
            <a:srgbClr val="3B82F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37360" y="1389888"/>
            <a:ext cx="457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94560" y="868680"/>
            <a:ext cx="1463040" cy="10972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868680"/>
            <a:ext cx="1463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0058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1371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16002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0" y="1389888"/>
            <a:ext cx="182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840480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840480" y="91440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1033272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42232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977640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1554480"/>
            <a:ext cx="146304" cy="1463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06240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3657600" y="1389888"/>
            <a:ext cx="12161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873752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73752" y="91440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103327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010912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554480"/>
            <a:ext cx="146304" cy="1463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39512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API</a:t>
            </a:r>
            <a:endParaRPr lang="en-US" sz="700" dirty="0"/>
          </a:p>
        </p:txBody>
      </p:sp>
      <p:sp>
        <p:nvSpPr>
          <p:cNvPr id="28" name="Shape 21"/>
          <p:cNvSpPr/>
          <p:nvPr/>
        </p:nvSpPr>
        <p:spPr>
          <a:xfrm>
            <a:off x="3657600" y="1389888"/>
            <a:ext cx="2249424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5907024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5907024" y="91440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33272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6044184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1554480"/>
            <a:ext cx="146304" cy="14630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272784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700" dirty="0"/>
          </a:p>
        </p:txBody>
      </p:sp>
      <p:sp>
        <p:nvSpPr>
          <p:cNvPr id="36" name="Shape 27"/>
          <p:cNvSpPr/>
          <p:nvPr/>
        </p:nvSpPr>
        <p:spPr>
          <a:xfrm>
            <a:off x="3657600" y="1389888"/>
            <a:ext cx="3282696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6940296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6940296" y="91440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1033272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42048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800" dirty="0"/>
          </a:p>
        </p:txBody>
      </p:sp>
      <p:sp>
        <p:nvSpPr>
          <p:cNvPr id="41" name="Shape 31"/>
          <p:cNvSpPr/>
          <p:nvPr/>
        </p:nvSpPr>
        <p:spPr>
          <a:xfrm>
            <a:off x="7077456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1554480"/>
            <a:ext cx="146304" cy="14630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306056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700" dirty="0"/>
          </a:p>
        </p:txBody>
      </p:sp>
      <p:sp>
        <p:nvSpPr>
          <p:cNvPr id="44" name="Shape 33"/>
          <p:cNvSpPr/>
          <p:nvPr/>
        </p:nvSpPr>
        <p:spPr>
          <a:xfrm>
            <a:off x="3657600" y="1389888"/>
            <a:ext cx="431596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4"/>
          <p:cNvSpPr/>
          <p:nvPr/>
        </p:nvSpPr>
        <p:spPr>
          <a:xfrm>
            <a:off x="7973568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5"/>
          <p:cNvSpPr/>
          <p:nvPr/>
        </p:nvSpPr>
        <p:spPr>
          <a:xfrm>
            <a:off x="7973568" y="914400"/>
            <a:ext cx="9601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20" y="1033272"/>
            <a:ext cx="201168" cy="201168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8275320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3657600" y="1389888"/>
            <a:ext cx="182880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8"/>
          <p:cNvSpPr/>
          <p:nvPr/>
        </p:nvSpPr>
        <p:spPr>
          <a:xfrm>
            <a:off x="3840480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39"/>
          <p:cNvSpPr/>
          <p:nvPr/>
        </p:nvSpPr>
        <p:spPr>
          <a:xfrm>
            <a:off x="3840480" y="2240280"/>
            <a:ext cx="960120" cy="274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3632" y="2359152"/>
            <a:ext cx="201168" cy="201168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4142232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800" dirty="0"/>
          </a:p>
        </p:txBody>
      </p:sp>
      <p:sp>
        <p:nvSpPr>
          <p:cNvPr id="54" name="Shape 41"/>
          <p:cNvSpPr/>
          <p:nvPr/>
        </p:nvSpPr>
        <p:spPr>
          <a:xfrm>
            <a:off x="3977640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2880360"/>
            <a:ext cx="146304" cy="146304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4206240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Gateway</a:t>
            </a:r>
            <a:endParaRPr lang="en-US" sz="700" dirty="0"/>
          </a:p>
        </p:txBody>
      </p:sp>
      <p:sp>
        <p:nvSpPr>
          <p:cNvPr id="57" name="Shape 43"/>
          <p:cNvSpPr/>
          <p:nvPr/>
        </p:nvSpPr>
        <p:spPr>
          <a:xfrm>
            <a:off x="3657600" y="1389888"/>
            <a:ext cx="1216152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44"/>
          <p:cNvSpPr/>
          <p:nvPr/>
        </p:nvSpPr>
        <p:spPr>
          <a:xfrm>
            <a:off x="4873752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45"/>
          <p:cNvSpPr/>
          <p:nvPr/>
        </p:nvSpPr>
        <p:spPr>
          <a:xfrm>
            <a:off x="4873752" y="224028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6904" y="2359152"/>
            <a:ext cx="201168" cy="201168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5175504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00" dirty="0"/>
          </a:p>
        </p:txBody>
      </p:sp>
      <p:sp>
        <p:nvSpPr>
          <p:cNvPr id="62" name="Shape 47"/>
          <p:cNvSpPr/>
          <p:nvPr/>
        </p:nvSpPr>
        <p:spPr>
          <a:xfrm>
            <a:off x="5010912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880360"/>
            <a:ext cx="146304" cy="146304"/>
          </a:xfrm>
          <a:prstGeom prst="rect">
            <a:avLst/>
          </a:prstGeom>
        </p:spPr>
      </p:pic>
      <p:sp>
        <p:nvSpPr>
          <p:cNvPr id="64" name="Text 48"/>
          <p:cNvSpPr/>
          <p:nvPr/>
        </p:nvSpPr>
        <p:spPr>
          <a:xfrm>
            <a:off x="5239512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700" dirty="0"/>
          </a:p>
        </p:txBody>
      </p:sp>
      <p:sp>
        <p:nvSpPr>
          <p:cNvPr id="65" name="Shape 49"/>
          <p:cNvSpPr/>
          <p:nvPr/>
        </p:nvSpPr>
        <p:spPr>
          <a:xfrm>
            <a:off x="3657600" y="1389888"/>
            <a:ext cx="2249424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50"/>
          <p:cNvSpPr/>
          <p:nvPr/>
        </p:nvSpPr>
        <p:spPr>
          <a:xfrm>
            <a:off x="5907024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907024" y="224028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80176" y="2359152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/>
          <p:nvPr/>
        </p:nvSpPr>
        <p:spPr>
          <a:xfrm>
            <a:off x="6208776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800" dirty="0"/>
          </a:p>
        </p:txBody>
      </p:sp>
      <p:sp>
        <p:nvSpPr>
          <p:cNvPr id="70" name="Shape 53"/>
          <p:cNvSpPr/>
          <p:nvPr/>
        </p:nvSpPr>
        <p:spPr>
          <a:xfrm>
            <a:off x="3657600" y="1389888"/>
            <a:ext cx="3282696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54"/>
          <p:cNvSpPr/>
          <p:nvPr/>
        </p:nvSpPr>
        <p:spPr>
          <a:xfrm>
            <a:off x="6940296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Shape 55"/>
          <p:cNvSpPr/>
          <p:nvPr/>
        </p:nvSpPr>
        <p:spPr>
          <a:xfrm>
            <a:off x="6940296" y="224028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3448" y="2359152"/>
            <a:ext cx="201168" cy="201168"/>
          </a:xfrm>
          <a:prstGeom prst="rect">
            <a:avLst/>
          </a:prstGeom>
        </p:spPr>
      </p:pic>
      <p:sp>
        <p:nvSpPr>
          <p:cNvPr id="74" name="Text 56"/>
          <p:cNvSpPr/>
          <p:nvPr/>
        </p:nvSpPr>
        <p:spPr>
          <a:xfrm>
            <a:off x="7242048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800" dirty="0"/>
          </a:p>
        </p:txBody>
      </p:sp>
      <p:sp>
        <p:nvSpPr>
          <p:cNvPr id="75" name="Shape 57"/>
          <p:cNvSpPr/>
          <p:nvPr/>
        </p:nvSpPr>
        <p:spPr>
          <a:xfrm>
            <a:off x="3657600" y="1389888"/>
            <a:ext cx="4315968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58"/>
          <p:cNvSpPr/>
          <p:nvPr/>
        </p:nvSpPr>
        <p:spPr>
          <a:xfrm>
            <a:off x="7973568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59"/>
          <p:cNvSpPr/>
          <p:nvPr/>
        </p:nvSpPr>
        <p:spPr>
          <a:xfrm>
            <a:off x="7973568" y="224028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46720" y="2359152"/>
            <a:ext cx="201168" cy="201168"/>
          </a:xfrm>
          <a:prstGeom prst="rect">
            <a:avLst/>
          </a:prstGeom>
        </p:spPr>
      </p:pic>
      <p:sp>
        <p:nvSpPr>
          <p:cNvPr id="79" name="Text 60"/>
          <p:cNvSpPr/>
          <p:nvPr/>
        </p:nvSpPr>
        <p:spPr>
          <a:xfrm>
            <a:off x="8275320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4FA5-3FA6-0914-0D48-643C6313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4E2F01-AED0-821A-D06A-D9ADE3F7647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023DE-9DF8-1071-A7EC-BE4C3DAF662D}"/>
              </a:ext>
            </a:extLst>
          </p:cNvPr>
          <p:cNvSpPr/>
          <p:nvPr/>
        </p:nvSpPr>
        <p:spPr>
          <a:xfrm>
            <a:off x="209666" y="-5819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A1E956-BAAC-368E-D2DC-423851C005C0}"/>
              </a:ext>
            </a:extLst>
          </p:cNvPr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90C7DE79-5999-BDBF-3978-3CB0C2A2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E1F93-FCD3-E0F8-B69E-3666032D0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79" y="480060"/>
            <a:ext cx="7278254" cy="453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633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498981"/>
              </p:ext>
            </p:extLst>
          </p:nvPr>
        </p:nvGraphicFramePr>
        <p:xfrm>
          <a:off x="640080" y="960120"/>
          <a:ext cx="7863840" cy="3246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Purpose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3 Flash Preview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reasoning, intent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 1.20+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orchestration, tool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3.12 + FastAPI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logic, REST + SSE streaming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+ Vite + Tailwind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with real-time message display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 data, order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Comms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ADK Sub-Agent Delegation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inter-agent routing (no custom protocol)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Assistants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Claude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acceleration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: Conversation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/ Routing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307592"/>
            <a:ext cx="78638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2704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need internet for my office"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72768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3035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→ Discovery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201168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85800" y="212140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5800" y="2121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156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"Company name and address?"</a:t>
            </a:r>
            <a:endParaRPr lang="en-US" sz="9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167128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0352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85800" y="271576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858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15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27432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"Crane.io, 123 Main St, Phila PA"</a:t>
            </a:r>
            <a:endParaRPr lang="en-US" sz="9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182880" cy="1828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30352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Registered!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40080" y="320040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85800" y="3310128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858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5156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274320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→ Serviceability</a:t>
            </a:r>
            <a:endParaRPr lang="en-US" sz="95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3355848"/>
            <a:ext cx="182880" cy="1828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03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"Fiber 1G/5G/10G available"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1051560" y="3840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2743200" y="3840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"Fiber 5G pricing?"</a:t>
            </a:r>
            <a:endParaRPr lang="en-US" sz="95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950208"/>
            <a:ext cx="182880" cy="18288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30352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 → $299/mo (36-mo)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8"/>
          <p:cNvSpPr/>
          <p:nvPr/>
        </p:nvSpPr>
        <p:spPr>
          <a:xfrm>
            <a:off x="685800" y="449884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6858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051560" y="4434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2743200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"I'll take it"</a:t>
            </a:r>
            <a:endParaRPr lang="en-US" sz="950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544568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5303520" y="4434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→ Confirmed! Install Feb 28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SuperAgent — The Root Orchestrator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 is the central brain. It routes every user message to the correct sub-agent.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10 sub-agents imported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.sub_agents.discovery import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(serviceability, product, offer, order, payment, fulfillment, comms, greeting, faq)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name="super_sales_agent",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model="gemini-2.0-flash",              # Google Gemini LLM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instruction=ORCHESTRATOR_INSTRUCTION,   # Routing rules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description="B2B Sales Orchestrator",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sub_agents=[                            # ADK handles delegation natively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discovery_agent, serviceability_agent, product_agent,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offer_management_agent, payment_agent, order_agent,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service_fulfillment_agent, customer_communication_agent,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greeting_agent, faq_agent,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temperature=0.7,        # Creative for conversation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top_p=0.9,              # Nucleus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top_k=40,               # Token selection breadth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Orchestrator Prompt (Routing Rules)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SuperAgent's prompt defines priority-ordered routing rules — it acts purely as a router.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ORCHESTRATOR_INSTRUCTION = 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the central orchestrator for 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sales system. Your ONLY job is to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each request to the correct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specialist sub-agent.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 RULES (priority order):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Company identification →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Address / coverage → serviceability_agent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Product specs → product_agent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Pricing / quotes → offer_management_agent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Cart / orders → order_agent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Payment → payment_agent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Installation → service_fulfillment_agent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Notifications → customer_communication_agent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Greetings → greeting_agent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FAQ → faq_agent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ALWAYS call transfer_to_agent.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NOT generate any text response.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81051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1764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Router-only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0" y="19659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never talks to the user directly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0" y="23591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23134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15000" y="2514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before product, product before pricing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290779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15000" y="28620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chaining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discovery → auto-route to serviceability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345643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15000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delegation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15000" y="3611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 is an ADK-native function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Sub-Agent — Deterministic Agent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like ServiceabilityAgent use temperature 0.0 for deterministic, tool-based responses.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.tools.gis_tools import check_service_availability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Hardcoded name — never read from .env to avoid conflicts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GEMINI_MODEL = os.getenv("GEMINI_MODEL")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serviceability_agent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name="serviceability_agent",            # Hardcoded, not from env var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model=GEMINI_MODEL,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instruction=SERVICEABILITY_INSTRUCTION, # Domain-specific prompt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description="PRE-SALE address validation &amp; coverage check",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validate_and_parse_address,         # Address parsing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check_service_availability,         # GIS / coverage lookup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get_infrastructure_by_technology,   # Tech-specific details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temperature=0.0,   # Deterministic — no hallucination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top_p=0.1,         # Very focused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top_k=10,          # Minimal token variation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Tool Pattern (FunctionTool)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deterministic functions — no LLM calls inside. They return structured JSON to prevent hallucination.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 return JSON, not prose text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prevents the LLM from rephrasing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hallucinating critical data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search_companies(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company_name: str = None,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prospecting database."""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db.search_companies(company_name)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"found": len(results),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"companies": [{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"company_name": c['Company Name'],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"address": 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"street": c['Street'],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"city": c['City'],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"state": c['State'],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"zip_code": c['zip_code']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for c in results]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JSON Tool Outputs?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Problem: LLMs rephrase text, changing digits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0" y="1892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Tool returns "19103" → LLM says "19106"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0" y="213969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Solution: Structured JSON with explicit fields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0" y="23865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Result: Zero hallucination on addresses, prices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03520" y="2880360"/>
            <a:ext cx="3383280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Guide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3291840"/>
          <a:ext cx="3017520" cy="148132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Temp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Greeting/FAQ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Catalog-exact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accuracy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Importlib Isolation for Sub-Agents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ADK enforces one parent per agent. Importing normally triggers __init__.py, binding to the wrong parent.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SuperAgent/super_agent/sub_agents/discovery/agent.py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Loads DiscoveryAgent WITHOUT triggering its __init__.py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importlib.util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types as pytypes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Stub parent packages to prevent __init__.py execution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pkg_name in ["bootstrap_agent", "bootstrap_agent.sub_agents",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"bootstrap_agent.sub_agents.discovery"]: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pkg_name not in sys.modules: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 = pytypes.ModuleType(pkg_name)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stub.__path__ = [os.path.join(DISCOVERY_BASE, *pkg_name.split("."))]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sys.modules[pkg_name] = stub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the agent module in isolation — fresh, unbound instance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 = importlib.util.spec_from_file_location(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"bootstrap_agent.sub_agents.discovery.discovery_agent",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os.path.join(DISCOVERY_PKG, "discovery_agent.py"),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agent_mod = importlib.util.module_from_spec(agent_spec)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agent_spec.loader.exec_module(agent_mod)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discovery_agent = agent_mod.discovery_agent  # Fresh instance for SuperAgent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Made — Winter Quarter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Completed (Weeks 1–9)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89888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3716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Chat UI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6776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618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 Backend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3664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1865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0552"/>
            <a:ext cx="164592" cy="1645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" y="21122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+ SQLite DB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8680" y="23591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ServiceabilityAgent + GIS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24328"/>
            <a:ext cx="164592" cy="16459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8680" y="2606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ProductAgent + Catalog</a:t>
            </a:r>
            <a:endParaRPr lang="en-US" sz="9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1216"/>
            <a:ext cx="164592" cy="16459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8680" y="28529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OfferManagement + Pricing</a:t>
            </a:r>
            <a:endParaRPr lang="en-US" sz="9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18104"/>
            <a:ext cx="164592" cy="16459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868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OrderAgent + Cart/Contracts</a:t>
            </a:r>
            <a:endParaRPr lang="en-US" sz="95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64992"/>
            <a:ext cx="164592" cy="164592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8680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PaymentAgent + Credit Check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64592" cy="16459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8680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</a:t>
            </a:r>
            <a:endParaRPr lang="en-US" sz="95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58768"/>
            <a:ext cx="164592" cy="164592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868680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CustomerCommsAgent</a:t>
            </a:r>
            <a:endParaRPr lang="en-US" sz="95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05656"/>
            <a:ext cx="164592" cy="164592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68680" y="408736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GreetingAgent + FAQAgent</a:t>
            </a:r>
            <a:endParaRPr lang="en-US" sz="950" dirty="0"/>
          </a:p>
        </p:txBody>
      </p:sp>
      <p:sp>
        <p:nvSpPr>
          <p:cNvPr id="31" name="Shape 17"/>
          <p:cNvSpPr/>
          <p:nvPr/>
        </p:nvSpPr>
        <p:spPr>
          <a:xfrm>
            <a:off x="475488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/>
          <p:nvPr/>
        </p:nvSpPr>
        <p:spPr>
          <a:xfrm>
            <a:off x="493776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33" name="Shape 19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0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</a:t>
            </a:r>
            <a:endParaRPr lang="en-US" sz="750" dirty="0"/>
          </a:p>
        </p:txBody>
      </p:sp>
      <p:sp>
        <p:nvSpPr>
          <p:cNvPr id="35" name="Text 21"/>
          <p:cNvSpPr/>
          <p:nvPr/>
        </p:nvSpPr>
        <p:spPr>
          <a:xfrm>
            <a:off x="5669280" y="1371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created, README, architecture docs</a:t>
            </a:r>
            <a:endParaRPr lang="en-US" sz="900" dirty="0"/>
          </a:p>
        </p:txBody>
      </p:sp>
      <p:sp>
        <p:nvSpPr>
          <p:cNvPr id="36" name="Shape 22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23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7</a:t>
            </a:r>
            <a:endParaRPr lang="en-US" sz="750" dirty="0"/>
          </a:p>
        </p:txBody>
      </p:sp>
      <p:sp>
        <p:nvSpPr>
          <p:cNvPr id="38" name="Text 24"/>
          <p:cNvSpPr/>
          <p:nvPr/>
        </p:nvSpPr>
        <p:spPr>
          <a:xfrm>
            <a:off x="5669280" y="16824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BootStrapAgent template, MilestonePlan</a:t>
            </a:r>
            <a:endParaRPr lang="en-US" sz="900" dirty="0"/>
          </a:p>
        </p:txBody>
      </p:sp>
      <p:sp>
        <p:nvSpPr>
          <p:cNvPr id="39" name="Shape 25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26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10</a:t>
            </a:r>
            <a:endParaRPr lang="en-US" sz="750" dirty="0"/>
          </a:p>
        </p:txBody>
      </p:sp>
      <p:sp>
        <p:nvSpPr>
          <p:cNvPr id="41" name="Text 27"/>
          <p:cNvSpPr/>
          <p:nvPr/>
        </p:nvSpPr>
        <p:spPr>
          <a:xfrm>
            <a:off x="5669280" y="1993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FastAPI + SSE + React UI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29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11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5669280" y="23042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with SQLite prospect DB</a:t>
            </a:r>
            <a:endParaRPr lang="en-US" sz="900" dirty="0"/>
          </a:p>
        </p:txBody>
      </p:sp>
      <p:sp>
        <p:nvSpPr>
          <p:cNvPr id="45" name="Shape 31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2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13</a:t>
            </a:r>
            <a:endParaRPr lang="en-US" sz="750" dirty="0"/>
          </a:p>
        </p:txBody>
      </p:sp>
      <p:sp>
        <p:nvSpPr>
          <p:cNvPr id="47" name="Text 33"/>
          <p:cNvSpPr/>
          <p:nvPr/>
        </p:nvSpPr>
        <p:spPr>
          <a:xfrm>
            <a:off x="5669280" y="261518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+ Product integrated</a:t>
            </a:r>
            <a:endParaRPr lang="en-US" sz="900" dirty="0"/>
          </a:p>
        </p:txBody>
      </p:sp>
      <p:sp>
        <p:nvSpPr>
          <p:cNvPr id="48" name="Shape 34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35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15</a:t>
            </a:r>
            <a:endParaRPr lang="en-US" sz="750" dirty="0"/>
          </a:p>
        </p:txBody>
      </p:sp>
      <p:sp>
        <p:nvSpPr>
          <p:cNvPr id="50" name="Text 36"/>
          <p:cNvSpPr/>
          <p:nvPr/>
        </p:nvSpPr>
        <p:spPr>
          <a:xfrm>
            <a:off x="5669280" y="29260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+ JSON integrity</a:t>
            </a:r>
            <a:endParaRPr lang="en-US" sz="900" dirty="0"/>
          </a:p>
        </p:txBody>
      </p:sp>
      <p:sp>
        <p:nvSpPr>
          <p:cNvPr id="51" name="Shape 37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38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17</a:t>
            </a:r>
            <a:endParaRPr lang="en-US" sz="750" dirty="0"/>
          </a:p>
        </p:txBody>
      </p:sp>
      <p:sp>
        <p:nvSpPr>
          <p:cNvPr id="53" name="Text 39"/>
          <p:cNvSpPr/>
          <p:nvPr/>
        </p:nvSpPr>
        <p:spPr>
          <a:xfrm>
            <a:off x="5669280" y="323697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+ Service Fulfillment</a:t>
            </a:r>
            <a:endParaRPr lang="en-US" sz="900" dirty="0"/>
          </a:p>
        </p:txBody>
      </p:sp>
      <p:sp>
        <p:nvSpPr>
          <p:cNvPr id="54" name="Shape 40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41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21</a:t>
            </a:r>
            <a:endParaRPr lang="en-US" sz="750" dirty="0"/>
          </a:p>
        </p:txBody>
      </p:sp>
      <p:sp>
        <p:nvSpPr>
          <p:cNvPr id="56" name="Text 42"/>
          <p:cNvSpPr/>
          <p:nvPr/>
        </p:nvSpPr>
        <p:spPr>
          <a:xfrm>
            <a:off x="5669280" y="3547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Mgmt, Order, Comms agents</a:t>
            </a:r>
            <a:endParaRPr lang="en-US" sz="900" dirty="0"/>
          </a:p>
        </p:txBody>
      </p:sp>
      <p:sp>
        <p:nvSpPr>
          <p:cNvPr id="57" name="Shape 43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4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26</a:t>
            </a:r>
            <a:endParaRPr lang="en-US" sz="750" dirty="0"/>
          </a:p>
        </p:txBody>
      </p:sp>
      <p:sp>
        <p:nvSpPr>
          <p:cNvPr id="59" name="Text 45"/>
          <p:cNvSpPr/>
          <p:nvPr/>
        </p:nvSpPr>
        <p:spPr>
          <a:xfrm>
            <a:off x="5669280" y="38587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10-agent orchestration working</a:t>
            </a:r>
            <a:endParaRPr lang="en-US" sz="900" dirty="0"/>
          </a:p>
        </p:txBody>
      </p:sp>
      <p:sp>
        <p:nvSpPr>
          <p:cNvPr id="60" name="Shape 46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47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40+ commits across the team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vs. Initial Goals — Honest Accounting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Schedule  ✅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13807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agents built and integrated (Initial goal was 6–7 by end of Winter)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87452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828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sales flow working (was a Spring goal)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pattern developed and tested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269748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651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with SSE streaming — real-time agent responses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063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tool outputs — solved cross-agent hallucination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39319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/ Deferred to Spring  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145389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66360" y="1417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/ RAG for product Q&amp;A (replaced by in-repo catalog)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1801368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66360" y="176479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protocol — using ADK native delegation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83480" y="2148840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211226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dashboard — logging infra in place but no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2496312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66360" y="245973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quote/order databases — currently in-memory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83480" y="2843784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66360" y="28072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handling &amp; comprehensive error recovery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319125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3154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Vertex/GCP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" y="40325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We are tracking to our milestone plan for Winter Quarter. All core agents are functional. Spring Quarter shifts to hardening, persistence, observability, and the final demo.</a:t>
            </a:r>
            <a:endParaRPr lang="en-US" sz="10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557847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521271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testing across all sales scenarios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&amp; 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 is based 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5720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ADK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— ADK's native multi-agent delegation was the key architectural choice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45720" cy="10058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Gemini API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3776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integration with ADK; gemini-3-flash-preview</a:t>
            </a:r>
          </a:p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chosen for speed/cost balance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286000"/>
            <a:ext cx="4572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688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Cable/MSO Domain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works at Comcast — direct familiarity with B2B sales, serviceability, fulfillment and order flows for SMB products.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5488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4572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4688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Research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93776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LLM multi-agent patterns (ReAct, CoT) — chose hierarchical orchestration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4572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ADK Shell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64008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Working on an internal initiative that allowed us to reuse an ADK shell agent 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4754880" y="3429000"/>
            <a:ext cx="45720" cy="10058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035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Development Frameworks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493776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Reviewed LangGraph/LangChain, ADK and Strands before choosing Google ADK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Code Was Written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 Collaboration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" cy="685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331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80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&amp; Design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1554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the team, based on ADK docs and telecom domain expertise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2011680"/>
            <a:ext cx="45720" cy="6858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" y="2103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Coding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51560" y="23774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&amp; Claude used for boilerplate, debugging, prompt writing, DB schemas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45720" cy="685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992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1560" y="2926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Human-Written Core Logic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51560" y="3200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rules, tool implementations, agent coordination, integration testing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365760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57200" y="3657600"/>
            <a:ext cx="45720" cy="6858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2219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749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Review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51560" y="4023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reviewed by team members before merging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57200" y="4434840"/>
            <a:ext cx="457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in transparent attribution. AI tools accelerated development but every design decision and integration was human-driven.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Did What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4023360" cy="3657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Sudhaman Chandrasekaran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commits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SuperAgent orchestrator + routing logic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OfferManagementAgent pricing engine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FastAPI server + SSE streaming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Integration of all 10 sub-agents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203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Multi-turn coordination strategy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423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Documentation (AGENTS.md, CLAUDE.md)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868680"/>
            <a:ext cx="402336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Raja (rgbarathan752)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commits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ProductAgent with catalog 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ServiceabilityAgent + GIS tools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OrderAgent cart management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CustomerCommsAgent notifications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402336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Arun Mohan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commits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PaymentAgent — credit checks &amp; authorization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ServiceFulfillmentAgent — scheduling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 gateway integration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2880360"/>
            <a:ext cx="4023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Aubin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3776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DiscoveryAgent — prospect database (SQLite)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3776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Lead Generation Agent — BANT qualification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776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schema &amp; migration scripts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37760" y="39959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Company data seeding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06B6D4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743200"/>
            <a:ext cx="274320" cy="274320"/>
          </a:xfrm>
          <a:prstGeom prst="rect">
            <a:avLst/>
          </a:prstGeom>
        </p:spPr>
      </p:pic>
      <p:sp>
        <p:nvSpPr>
          <p:cNvPr id="7" name="Text 4">
            <a:hlinkClick r:id="rId4"/>
          </p:cNvPr>
          <p:cNvSpPr/>
          <p:nvPr/>
        </p:nvSpPr>
        <p:spPr>
          <a:xfrm>
            <a:off x="31089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2199</Words>
  <Application>Microsoft Macintosh PowerPoint</Application>
  <PresentationFormat>On-screen Show (16:9)</PresentationFormat>
  <Paragraphs>403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— Progress Report</dc:title>
  <dc:subject>PptxGenJS Presentation</dc:subject>
  <dc:creator>Sudhaman Chandrasekaran</dc:creator>
  <cp:lastModifiedBy>Chandrasekaran, Sudhaman</cp:lastModifiedBy>
  <cp:revision>18</cp:revision>
  <dcterms:created xsi:type="dcterms:W3CDTF">2026-03-01T03:41:26Z</dcterms:created>
  <dcterms:modified xsi:type="dcterms:W3CDTF">2026-03-02T01:01:40Z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979fc8-5559-4f19-93ee-e28ca03d7638_Enabled">
    <vt:lpwstr>true</vt:lpwstr>
  </property>
  <property fmtid="{D5CDD505-2E9C-101B-9397-08002B2CF9AE}" pid="3" name="MSIP_Label_d0979fc8-5559-4f19-93ee-e28ca03d7638_SetDate">
    <vt:lpwstr>2026-03-01T03:52:07Z</vt:lpwstr>
  </property>
  <property fmtid="{D5CDD505-2E9C-101B-9397-08002B2CF9AE}" pid="4" name="MSIP_Label_d0979fc8-5559-4f19-93ee-e28ca03d7638_Method">
    <vt:lpwstr>Privileged</vt:lpwstr>
  </property>
  <property fmtid="{D5CDD505-2E9C-101B-9397-08002B2CF9AE}" pid="5" name="MSIP_Label_d0979fc8-5559-4f19-93ee-e28ca03d7638_Name">
    <vt:lpwstr>General Business Information (G)</vt:lpwstr>
  </property>
  <property fmtid="{D5CDD505-2E9C-101B-9397-08002B2CF9AE}" pid="6" name="MSIP_Label_d0979fc8-5559-4f19-93ee-e28ca03d7638_SiteId">
    <vt:lpwstr>906aefe9-76a7-4f65-b82d-5ec20775d5aa</vt:lpwstr>
  </property>
  <property fmtid="{D5CDD505-2E9C-101B-9397-08002B2CF9AE}" pid="7" name="MSIP_Label_d0979fc8-5559-4f19-93ee-e28ca03d7638_ActionId">
    <vt:lpwstr>0252b7ae-8148-4016-97a7-6a9fad2d7b53</vt:lpwstr>
  </property>
  <property fmtid="{D5CDD505-2E9C-101B-9397-08002B2CF9AE}" pid="8" name="MSIP_Label_d0979fc8-5559-4f19-93ee-e28ca03d7638_ContentBits">
    <vt:lpwstr>0</vt:lpwstr>
  </property>
  <property fmtid="{D5CDD505-2E9C-101B-9397-08002B2CF9AE}" pid="9" name="MSIP_Label_d0979fc8-5559-4f19-93ee-e28ca03d7638_Tag">
    <vt:lpwstr>50, 0, 1, 1</vt:lpwstr>
  </property>
</Properties>
</file>