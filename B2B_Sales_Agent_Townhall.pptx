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749"/>
    <p:restoredTop sz="94610"/>
  </p:normalViewPr>
  <p:slideViewPr>
    <p:cSldViewPr snapToGrid="0" snapToObjects="1">
      <p:cViewPr varScale="1">
        <p:scale>
          <a:sx n="278" d="100"/>
          <a:sy n="278" d="100"/>
        </p:scale>
        <p:origin x="1224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0990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0"/>
            <a:ext cx="2286000" cy="73152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070848" y="0"/>
            <a:ext cx="73152" cy="182880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070348"/>
            <a:ext cx="3200400" cy="73152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91440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6916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Conversational Sales Agent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457200" y="24231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Multi-Agent Orchestration for Telecom B2B Sales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2926080"/>
            <a:ext cx="8229600" cy="13716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Sudhaman Chandrasekaran  ·  Raja  ·  Arun Mohan  ·  Aubin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3383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Drexel University  ·  CS Senior Design  ·  Spring 2026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7200" y="3977640"/>
            <a:ext cx="1554480" cy="320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0C2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57200" y="39776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ADK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148840" y="3977640"/>
            <a:ext cx="1554480" cy="320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0C2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2148840" y="39776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Flash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3840480" y="3977640"/>
            <a:ext cx="1554480" cy="320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0C2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3840480" y="39776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532120" y="3977640"/>
            <a:ext cx="1554480" cy="320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0C2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532120" y="39776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7223760" y="3977640"/>
            <a:ext cx="1554480" cy="320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0C2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7223760" y="39776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48006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</a:rPr>
              <a:t>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 Today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13716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4114800" cy="1005840"/>
          </a:xfrm>
          <a:prstGeom prst="rect">
            <a:avLst/>
          </a:prstGeom>
          <a:solidFill>
            <a:srgbClr val="102B5A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54864" cy="100584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21792" y="112471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21792" y="14356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21792" y="17099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B2B Telco sales is broken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4114800" cy="1005840"/>
          </a:xfrm>
          <a:prstGeom prst="rect">
            <a:avLst/>
          </a:prstGeom>
          <a:solidFill>
            <a:srgbClr val="102B5A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2286000"/>
            <a:ext cx="54864" cy="100584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21792" y="235915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21792" y="26700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&amp; Architecture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1792" y="2944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SuperAgent + 10 sub-agents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520440"/>
            <a:ext cx="4114800" cy="1005840"/>
          </a:xfrm>
          <a:prstGeom prst="rect">
            <a:avLst/>
          </a:prstGeom>
          <a:solidFill>
            <a:srgbClr val="102B5A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" y="3520440"/>
            <a:ext cx="54864" cy="100584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1792" y="359359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21792" y="39044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 &amp; Implementation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" y="41788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Stack, demo, and key decisions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46320" y="1051560"/>
            <a:ext cx="4114800" cy="1005840"/>
          </a:xfrm>
          <a:prstGeom prst="rect">
            <a:avLst/>
          </a:prstGeom>
          <a:solidFill>
            <a:srgbClr val="102B5A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846320" y="1051560"/>
            <a:ext cx="54864" cy="100584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010912" y="112471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010912" y="14356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Foundation &amp; Dev Process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010912" y="17099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ADK, academic grounding, AI-assisted coding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46320" y="2286000"/>
            <a:ext cx="4114800" cy="1005840"/>
          </a:xfrm>
          <a:prstGeom prst="rect">
            <a:avLst/>
          </a:prstGeom>
          <a:solidFill>
            <a:srgbClr val="102B5A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846320" y="2286000"/>
            <a:ext cx="54864" cy="100584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010912" y="235915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010912" y="26700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Comcast Relevance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010912" y="2944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SMB segment, Comcast Business opportunities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46320" y="3520440"/>
            <a:ext cx="4114800" cy="1005840"/>
          </a:xfrm>
          <a:prstGeom prst="rect">
            <a:avLst/>
          </a:prstGeom>
          <a:solidFill>
            <a:srgbClr val="102B5A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846320" y="3520440"/>
            <a:ext cx="54864" cy="100584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010912" y="359359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010912" y="39044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48006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</a:rPr>
              <a:t>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8229600" cy="1371600"/>
          </a:xfrm>
          <a:prstGeom prst="rect">
            <a:avLst/>
          </a:prstGeom>
          <a:solidFill>
            <a:srgbClr val="1A0A0A"/>
          </a:solidFill>
          <a:ln/>
          <a:effectLst>
            <a:outerShdw blurRad="127000" dist="381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91440" cy="1371600"/>
          </a:xfrm>
          <a:prstGeom prst="rect">
            <a:avLst/>
          </a:prstGeom>
          <a:solidFill>
            <a:srgbClr val="E840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822960"/>
            <a:ext cx="7863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sales rep walks into a call with a mid-market prospect.
</a:t>
            </a:r>
            <a:r>
              <a:rPr lang="en-US" sz="1400" i="1" dirty="0">
                <a:solidFill>
                  <a:srgbClr val="F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prospect asks: "Can you connect our 8 locations in the Southeast with guaranteed SLAs?"
</a:t>
            </a: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 opens 4 internal tools, 2 spreadsheets, and shoots a Slack to the solutions engineer.
</a:t>
            </a:r>
            <a:r>
              <a:rPr lang="en-US" sz="1300" b="1" dirty="0">
                <a:solidFill>
                  <a:srgbClr val="E8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prospect emails a competitor while waiting.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2743200" cy="2514600"/>
          </a:xfrm>
          <a:prstGeom prst="rect">
            <a:avLst/>
          </a:prstGeom>
          <a:solidFill>
            <a:srgbClr val="102B5A"/>
          </a:solidFill>
          <a:ln/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2743200" cy="54864"/>
          </a:xfrm>
          <a:prstGeom prst="rect">
            <a:avLst/>
          </a:prstGeom>
          <a:solidFill>
            <a:srgbClr val="E8404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251460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21792" y="3108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RFP Hell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21792" y="352044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B2B Telco RFP: 3–6 weeks. Reps manually stitch product specs, pricing, and eligibility — across siloed tools.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37560" y="2331720"/>
            <a:ext cx="2743200" cy="2514600"/>
          </a:xfrm>
          <a:prstGeom prst="rect">
            <a:avLst/>
          </a:prstGeom>
          <a:solidFill>
            <a:srgbClr val="102B5A"/>
          </a:solidFill>
          <a:ln/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337560" y="2331720"/>
            <a:ext cx="274320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2514600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502152" y="3108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Complexity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3502152" y="352044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SKUs, bandwidth tiers, contract bundles. Reps can't hold it all. Customers wait. Deals slip.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217920" y="2331720"/>
            <a:ext cx="2743200" cy="2514600"/>
          </a:xfrm>
          <a:prstGeom prst="rect">
            <a:avLst/>
          </a:prstGeom>
          <a:solidFill>
            <a:srgbClr val="102B5A"/>
          </a:solidFill>
          <a:ln/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6217920" y="2331720"/>
            <a:ext cx="2743200" cy="54864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2514600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382512" y="3108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Handoffs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6382512" y="352044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→ Quoting → Order → Fulfillment — each step a different team, different system. Nothing talks to anything.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48006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</a:rPr>
              <a:t>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731520"/>
            <a:ext cx="8229600" cy="54864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conversation. End-to-end. No human switching tools.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1234440"/>
          </a:xfrm>
          <a:prstGeom prst="rect">
            <a:avLst/>
          </a:prstGeom>
          <a:solidFill>
            <a:srgbClr val="0D1B3E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417320"/>
            <a:ext cx="822960" cy="8229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1371600"/>
            <a:ext cx="68580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SuperAgent Orchestrator
</a:t>
            </a: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hierarchical multi-agent system where a central SuperAgent routes every user message to the right specialist sub-agent — instantly, with full session context preserved. No human handoffs. No tool switching. One conversation thread drives the entire sales lifecycle.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20040" y="2743200"/>
            <a:ext cx="1325880" cy="1234440"/>
          </a:xfrm>
          <a:prstGeom prst="rect">
            <a:avLst/>
          </a:prstGeom>
          <a:solidFill>
            <a:srgbClr val="00C2C7"/>
          </a:solidFill>
          <a:ln/>
          <a:effectLst>
            <a:outerShdw blurRad="635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320040" y="306324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320040" y="280720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D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645920" y="3246120"/>
            <a:ext cx="164592" cy="73152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1682496" y="312724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810512" y="2743200"/>
            <a:ext cx="1325880" cy="1234440"/>
          </a:xfrm>
          <a:prstGeom prst="rect">
            <a:avLst/>
          </a:prstGeom>
          <a:solidFill>
            <a:srgbClr val="102B5A"/>
          </a:solidFill>
          <a:ln/>
          <a:effectLst>
            <a:outerShdw blurRad="635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810512" y="306324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Serviceability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810512" y="280720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136392" y="3246120"/>
            <a:ext cx="164592" cy="73152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3172968" y="312724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3300984" y="2743200"/>
            <a:ext cx="1325880" cy="1234440"/>
          </a:xfrm>
          <a:prstGeom prst="rect">
            <a:avLst/>
          </a:prstGeom>
          <a:solidFill>
            <a:srgbClr val="102B5A"/>
          </a:solidFill>
          <a:ln/>
          <a:effectLst>
            <a:outerShdw blurRad="635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3300984" y="306324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300984" y="280720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626864" y="3246120"/>
            <a:ext cx="164592" cy="73152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4663440" y="312724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791456" y="2743200"/>
            <a:ext cx="1325880" cy="1234440"/>
          </a:xfrm>
          <a:prstGeom prst="rect">
            <a:avLst/>
          </a:prstGeom>
          <a:solidFill>
            <a:srgbClr val="102B5A"/>
          </a:solidFill>
          <a:ln/>
          <a:effectLst>
            <a:outerShdw blurRad="635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4791456" y="306324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&amp;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791456" y="280720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117336" y="3246120"/>
            <a:ext cx="164592" cy="73152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6153912" y="312724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6281928" y="2743200"/>
            <a:ext cx="1325880" cy="1234440"/>
          </a:xfrm>
          <a:prstGeom prst="rect">
            <a:avLst/>
          </a:prstGeom>
          <a:solidFill>
            <a:srgbClr val="102B5A"/>
          </a:solidFill>
          <a:ln/>
          <a:effectLst>
            <a:outerShdw blurRad="635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6281928" y="306324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&amp;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281928" y="280720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7607808" y="3246120"/>
            <a:ext cx="164592" cy="73152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7644384" y="312724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7772400" y="2743200"/>
            <a:ext cx="1325880" cy="1234440"/>
          </a:xfrm>
          <a:prstGeom prst="rect">
            <a:avLst/>
          </a:prstGeom>
          <a:solidFill>
            <a:srgbClr val="22D3A5"/>
          </a:solidFill>
          <a:ln/>
          <a:effectLst>
            <a:outerShdw blurRad="635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7772400" y="306324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Activation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7772400" y="280720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D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Google ADK · Gemini Flash · FastAPI · React 19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48006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</a:rPr>
              <a:t>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SuperAgent + 10 Specialist Agents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8229600" cy="4572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0" y="822960"/>
            <a:ext cx="2743200" cy="868680"/>
          </a:xfrm>
          <a:prstGeom prst="rect">
            <a:avLst/>
          </a:prstGeom>
          <a:solidFill>
            <a:srgbClr val="00C2C7"/>
          </a:solidFill>
          <a:ln/>
          <a:effectLst>
            <a:outerShdw blurRad="152400" dist="381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886968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40480" y="8869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SuperAgent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74320" y="1920240"/>
            <a:ext cx="1572768" cy="868680"/>
          </a:xfrm>
          <a:prstGeom prst="rect">
            <a:avLst/>
          </a:prstGeom>
          <a:solidFill>
            <a:srgbClr val="102B5A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274320" y="1920240"/>
            <a:ext cx="1572768" cy="64008"/>
          </a:xfrm>
          <a:prstGeom prst="rect">
            <a:avLst/>
          </a:prstGeom>
          <a:solidFill>
            <a:srgbClr val="5B8D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347472" y="210312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Greeting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969264" y="1691640"/>
            <a:ext cx="18288" cy="22860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1993392" y="1920240"/>
            <a:ext cx="1572768" cy="868680"/>
          </a:xfrm>
          <a:prstGeom prst="rect">
            <a:avLst/>
          </a:prstGeom>
          <a:solidFill>
            <a:srgbClr val="102B5A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1993392" y="1920240"/>
            <a:ext cx="1572768" cy="64008"/>
          </a:xfrm>
          <a:prstGeom prst="rect">
            <a:avLst/>
          </a:prstGeom>
          <a:solidFill>
            <a:srgbClr val="28A7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2066544" y="210312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688336" y="1691640"/>
            <a:ext cx="18288" cy="22860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3712464" y="1920240"/>
            <a:ext cx="1572768" cy="868680"/>
          </a:xfrm>
          <a:prstGeom prst="rect">
            <a:avLst/>
          </a:prstGeom>
          <a:solidFill>
            <a:srgbClr val="102B5A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3712464" y="1920240"/>
            <a:ext cx="1572768" cy="64008"/>
          </a:xfrm>
          <a:prstGeom prst="rect">
            <a:avLst/>
          </a:prstGeom>
          <a:solidFill>
            <a:srgbClr val="6F42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3785616" y="210312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Serviceability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407408" y="1691640"/>
            <a:ext cx="18288" cy="22860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5431536" y="1920240"/>
            <a:ext cx="1572768" cy="868680"/>
          </a:xfrm>
          <a:prstGeom prst="rect">
            <a:avLst/>
          </a:prstGeom>
          <a:solidFill>
            <a:srgbClr val="102B5A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5431536" y="1920240"/>
            <a:ext cx="1572768" cy="64008"/>
          </a:xfrm>
          <a:prstGeom prst="rect">
            <a:avLst/>
          </a:prstGeom>
          <a:solidFill>
            <a:srgbClr val="FD7E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5504688" y="210312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126480" y="1691640"/>
            <a:ext cx="18288" cy="22860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7150608" y="1920240"/>
            <a:ext cx="1572768" cy="868680"/>
          </a:xfrm>
          <a:prstGeom prst="rect">
            <a:avLst/>
          </a:prstGeom>
          <a:solidFill>
            <a:srgbClr val="102B5A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7150608" y="1920240"/>
            <a:ext cx="1572768" cy="64008"/>
          </a:xfrm>
          <a:prstGeom prst="rect">
            <a:avLst/>
          </a:prstGeom>
          <a:solidFill>
            <a:srgbClr val="20C99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7223760" y="210312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Mgmt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7845552" y="1691640"/>
            <a:ext cx="18288" cy="22860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274320" y="3291840"/>
            <a:ext cx="1572768" cy="868680"/>
          </a:xfrm>
          <a:prstGeom prst="rect">
            <a:avLst/>
          </a:prstGeom>
          <a:solidFill>
            <a:srgbClr val="102B5A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274320" y="3291840"/>
            <a:ext cx="1572768" cy="64008"/>
          </a:xfrm>
          <a:prstGeom prst="rect">
            <a:avLst/>
          </a:prstGeom>
          <a:solidFill>
            <a:srgbClr val="DC35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347472" y="347472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969264" y="2779776"/>
            <a:ext cx="18288" cy="512064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1993392" y="3291840"/>
            <a:ext cx="1572768" cy="868680"/>
          </a:xfrm>
          <a:prstGeom prst="rect">
            <a:avLst/>
          </a:prstGeom>
          <a:solidFill>
            <a:srgbClr val="102B5A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1993392" y="3291840"/>
            <a:ext cx="1572768" cy="64008"/>
          </a:xfrm>
          <a:prstGeom prst="rect">
            <a:avLst/>
          </a:prstGeom>
          <a:solidFill>
            <a:srgbClr val="E83E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2066544" y="347472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2688336" y="2779776"/>
            <a:ext cx="18288" cy="512064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3712464" y="3291840"/>
            <a:ext cx="1572768" cy="868680"/>
          </a:xfrm>
          <a:prstGeom prst="rect">
            <a:avLst/>
          </a:prstGeom>
          <a:solidFill>
            <a:srgbClr val="102B5A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4"/>
          <p:cNvSpPr/>
          <p:nvPr/>
        </p:nvSpPr>
        <p:spPr>
          <a:xfrm>
            <a:off x="3712464" y="3291840"/>
            <a:ext cx="1572768" cy="64008"/>
          </a:xfrm>
          <a:prstGeom prst="rect">
            <a:avLst/>
          </a:prstGeom>
          <a:solidFill>
            <a:srgbClr val="17A2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3785616" y="347472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4407408" y="2779776"/>
            <a:ext cx="18288" cy="512064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7"/>
          <p:cNvSpPr/>
          <p:nvPr/>
        </p:nvSpPr>
        <p:spPr>
          <a:xfrm>
            <a:off x="5431536" y="3291840"/>
            <a:ext cx="1572768" cy="868680"/>
          </a:xfrm>
          <a:prstGeom prst="rect">
            <a:avLst/>
          </a:prstGeom>
          <a:solidFill>
            <a:srgbClr val="102B5A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8"/>
          <p:cNvSpPr/>
          <p:nvPr/>
        </p:nvSpPr>
        <p:spPr>
          <a:xfrm>
            <a:off x="5431536" y="3291840"/>
            <a:ext cx="1572768" cy="64008"/>
          </a:xfrm>
          <a:prstGeom prst="rect">
            <a:avLst/>
          </a:prstGeom>
          <a:solidFill>
            <a:srgbClr val="868E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9"/>
          <p:cNvSpPr/>
          <p:nvPr/>
        </p:nvSpPr>
        <p:spPr>
          <a:xfrm>
            <a:off x="5504688" y="347472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Comms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6126480" y="2779776"/>
            <a:ext cx="18288" cy="512064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1"/>
          <p:cNvSpPr/>
          <p:nvPr/>
        </p:nvSpPr>
        <p:spPr>
          <a:xfrm>
            <a:off x="7150608" y="3291840"/>
            <a:ext cx="1572768" cy="868680"/>
          </a:xfrm>
          <a:prstGeom prst="rect">
            <a:avLst/>
          </a:prstGeom>
          <a:solidFill>
            <a:srgbClr val="102B5A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2"/>
          <p:cNvSpPr/>
          <p:nvPr/>
        </p:nvSpPr>
        <p:spPr>
          <a:xfrm>
            <a:off x="7150608" y="3291840"/>
            <a:ext cx="1572768" cy="64008"/>
          </a:xfrm>
          <a:prstGeom prst="rect">
            <a:avLst/>
          </a:prstGeom>
          <a:solidFill>
            <a:srgbClr val="F0AD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3"/>
          <p:cNvSpPr/>
          <p:nvPr/>
        </p:nvSpPr>
        <p:spPr>
          <a:xfrm>
            <a:off x="7223760" y="347472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7845552" y="2779776"/>
            <a:ext cx="18288" cy="512064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Shape 45"/>
          <p:cNvSpPr/>
          <p:nvPr/>
        </p:nvSpPr>
        <p:spPr>
          <a:xfrm>
            <a:off x="457200" y="4315968"/>
            <a:ext cx="8229600" cy="658368"/>
          </a:xfrm>
          <a:prstGeom prst="rect">
            <a:avLst/>
          </a:prstGeom>
          <a:solidFill>
            <a:srgbClr val="102B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6"/>
          <p:cNvSpPr/>
          <p:nvPr/>
        </p:nvSpPr>
        <p:spPr>
          <a:xfrm>
            <a:off x="640080" y="4361688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Design Principles:  </a:t>
            </a: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hallucination on critical data  ·  Temperature-stratified agents (0.0 for deterministic, 0.7 for conversational)  ·  Router-only SuperAgent (never generates user-facing text)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48006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</a:rPr>
              <a:t>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731520"/>
            <a:ext cx="4114800" cy="54864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02336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54864" cy="566928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9875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" y="1188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194560" y="98755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sub-agent delegation, no custom A2A protocol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572768"/>
            <a:ext cx="402336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1572768"/>
            <a:ext cx="54864" cy="566928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85800" y="16459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85800" y="1847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3.0 Flash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194560" y="16459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cost-efficient; per-agent temperature config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231136"/>
            <a:ext cx="402336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" y="2231136"/>
            <a:ext cx="54864" cy="566928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85800" y="230428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85800" y="2505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SSE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194560" y="2304288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streaming to React frontend; single Cloud Run container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889504"/>
            <a:ext cx="402336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57200" y="2889504"/>
            <a:ext cx="54864" cy="566928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85800" y="2962656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5800" y="3163824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Vite + Tailwind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194560" y="2962656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streaming chat UI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547872"/>
            <a:ext cx="402336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57200" y="3547872"/>
            <a:ext cx="54864" cy="566928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85800" y="3621024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85800" y="382219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+ GCS sync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194560" y="3621024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Lightweight, portable; synced to GCS for durability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4206240"/>
            <a:ext cx="402336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57200" y="4206240"/>
            <a:ext cx="54864" cy="566928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85800" y="4279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85800" y="44805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Cloud Run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2194560" y="427939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Containerized monorepo; single startup script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754880" y="822960"/>
            <a:ext cx="3931920" cy="3977640"/>
          </a:xfrm>
          <a:prstGeom prst="rect">
            <a:avLst/>
          </a:prstGeom>
          <a:solidFill>
            <a:srgbClr val="0D1B3E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754880" y="822960"/>
            <a:ext cx="3931920" cy="64008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937760" y="9601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Design Bet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4937760" y="1463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212080" y="14630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decides, tools execute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212080" y="17373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classifies intent and routes. Addresses, prices, order IDs always come from deterministic tool calls — never hallucinated.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93776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212080" y="2240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ADK-native delegation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212080" y="25146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custom inter-agent protocol. ADK's transfer_to_agent() is the entire handoff mechanism. Simple by design.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937760" y="3017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212080" y="30175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Importlib isolation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212080" y="32918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Sub-agents loaded without triggering __init__.py — prevents ADK parent-binding conflicts in a monorepo.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937760" y="3794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5212080" y="37947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tool contracts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212080" y="40690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return JSON, never prose. Prevents LLM from rephrasing critical values like prices or order IDs.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48006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</a:rPr>
              <a:t>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731520"/>
            <a:ext cx="8229600" cy="54864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Mid-market prospect inquires about multi-location connectivity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0" y="1325880"/>
            <a:ext cx="4572000" cy="594360"/>
          </a:xfrm>
          <a:prstGeom prst="rect">
            <a:avLst/>
          </a:prstGeom>
          <a:solidFill>
            <a:srgbClr val="028090"/>
          </a:solidFill>
          <a:ln/>
          <a:effectLst>
            <a:outerShdw blurRad="635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251960" y="1389888"/>
            <a:ext cx="4343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User:  Hi, I need fiber connectivity for our 5 offices in the Philadelphia metro area — can you help?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029968"/>
            <a:ext cx="4572000" cy="594360"/>
          </a:xfrm>
          <a:prstGeom prst="rect">
            <a:avLst/>
          </a:prstGeom>
          <a:solidFill>
            <a:srgbClr val="102B5A"/>
          </a:solidFill>
          <a:ln/>
          <a:effectLst>
            <a:outerShdw blurRad="635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94360" y="2093976"/>
            <a:ext cx="4343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→ DiscoveryAgent:  Happy to help! Let me get some details. What's your company name and the primary location you'd like to start with?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0" y="2734056"/>
            <a:ext cx="4572000" cy="594360"/>
          </a:xfrm>
          <a:prstGeom prst="rect">
            <a:avLst/>
          </a:prstGeom>
          <a:solidFill>
            <a:srgbClr val="028090"/>
          </a:solidFill>
          <a:ln/>
          <a:effectLst>
            <a:outerShdw blurRad="635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251960" y="2798064"/>
            <a:ext cx="4343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User:  Acme Logistics. Start with our HQ at 200 Commerce Dr, Cherry Hill, NJ.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438144"/>
            <a:ext cx="4572000" cy="594360"/>
          </a:xfrm>
          <a:prstGeom prst="rect">
            <a:avLst/>
          </a:prstGeom>
          <a:solidFill>
            <a:srgbClr val="102B5A"/>
          </a:solidFill>
          <a:ln/>
          <a:effectLst>
            <a:outerShdw blurRad="635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" y="3502152"/>
            <a:ext cx="4343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→ ServiceabilityAgent + ProductAgent:  ✓ Address verified — Fiber available. Based on 5-location, logistics profile, I recommend our Business Fiber 1Gbps with SLA. Generating a multi-site quote now…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4142232"/>
            <a:ext cx="4572000" cy="594360"/>
          </a:xfrm>
          <a:prstGeom prst="rect">
            <a:avLst/>
          </a:prstGeom>
          <a:solidFill>
            <a:srgbClr val="1A3A2A"/>
          </a:solidFill>
          <a:ln/>
          <a:effectLst>
            <a:outerShdw blurRad="635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94360" y="4206240"/>
            <a:ext cx="4343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D3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→ OfferManagementAgent:  Here's your quote: 5-site Business Fiber 1Gbps, 36-month term — $4,850/mo with bundled SLA &amp; 15% multi-site discount.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SuperAgent routes each turn automatically — user sees one seamless conversation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48006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</a:rPr>
              <a:t>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Technical Decisions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731520"/>
            <a:ext cx="8229600" cy="54864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11480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54864" cy="91440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ADK transfer_to_agent()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Zero-boilerplate agent handoff — no message queues, no custom protocol. ADK handles routing state.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938528"/>
            <a:ext cx="411480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1938528"/>
            <a:ext cx="54864" cy="91440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029968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(Server-Sent Events)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2350008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One-directional token stream from FastAPI to React — simpler than WebSockets for LLM output.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962656"/>
            <a:ext cx="411480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7200" y="2962656"/>
            <a:ext cx="54864" cy="91440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3054096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stratification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3374136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 for Order/Payment/Fulfillment agents (deterministic accuracy); 0.7 for Greeting/FAQ (natural conversation).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986784"/>
            <a:ext cx="411480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57200" y="3986784"/>
            <a:ext cx="54864" cy="91440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4078224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Importlib isolation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4398264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ADK parent-agent re-binding when loading sub-agents in a shared monorepo package structure.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6320" y="914400"/>
            <a:ext cx="411480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846320" y="914400"/>
            <a:ext cx="54864" cy="91440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029200" y="1005840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JSON-only tool contracts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0" y="132588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return structured JSON, never prose — eliminates LLM rephrasing risk on prices, order IDs, addresses.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46320" y="1938528"/>
            <a:ext cx="411480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846320" y="1938528"/>
            <a:ext cx="54864" cy="91440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029200" y="2029968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+ GCS sync pattern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029200" y="2350008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 for dev speed; GCS sync for Cloud Run statelessness without a full managed DB overhead.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46320" y="2962656"/>
            <a:ext cx="411480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46320" y="2962656"/>
            <a:ext cx="54864" cy="91440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029200" y="3054096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Cloud Run container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029200" y="3374136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(FastAPI) + frontend (served static) in one container — simplifies deployment, reduces cold-start complexity.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846320" y="3986784"/>
            <a:ext cx="411480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846320" y="3986784"/>
            <a:ext cx="54864" cy="91440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029200" y="4078224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Per-agent system prompts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029200" y="4398264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has narrowly scoped instructions — prevents context bleed and keeps reasoning focused per domain.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48006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</a:rPr>
              <a:t>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Foundation &amp; Grounding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8229600" cy="54864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011680" cy="3931920"/>
          </a:xfrm>
          <a:prstGeom prst="rect">
            <a:avLst/>
          </a:prstGeom>
          <a:solidFill>
            <a:srgbClr val="102B5A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2011680" cy="64008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097280"/>
            <a:ext cx="502920" cy="502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691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ADK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hierarchical agent orchestration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48640" y="29718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transfer_to_agent() as the primary delegation primitive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37947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state shared across all agents without custom sync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651760" y="914400"/>
            <a:ext cx="2011680" cy="3931920"/>
          </a:xfrm>
          <a:prstGeom prst="rect">
            <a:avLst/>
          </a:prstGeom>
          <a:solidFill>
            <a:srgbClr val="102B5A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2651760" y="914400"/>
            <a:ext cx="2011680" cy="64008"/>
          </a:xfrm>
          <a:prstGeom prst="rect">
            <a:avLst/>
          </a:prstGeom>
          <a:solidFill>
            <a:srgbClr val="22D3A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1097280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743200" y="1691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Cable/MSO Domain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2743200" y="21488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D3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Comcast B2B product taxonomy mapped to agents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2743200" y="29718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D3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Serviceability check mirrors actual BSS/OSS pre-sales flow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2743200" y="37947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D3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Pricing/discount logic mirrors real enterprise telco quoting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4846320" y="914400"/>
            <a:ext cx="2011680" cy="3931920"/>
          </a:xfrm>
          <a:prstGeom prst="rect">
            <a:avLst/>
          </a:prstGeom>
          <a:solidFill>
            <a:srgbClr val="102B5A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4846320" y="914400"/>
            <a:ext cx="2011680" cy="6400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840" y="1097280"/>
            <a:ext cx="502920" cy="50292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937760" y="1691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Grounding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4937760" y="21488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LLM orchestration literature (ReAct, AutoGPT lineage)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4937760" y="29718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decomposition patterns for domain-specific agents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4937760" y="37947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Tool-augmented LLM reasoning (Toolformer, ToolLLM)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7040880" y="914400"/>
            <a:ext cx="2011680" cy="3931920"/>
          </a:xfrm>
          <a:prstGeom prst="rect">
            <a:avLst/>
          </a:prstGeom>
          <a:solidFill>
            <a:srgbClr val="102B5A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2"/>
          <p:cNvSpPr/>
          <p:nvPr/>
        </p:nvSpPr>
        <p:spPr>
          <a:xfrm>
            <a:off x="7040880" y="914400"/>
            <a:ext cx="2011680" cy="64008"/>
          </a:xfrm>
          <a:prstGeom prst="rect">
            <a:avLst/>
          </a:prstGeom>
          <a:solidFill>
            <a:srgbClr val="C084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0" y="1097280"/>
            <a:ext cx="502920" cy="50292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7132320" y="1691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API / ADK Shell</a:t>
            </a:r>
            <a:endParaRPr lang="en-US" sz="1300" dirty="0"/>
          </a:p>
        </p:txBody>
      </p:sp>
      <p:sp>
        <p:nvSpPr>
          <p:cNvPr id="30" name="Text 24"/>
          <p:cNvSpPr/>
          <p:nvPr/>
        </p:nvSpPr>
        <p:spPr>
          <a:xfrm>
            <a:off x="7132320" y="21488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Flash for cost/speed tradeoff in production-grade use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7132320" y="29718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ADK shell provides CLI + dev server for rapid agent iteration</a:t>
            </a:r>
            <a:endParaRPr lang="en-US" sz="1000" dirty="0"/>
          </a:p>
        </p:txBody>
      </p:sp>
      <p:sp>
        <p:nvSpPr>
          <p:cNvPr id="32" name="Text 26"/>
          <p:cNvSpPr/>
          <p:nvPr/>
        </p:nvSpPr>
        <p:spPr>
          <a:xfrm>
            <a:off x="7132320" y="37947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AI Studio for prompt engineering and evals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48006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</a:rPr>
              <a:t>10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Code Was Written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731520"/>
            <a:ext cx="8229600" cy="54864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1148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54864" cy="118872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21792" y="9875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21792" y="12801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Design First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21792" y="158191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 with AGENTS.md, CLAUDE.md, and a full C4-style architecture brief. System prompt design was the first artifact — not code.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240280"/>
            <a:ext cx="41148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2240280"/>
            <a:ext cx="54864" cy="118872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21792" y="23134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21792" y="26060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Development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1792" y="29077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used for scaffolding agents, FastAPI routes, and React components. ~70% of boilerplate generated; 100% human-reviewed for ADK correctness.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566160"/>
            <a:ext cx="41148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54864" cy="118872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1792" y="36393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1792" y="3931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Judgment on Critical Paths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1792" y="423367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routing logic, temperature config, tool contract schemas, and importlib isolation — all human-authored. AI doesn't know our ADK constraints.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46320" y="914400"/>
            <a:ext cx="41148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846320" y="914400"/>
            <a:ext cx="54864" cy="118872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010912" y="9875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010912" y="12801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for Coordination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10912" y="158191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branches per agent. PR-based code review across 4 team members. CLAUDE.md served as the AI context file for Claude Code in the repo.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46320" y="2240280"/>
            <a:ext cx="41148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846320" y="2240280"/>
            <a:ext cx="54864" cy="118872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010912" y="23134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010912" y="26060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Agent Testing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010912" y="29077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ADK dev server + per-agent log files in SuperAgent/logs/agents/. Each agent validated independently before integration into SuperAgent.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46320" y="3566160"/>
            <a:ext cx="41148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846320" y="3566160"/>
            <a:ext cx="54864" cy="118872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010912" y="36393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010912" y="3931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010912" y="423367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and Openspec files defined tool contracts before implementation. Prevented agent drift — each agent knew exactly what to own and what not to touch.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48006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</a:rPr>
              <a:t>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 for Comcast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8229600" cy="54864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822960"/>
            <a:ext cx="8229600" cy="777240"/>
          </a:xfrm>
          <a:prstGeom prst="rect">
            <a:avLst/>
          </a:prstGeom>
          <a:solidFill>
            <a:srgbClr val="0D3328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822960"/>
            <a:ext cx="91440" cy="777240"/>
          </a:xfrm>
          <a:prstGeom prst="rect">
            <a:avLst/>
          </a:prstGeom>
          <a:solidFill>
            <a:srgbClr val="22D3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886968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D3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Fit: </a:t>
            </a: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Comcast Business SMB segment — the exact profile this agent is designed for. Sub-100 employee businesses with multi-location needs, high churn from slow quoting cycles.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743200" cy="1371600"/>
          </a:xfrm>
          <a:prstGeom prst="rect">
            <a:avLst/>
          </a:prstGeom>
          <a:solidFill>
            <a:srgbClr val="102B5A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2743200" cy="54864"/>
          </a:xfrm>
          <a:prstGeom prst="rect">
            <a:avLst/>
          </a:prstGeom>
          <a:solidFill>
            <a:srgbClr val="22D3A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65960"/>
            <a:ext cx="384048" cy="38404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051560" y="194767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Prediction Agent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66928" y="2441448"/>
            <a:ext cx="2523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 that flags at-risk accounts mid-conversation and proactively generates retention offers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337560" y="1783080"/>
            <a:ext cx="2743200" cy="1371600"/>
          </a:xfrm>
          <a:prstGeom prst="rect">
            <a:avLst/>
          </a:prstGeom>
          <a:solidFill>
            <a:srgbClr val="102B5A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3337560" y="1783080"/>
            <a:ext cx="2743200" cy="54864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0" y="1965960"/>
            <a:ext cx="384048" cy="38404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931920" y="194767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Integration Layer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3447288" y="2441448"/>
            <a:ext cx="2523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to </a:t>
            </a:r>
            <a:r>
              <a:rPr lang="en-US" sz="1000" dirty="0" err="1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Dynamicsvia</a:t>
            </a: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MCP — auto-log every conversation turn as a CRM activity, zero rep effort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217920" y="1783080"/>
            <a:ext cx="2743200" cy="1371600"/>
          </a:xfrm>
          <a:prstGeom prst="rect">
            <a:avLst/>
          </a:prstGeom>
          <a:solidFill>
            <a:srgbClr val="102B5A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6217920" y="1783080"/>
            <a:ext cx="274320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965960"/>
            <a:ext cx="384048" cy="38404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812280" y="194767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Upsell Intelligence – using Sub Agents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6327648" y="2441448"/>
            <a:ext cx="2523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Cross-agent signal: if Fulfillment sees 80% bandwidth utilization, trigger OfferMgmt for proactive upgrade quote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457200" y="3291840"/>
            <a:ext cx="2743200" cy="1371600"/>
          </a:xfrm>
          <a:prstGeom prst="rect">
            <a:avLst/>
          </a:prstGeom>
          <a:solidFill>
            <a:srgbClr val="102B5A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457200" y="3291840"/>
            <a:ext cx="2743200" cy="54864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3474720"/>
            <a:ext cx="384048" cy="384048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051560" y="345643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RFP Response Generator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566928" y="3950208"/>
            <a:ext cx="2523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uploads an RFP PDF; agent generates a structured response using live product catalog + current pricing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3337560" y="3291840"/>
            <a:ext cx="2743200" cy="1371600"/>
          </a:xfrm>
          <a:prstGeom prst="rect">
            <a:avLst/>
          </a:prstGeom>
          <a:solidFill>
            <a:srgbClr val="102B5A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3"/>
          <p:cNvSpPr/>
          <p:nvPr/>
        </p:nvSpPr>
        <p:spPr>
          <a:xfrm>
            <a:off x="3337560" y="3291840"/>
            <a:ext cx="2743200" cy="54864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4720" y="3474720"/>
            <a:ext cx="384048" cy="384048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3931920" y="345643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Architecture</a:t>
            </a:r>
            <a:endParaRPr lang="en-US" sz="1200" dirty="0"/>
          </a:p>
        </p:txBody>
      </p:sp>
      <p:sp>
        <p:nvSpPr>
          <p:cNvPr id="32" name="Text 25"/>
          <p:cNvSpPr/>
          <p:nvPr/>
        </p:nvSpPr>
        <p:spPr>
          <a:xfrm>
            <a:off x="3447288" y="3950208"/>
            <a:ext cx="2523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Namespace agents per market segment (SMB vs Enterprise vs Wholesale) — same orchestration pattern, different policy layers</a:t>
            </a:r>
            <a:endParaRPr lang="en-US" sz="1000" dirty="0"/>
          </a:p>
        </p:txBody>
      </p:sp>
      <p:sp>
        <p:nvSpPr>
          <p:cNvPr id="33" name="Shape 26"/>
          <p:cNvSpPr/>
          <p:nvPr/>
        </p:nvSpPr>
        <p:spPr>
          <a:xfrm>
            <a:off x="6217920" y="3291840"/>
            <a:ext cx="2743200" cy="1371600"/>
          </a:xfrm>
          <a:prstGeom prst="rect">
            <a:avLst/>
          </a:prstGeom>
          <a:solidFill>
            <a:srgbClr val="102B5A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27"/>
          <p:cNvSpPr/>
          <p:nvPr/>
        </p:nvSpPr>
        <p:spPr>
          <a:xfrm>
            <a:off x="6217920" y="3291840"/>
            <a:ext cx="2743200" cy="54864"/>
          </a:xfrm>
          <a:prstGeom prst="rect">
            <a:avLst/>
          </a:prstGeom>
          <a:solidFill>
            <a:srgbClr val="FB92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55080" y="3474720"/>
            <a:ext cx="384048" cy="384048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6812280" y="345643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 / NOC Agent Variant</a:t>
            </a:r>
            <a:endParaRPr lang="en-US" sz="1200" dirty="0"/>
          </a:p>
        </p:txBody>
      </p:sp>
      <p:sp>
        <p:nvSpPr>
          <p:cNvPr id="37" name="Text 29"/>
          <p:cNvSpPr/>
          <p:nvPr/>
        </p:nvSpPr>
        <p:spPr>
          <a:xfrm>
            <a:off x="6327648" y="3950208"/>
            <a:ext cx="2523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SuperAgent pattern for internal ops: customer reports outage → DiscoveryAgent → ServiceFulfillment → ticket auto-generated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052560" y="0"/>
            <a:ext cx="91440" cy="514350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45720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097280" y="1097280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production-grade multi-agent system — not a demo chatbot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1618488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orchestration: 1 SuperAgent routing 10 specialists, with zero custom protocol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139696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hallucination on critical data — prices, orders, addresses always from deterministic tools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2660904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B2B sales lifecycle: Discovery → Quote → Order → Fulfillment in one conversation thread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3182112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pattern directly transferable to Comcast Business SMB sales automation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00400" y="3749040"/>
            <a:ext cx="2743200" cy="868680"/>
          </a:xfrm>
          <a:prstGeom prst="rect">
            <a:avLst/>
          </a:prstGeom>
          <a:solidFill>
            <a:srgbClr val="00C2C7"/>
          </a:solidFill>
          <a:ln/>
          <a:effectLst>
            <a:outerShdw blurRad="1524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0" y="37490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github.com/sudhamanc/ConversationalSalesAgent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1469</Words>
  <Application>Microsoft Macintosh PowerPoint</Application>
  <PresentationFormat>On-screen Show (16:9)</PresentationFormat>
  <Paragraphs>213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B2B Conversational Sales Agent – Drexel Senior Design</dc:title>
  <dc:subject>PptxGenJS Presentation</dc:subject>
  <dc:creator>PptxGenJS</dc:creator>
  <cp:lastModifiedBy>Sudhaman Chandrasekaran</cp:lastModifiedBy>
  <cp:revision>4</cp:revision>
  <dcterms:created xsi:type="dcterms:W3CDTF">2026-05-03T22:20:53Z</dcterms:created>
  <dcterms:modified xsi:type="dcterms:W3CDTF">2026-05-03T22:26:49Z</dcterms:modified>
</cp:coreProperties>
</file>