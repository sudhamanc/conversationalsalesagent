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195"/>
    <p:restoredTop sz="94610"/>
  </p:normalViewPr>
  <p:slideViewPr>
    <p:cSldViewPr snapToGrid="0" snapToObjects="1">
      <p:cViewPr varScale="1">
        <p:scale>
          <a:sx n="296" d="100"/>
          <a:sy n="296" d="100"/>
        </p:scale>
        <p:origin x="87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9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070848" y="0"/>
            <a:ext cx="73152" cy="18288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70348"/>
            <a:ext cx="3200400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691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Conversational Sales Agent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Multi-Agent Orchestration for Telecom B2B Sales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926080"/>
            <a:ext cx="8229600" cy="1371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Sudhaman Chandrasekaran  ·  Raja  ·  Arun Mohan  ·  Aubin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Drexel University  ·  CS Senior Design  ·  Spring 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720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14884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14884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84048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84048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53212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53212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223760" y="3977640"/>
            <a:ext cx="155448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0C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22376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13716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1247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1792" y="1435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17099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B2B Telco sales is broken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235915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" y="2670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&amp; Architecture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" y="2944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+ 10 sub-agents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35935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1792" y="3904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Implementation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demo, and key decisions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05156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46320" y="105156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11247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10912" y="1435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 &amp; Dev Process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10912" y="17099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ADK, academic grounding, AI-assisted coding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28600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228600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10912" y="235915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10912" y="2670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Comcast Relevance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10912" y="2944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segment, Comcast Business opportunities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520440"/>
            <a:ext cx="4114800" cy="100584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46320" y="3520440"/>
            <a:ext cx="54864" cy="100584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10912" y="35935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10912" y="3904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1371600"/>
          </a:xfrm>
          <a:prstGeom prst="rect">
            <a:avLst/>
          </a:prstGeom>
          <a:solidFill>
            <a:srgbClr val="1A0A0A"/>
          </a:solidFill>
          <a:ln/>
          <a:effectLst>
            <a:outerShdw blurRad="127000" dist="381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91440" cy="1371600"/>
          </a:xfrm>
          <a:prstGeom prst="rect">
            <a:avLst/>
          </a:prstGeom>
          <a:solidFill>
            <a:srgbClr val="E840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8229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sales rep walks into a call with a mid-market prospect.
</a:t>
            </a:r>
            <a:r>
              <a:rPr lang="en-US" sz="1400" i="1" dirty="0">
                <a:solidFill>
                  <a:srgbClr val="F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prospect asks: "Can you connect our 8 locations in the Southeast with guaranteed SLAs?"
</a:t>
            </a: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 opens 4 internal tools, 2 spreadsheets, and shoots a Slack to the solutions engineer.
</a:t>
            </a:r>
            <a:r>
              <a:rPr lang="en-US" sz="1300" b="1" dirty="0">
                <a:solidFill>
                  <a:srgbClr val="E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prospect emails a competitor while waiting.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743200" cy="2514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2743200" cy="54864"/>
          </a:xfrm>
          <a:prstGeom prst="rect">
            <a:avLst/>
          </a:prstGeom>
          <a:solidFill>
            <a:srgbClr val="E8404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251460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1792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RFP Hell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21792" y="3520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B2B Telco RFP: 3–6 weeks. Reps manually stitch product specs, pricing, and eligibility — across siloed tools.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2331720"/>
            <a:ext cx="2743200" cy="2514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337560" y="233172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1460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02152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Complexity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502152" y="3520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SKUs, bandwidth tiers, contract bundles. Reps can't hold it all. Customers wait. Deals slip.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2331720"/>
            <a:ext cx="2743200" cy="2514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217920" y="2331720"/>
            <a:ext cx="2743200" cy="5486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51460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82512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Handoffs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382512" y="3520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Quoting → Order → Fulfillment — each step a different team, different system. Nothing talks to anything.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conversation. End-to-end. No human switching tools.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solidFill>
            <a:srgbClr val="0D1B3E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8229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371600"/>
            <a:ext cx="6858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Orchestrator
</a:t>
            </a: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hierarchical multi-agent system where a central SuperAgent routes every user message to the right specialist sub-agent — instantly, with full session context preserved. No human handoffs. No tool switching. One conversation thread drives the entire sales lifecycle.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20040" y="2743200"/>
            <a:ext cx="1325880" cy="1234440"/>
          </a:xfrm>
          <a:prstGeom prst="rect">
            <a:avLst/>
          </a:prstGeom>
          <a:solidFill>
            <a:srgbClr val="00C2C7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20040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0040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645920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682496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810512" y="2743200"/>
            <a:ext cx="1325880" cy="123444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810512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810512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136392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172968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300984" y="2743200"/>
            <a:ext cx="1325880" cy="123444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3300984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300984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626864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663440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791456" y="2743200"/>
            <a:ext cx="1325880" cy="123444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791456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791456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117336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153912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281928" y="2743200"/>
            <a:ext cx="1325880" cy="123444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281928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281928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07808" y="3246120"/>
            <a:ext cx="164592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644384" y="31272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772400" y="2743200"/>
            <a:ext cx="1325880" cy="1234440"/>
          </a:xfrm>
          <a:prstGeom prst="rect">
            <a:avLst/>
          </a:prstGeom>
          <a:solidFill>
            <a:srgbClr val="22D3A5"/>
          </a:solidFill>
          <a:ln/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7772400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Activation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7772400" y="28072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Google ADK · Gemini Flash · FastAPI · React 19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SuperAgent + 10 Specialist Agents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8229600" cy="45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0" y="822960"/>
            <a:ext cx="2743200" cy="755063"/>
          </a:xfrm>
          <a:prstGeom prst="rect">
            <a:avLst/>
          </a:prstGeom>
          <a:solidFill>
            <a:srgbClr val="00C2C7"/>
          </a:solidFill>
          <a:ln/>
          <a:effectLst>
            <a:outerShdw blurRad="152400" dist="381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886968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40480" y="8869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74320" y="1920240"/>
            <a:ext cx="1572768" cy="676656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74320" y="1920240"/>
            <a:ext cx="1572768" cy="64008"/>
          </a:xfrm>
          <a:prstGeom prst="rect">
            <a:avLst/>
          </a:prstGeom>
          <a:solidFill>
            <a:srgbClr val="5B8D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47472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69264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993392" y="1920240"/>
            <a:ext cx="1572768" cy="676656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993392" y="1920240"/>
            <a:ext cx="1572768" cy="64008"/>
          </a:xfrm>
          <a:prstGeom prst="rect">
            <a:avLst/>
          </a:prstGeom>
          <a:solidFill>
            <a:srgbClr val="28A7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066544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688336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712464" y="1920240"/>
            <a:ext cx="1572768" cy="676656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712464" y="1920240"/>
            <a:ext cx="1572768" cy="64008"/>
          </a:xfrm>
          <a:prstGeom prst="rect">
            <a:avLst/>
          </a:prstGeom>
          <a:solidFill>
            <a:srgbClr val="6F42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785616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407408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431536" y="1920240"/>
            <a:ext cx="1572768" cy="676656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431536" y="1920240"/>
            <a:ext cx="1572768" cy="64008"/>
          </a:xfrm>
          <a:prstGeom prst="rect">
            <a:avLst/>
          </a:prstGeom>
          <a:solidFill>
            <a:srgbClr val="FD7E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504688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7150608" y="1920240"/>
            <a:ext cx="1572768" cy="676656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7150608" y="1920240"/>
            <a:ext cx="1572768" cy="64008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7223760" y="21031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845552" y="1691640"/>
            <a:ext cx="18288" cy="2286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274320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274320" y="3291840"/>
            <a:ext cx="1572768" cy="64008"/>
          </a:xfrm>
          <a:prstGeom prst="rect">
            <a:avLst/>
          </a:prstGeom>
          <a:solidFill>
            <a:srgbClr val="DC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347472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69264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1993392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1993392" y="3291840"/>
            <a:ext cx="1572768" cy="64008"/>
          </a:xfrm>
          <a:prstGeom prst="rect">
            <a:avLst/>
          </a:prstGeom>
          <a:solidFill>
            <a:srgbClr val="E83E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2066544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2688336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3712464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3712464" y="3291840"/>
            <a:ext cx="1572768" cy="64008"/>
          </a:xfrm>
          <a:prstGeom prst="rect">
            <a:avLst/>
          </a:prstGeom>
          <a:solidFill>
            <a:srgbClr val="17A2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3785616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407408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5431536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5431536" y="3291840"/>
            <a:ext cx="1572768" cy="64008"/>
          </a:xfrm>
          <a:prstGeom prst="rect">
            <a:avLst/>
          </a:prstGeom>
          <a:solidFill>
            <a:srgbClr val="868E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5504688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Comms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126480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7150608" y="3291840"/>
            <a:ext cx="1572768" cy="868680"/>
          </a:xfrm>
          <a:prstGeom prst="rect">
            <a:avLst/>
          </a:prstGeom>
          <a:solidFill>
            <a:srgbClr val="102B5A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7150608" y="3291840"/>
            <a:ext cx="1572768" cy="64008"/>
          </a:xfrm>
          <a:prstGeom prst="rect">
            <a:avLst/>
          </a:prstGeom>
          <a:solidFill>
            <a:srgbClr val="F0AD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7223760" y="347472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7845552" y="2779776"/>
            <a:ext cx="18288" cy="5120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457200" y="4315968"/>
            <a:ext cx="8229600" cy="658368"/>
          </a:xfrm>
          <a:prstGeom prst="rect">
            <a:avLst/>
          </a:prstGeom>
          <a:solidFill>
            <a:srgbClr val="102B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640080" y="436168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Principles:  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hallucination on critical data  ·  Temperature-stratified agents (0.0 for deterministic, 0.7 for conversational)  ·  Router-only SuperAgent (never generates user-facing text)</a:t>
            </a:r>
            <a:endParaRPr lang="en-US" sz="1100" dirty="0"/>
          </a:p>
        </p:txBody>
      </p:sp>
      <p:sp>
        <p:nvSpPr>
          <p:cNvPr id="50" name="Shape 8">
            <a:extLst>
              <a:ext uri="{FF2B5EF4-FFF2-40B4-BE49-F238E27FC236}">
                <a16:creationId xmlns:a16="http://schemas.microsoft.com/office/drawing/2014/main" id="{351429CD-C9FB-EE35-CE8C-7EEA3D6CD067}"/>
              </a:ext>
            </a:extLst>
          </p:cNvPr>
          <p:cNvSpPr/>
          <p:nvPr/>
        </p:nvSpPr>
        <p:spPr>
          <a:xfrm rot="5400000">
            <a:off x="4384549" y="-1728898"/>
            <a:ext cx="45719" cy="687629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8">
            <a:extLst>
              <a:ext uri="{FF2B5EF4-FFF2-40B4-BE49-F238E27FC236}">
                <a16:creationId xmlns:a16="http://schemas.microsoft.com/office/drawing/2014/main" id="{DEF6A486-C3ED-A7EE-B037-8C05E917179F}"/>
              </a:ext>
            </a:extLst>
          </p:cNvPr>
          <p:cNvSpPr/>
          <p:nvPr/>
        </p:nvSpPr>
        <p:spPr>
          <a:xfrm rot="5400000">
            <a:off x="4384548" y="-649225"/>
            <a:ext cx="45719" cy="687629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41148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9875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188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9875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sub-agent delegation, no custom A2A protocol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572768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572768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1645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1847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3.0 Flash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94560" y="1645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cost-efficient; per-agent temperature config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31136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231136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23042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5800" y="2505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4560" y="230428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streaming to React frontend; single Cloud Run container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89504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2889504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29626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194560" y="2962656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chat 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47872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3547872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5800" y="36210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" y="3822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+ GCS sync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194560" y="3621024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portable; synced to GCS for durability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4206240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54864" cy="56692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85800" y="4279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5800" y="4480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Cloud Run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194560" y="42793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monorepo; single startup script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822960"/>
            <a:ext cx="3931920" cy="3977640"/>
          </a:xfrm>
          <a:prstGeom prst="rect">
            <a:avLst/>
          </a:prstGeom>
          <a:solidFill>
            <a:srgbClr val="0D1B3E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754880" y="822960"/>
            <a:ext cx="3931920" cy="64008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37760" y="960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Design Bet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937760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212080" y="14630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decides, tools execute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2120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classifies intent and routes. Addresses, prices, order IDs always come from deterministic tool calls — never hallucinated.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3776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12080" y="2240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ADK-native delegation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212080" y="2514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inter-agent protocol. ADK's transfer_to_agent() is the entire handoff mechanism. Simple by design.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377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212080" y="3017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Importlib isolation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212080" y="3291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loaded without triggering __init__.py — prevents ADK parent-binding conflicts in a monorepo.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3776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212080" y="37947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tool contracts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12080" y="4069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return JSON, never prose. Prevents LLM from rephrasing critical values like prices or order IDs.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46901" y="4543023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Demo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prospect inquires about connectivity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74901" y="1068303"/>
            <a:ext cx="4572000" cy="59436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12061" y="1132311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0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 I need internet for my ice-cream shop Mango Mango . I am at 123 Main Street Philadelphia PA 19103</a:t>
            </a:r>
          </a:p>
          <a:p>
            <a:b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17301" y="1772391"/>
            <a:ext cx="4572000" cy="594360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4461" y="1749252"/>
            <a:ext cx="4709375" cy="736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DiscoveryAgent:  We're more than happy to have you as a customer! I've successfully registered Mango Mango at 123 Main Street in Philadelphia in our system.</a:t>
            </a:r>
          </a:p>
          <a:p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me find the best internet options for your ice cream shop, could you tell me a bit more about what you're looking for? </a:t>
            </a:r>
          </a:p>
          <a:p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74901" y="2476479"/>
            <a:ext cx="4572000" cy="59436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12061" y="2540487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 Brand new location and new internet asap . I am Mr Mumbo Jumbo and </a:t>
            </a:r>
            <a:r>
              <a:rPr lang="en-US" sz="1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am the manager. My email id - User@gmail.com and Phone number is 434-444-4564. My budget is $400 per month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7301" y="3180567"/>
            <a:ext cx="4100634" cy="452628"/>
          </a:xfrm>
          <a:prstGeom prst="rect">
            <a:avLst/>
          </a:prstGeom>
          <a:solidFill>
            <a:srgbClr val="102B5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4461" y="3244575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ServiceabilityAgent + ProductAgent:  ✓ Address serviceable — Fiber available. 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301" y="4075197"/>
            <a:ext cx="4572000" cy="594360"/>
          </a:xfrm>
          <a:prstGeom prst="rect">
            <a:avLst/>
          </a:prstGeom>
          <a:solidFill>
            <a:srgbClr val="1A3A2A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8653" y="4244105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8F4F8"/>
                </a:solidFill>
                <a:latin typeface="Calibri" pitchFamily="34" charset="0"/>
                <a:cs typeface="Calibri" pitchFamily="34" charset="-120"/>
              </a:rPr>
              <a:t>Agent → OfferManagementAgent:  Based on the serviceability check for your location at 123 Main Street, Philadelphia, here are the available products across our categories..</a:t>
            </a:r>
          </a:p>
        </p:txBody>
      </p:sp>
      <p:sp>
        <p:nvSpPr>
          <p:cNvPr id="16" name="Text 14"/>
          <p:cNvSpPr/>
          <p:nvPr/>
        </p:nvSpPr>
        <p:spPr>
          <a:xfrm>
            <a:off x="517301" y="4719849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Super Agent and Sub agent routes each turn automatically — user sees one seamless conversation</a:t>
            </a:r>
            <a:endParaRPr lang="en-US" sz="1000" dirty="0"/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4DF64D9A-4616-9DF9-085C-1E4AB4E28D1F}"/>
              </a:ext>
            </a:extLst>
          </p:cNvPr>
          <p:cNvSpPr/>
          <p:nvPr/>
        </p:nvSpPr>
        <p:spPr>
          <a:xfrm>
            <a:off x="4224271" y="3569187"/>
            <a:ext cx="4572000" cy="59436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6197154D-2F2F-0444-9AAB-FE2683DED50B}"/>
              </a:ext>
            </a:extLst>
          </p:cNvPr>
          <p:cNvSpPr/>
          <p:nvPr/>
        </p:nvSpPr>
        <p:spPr>
          <a:xfrm>
            <a:off x="4361431" y="3633195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0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Show me all available products - internet (fiber and non fiber) and other products at this location</a:t>
            </a:r>
          </a:p>
          <a:p>
            <a:br>
              <a:rPr lang="en-US" sz="1000" dirty="0"/>
            </a:b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transfer_to_agent()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Zero-boilerplate agent handoff — no message queues, no custom protocol. ADK handles routing state.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938528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029968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(Server-Sent Events)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35000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One-directional token stream from FastAPI to React — simpler than WebSockets for LLM output.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62656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05409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stratification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7413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for Order/Payment/Fulfillment agents (deterministic accuracy); 0.7 for Greeting/FAQ (natural conversation).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986784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4078224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Importlib isolation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39826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ADK parent-agent re-binding when loading sub-agents in a shared monorepo package structure.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91440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46320" y="914400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0" y="100584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JSON-only tool contracts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13258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return structured JSON, never prose — eliminates LLM rephrasing risk on prices, order IDs, addresses.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1938528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1938528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0" y="2029968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+ GCS sync pattern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0" y="235000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for dev speed; GCS sync for Cloud Run statelessness without a full managed DB overhead.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962656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962656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0" y="305409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Cloud Run container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0" y="337413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 + frontend (served static) in one container — simplifies deployment, reduces cold-start complexity.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3986784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846320" y="3986784"/>
            <a:ext cx="54864" cy="9144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0" y="4078224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system prompts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0" y="439826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has narrowly scoped instructions — prevents context bleed and keeps reasoning focused per domain.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Code Was Written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987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Design First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" y="15819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AGENTS.md, CLAUDE.md, and a full C4-style architecture brief. System prompt design was the first artifact — not code.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2313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Development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" y="29077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used for scaffolding agents, FastAPI routes, and React components. ~70% of boilerplate generated; 100% human-reviewed for ADK correctness.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3639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" y="3931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Judgment on Critical Paths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42336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routing logic, temperature config, tool contract schemas, and importlib isolation — all human-authored. AI doesn't know our ADK constraints.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9144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46320" y="91440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987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10912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Coordination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10912" y="15819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branches per agent. PR-based code review across 4 team members. CLAUDE.md served as the AI context file for Claude Code in the repo.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224028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10912" y="2313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010912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Agent Testing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10912" y="29077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dev server + per-agent log files in SuperAgent/logs/agents/. Each agent validated independently before integration into SuperAgent.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56616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46320" y="3566160"/>
            <a:ext cx="54864" cy="118872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10912" y="3639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10912" y="3931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10912" y="42336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and Openspec files defined tool contracts before implementation. Prevented agent drift — each agent knew exactly what to own and what not to touch.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 &amp; Grounding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011680" cy="393192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2011680" cy="6400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hierarchical agent orchestration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transfer_to_agent() as the primary delegation primitive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3794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state shared across all agents without custom sync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51760" y="914400"/>
            <a:ext cx="2011680" cy="393192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651760" y="914400"/>
            <a:ext cx="2011680" cy="64008"/>
          </a:xfrm>
          <a:prstGeom prst="rect">
            <a:avLst/>
          </a:prstGeom>
          <a:solidFill>
            <a:srgbClr val="22D3A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09728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Cable/MSO Domain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743200" y="2148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Comcast B2B product taxonomy mapped to agents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274320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check mirrors actual BSS/OSS pre-sales flow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743200" y="3794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Pricing/discount logic mirrors real enterprise telco quoting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846320" y="914400"/>
            <a:ext cx="2011680" cy="393192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846320" y="914400"/>
            <a:ext cx="2011680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109728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93776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Grounding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937760" y="2148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LLM orchestration literature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493776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decomposition patterns for domain-specific agents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4937760" y="3794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LLM reasoning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040880" y="914400"/>
            <a:ext cx="2011680" cy="393192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7040880" y="914400"/>
            <a:ext cx="2011680" cy="64008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1097280"/>
            <a:ext cx="502920" cy="5029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13232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/ ADK Shell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7132320" y="2148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for cost/speed tradeoff in production-grade use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713232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shell provides CLI + dev server for rapid agent iteration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7132320" y="37947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for prompt engineering and evals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800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Comcast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8229600" cy="54864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777240"/>
          </a:xfrm>
          <a:prstGeom prst="rect">
            <a:avLst/>
          </a:prstGeom>
          <a:solidFill>
            <a:srgbClr val="0D33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22960"/>
            <a:ext cx="91440" cy="777240"/>
          </a:xfrm>
          <a:prstGeom prst="rect">
            <a:avLst/>
          </a:prstGeom>
          <a:solidFill>
            <a:srgbClr val="22D3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886968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Fit: </a:t>
            </a: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Comcast Business SMB segment — the exact profile this agent is designed for. Sub-100 employee businesses with multi-location needs, high churn from slow quoting cycles.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743200" cy="54864"/>
          </a:xfrm>
          <a:prstGeom prst="rect">
            <a:avLst/>
          </a:prstGeom>
          <a:solidFill>
            <a:srgbClr val="22D3A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65960"/>
            <a:ext cx="384048" cy="3840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51560" y="19476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Agent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6928" y="244144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that flags at-risk accounts mid-conversation and proactively generates retention offers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337560" y="178308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337560" y="1783080"/>
            <a:ext cx="2743200" cy="54864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965960"/>
            <a:ext cx="384048" cy="38404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931920" y="19476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Integration Layer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447288" y="244144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</a:t>
            </a:r>
            <a:r>
              <a:rPr lang="en-US" sz="10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Dynamicsvia</a:t>
            </a: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MCP — auto-log every conversation turn as a CRM activity, zero rep effort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17920" y="178308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217920" y="178308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965960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12280" y="19476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Intelligence – using Sub Agents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327648" y="244144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Cross-agent signal: if Fulfillment sees 80% bandwidth utilization, trigger OfferMgmt for proactive upgrade quote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57200" y="329184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57200" y="3291840"/>
            <a:ext cx="2743200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474720"/>
            <a:ext cx="384048" cy="3840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051560" y="34564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RFP Response Generator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66928" y="395020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uploads an RFP PDF; agent generates a structured response using live product catalog + current pricing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337560" y="329184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3337560" y="3291840"/>
            <a:ext cx="27432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3474720"/>
            <a:ext cx="384048" cy="3840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931920" y="34564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Architecture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3447288" y="395020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 agents per market segment (SMB vs Enterprise vs Wholesale) — same orchestration pattern, different policy layers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6217920" y="3291840"/>
            <a:ext cx="2743200" cy="1371600"/>
          </a:xfrm>
          <a:prstGeom prst="rect">
            <a:avLst/>
          </a:prstGeom>
          <a:solidFill>
            <a:srgbClr val="102B5A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6217920" y="3291840"/>
            <a:ext cx="2743200" cy="54864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3474720"/>
            <a:ext cx="384048" cy="3840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812280" y="34564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/ NOC Agent Variant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327648" y="3950208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SuperAgent pattern for internal ops: customer reports outage → DiscoveryAgent → ServiceFulfillment → ticket auto-generated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052560" y="0"/>
            <a:ext cx="91440" cy="5143500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2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4572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97280" y="109728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production-grade multi-agent system — not a demo chatbot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618488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orchestration: 1 SuperAgent routing 10 specialists, with zero custom protocol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139696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hallucination on critical data — prices, orders, addresses always from deterministic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660904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B2B sales lifecycle: Discovery → Quote → Order → Fulfillment in one conversation thread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3182112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directly transferable to Comcast Business SMB sales automation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3749040"/>
            <a:ext cx="2743200" cy="868680"/>
          </a:xfrm>
          <a:prstGeom prst="rect">
            <a:avLst/>
          </a:prstGeom>
          <a:solidFill>
            <a:srgbClr val="00C2C7"/>
          </a:solidFill>
          <a:ln/>
          <a:effectLst>
            <a:outerShdw blurRad="1524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0" y="3749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github.com/sudhamanc/ConversationalSalesAgent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1508</Words>
  <Application>Microsoft Macintosh PowerPoint</Application>
  <PresentationFormat>On-screen Show (16:9)</PresentationFormat>
  <Paragraphs>221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Conversational Sales Agent – Drexel Senior Design</dc:title>
  <dc:subject>PptxGenJS Presentation</dc:subject>
  <dc:creator>PptxGenJS</dc:creator>
  <cp:lastModifiedBy>Chandrasekaran, Sudhaman</cp:lastModifiedBy>
  <cp:revision>9</cp:revision>
  <dcterms:created xsi:type="dcterms:W3CDTF">2026-05-03T22:20:53Z</dcterms:created>
  <dcterms:modified xsi:type="dcterms:W3CDTF">2026-05-04T21:36:46Z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979fc8-5559-4f19-93ee-e28ca03d7638_Enabled">
    <vt:lpwstr>true</vt:lpwstr>
  </property>
  <property fmtid="{D5CDD505-2E9C-101B-9397-08002B2CF9AE}" pid="3" name="MSIP_Label_d0979fc8-5559-4f19-93ee-e28ca03d7638_SetDate">
    <vt:lpwstr>2026-05-04T21:26:23Z</vt:lpwstr>
  </property>
  <property fmtid="{D5CDD505-2E9C-101B-9397-08002B2CF9AE}" pid="4" name="MSIP_Label_d0979fc8-5559-4f19-93ee-e28ca03d7638_Method">
    <vt:lpwstr>Privileged</vt:lpwstr>
  </property>
  <property fmtid="{D5CDD505-2E9C-101B-9397-08002B2CF9AE}" pid="5" name="MSIP_Label_d0979fc8-5559-4f19-93ee-e28ca03d7638_Name">
    <vt:lpwstr>General Business Information (G)</vt:lpwstr>
  </property>
  <property fmtid="{D5CDD505-2E9C-101B-9397-08002B2CF9AE}" pid="6" name="MSIP_Label_d0979fc8-5559-4f19-93ee-e28ca03d7638_SiteId">
    <vt:lpwstr>906aefe9-76a7-4f65-b82d-5ec20775d5aa</vt:lpwstr>
  </property>
  <property fmtid="{D5CDD505-2E9C-101B-9397-08002B2CF9AE}" pid="7" name="MSIP_Label_d0979fc8-5559-4f19-93ee-e28ca03d7638_ActionId">
    <vt:lpwstr>710b71a8-be3d-4516-b4be-2ec5b2e4a1ef</vt:lpwstr>
  </property>
  <property fmtid="{D5CDD505-2E9C-101B-9397-08002B2CF9AE}" pid="8" name="MSIP_Label_d0979fc8-5559-4f19-93ee-e28ca03d7638_ContentBits">
    <vt:lpwstr>0</vt:lpwstr>
  </property>
  <property fmtid="{D5CDD505-2E9C-101B-9397-08002B2CF9AE}" pid="9" name="MSIP_Label_d0979fc8-5559-4f19-93ee-e28ca03d7638_Tag">
    <vt:lpwstr>50, 0, 1, 1</vt:lpwstr>
  </property>
</Properties>
</file>