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57" r:id="rId9"/>
    <p:sldId id="270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92"/>
    <p:restoredTop sz="94610"/>
  </p:normalViewPr>
  <p:slideViewPr>
    <p:cSldViewPr snapToGrid="0" snapToObjects="1">
      <p:cViewPr varScale="1">
        <p:scale>
          <a:sx n="265" d="100"/>
          <a:sy n="265" d="100"/>
        </p:scale>
        <p:origin x="208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8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vs. Custom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7A2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BSS / OSS North star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Business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vs. Custom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66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&amp; Scenarios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408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scenario matrix across business units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797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Level 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BSS/OSS stack layout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11296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93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Platform-by-platform impact assessment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722376"/>
            <a:ext cx="768096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90297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applications can support standard products , up to a 100 sites and standard processes effectively. </a:t>
            </a:r>
          </a:p>
          <a:p>
            <a:pPr marL="0" indent="0" algn="l">
              <a:buNone/>
            </a:pPr>
            <a:endParaRPr lang="en-US" sz="12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Comcast Business continues to grow — expanding its global reach, selling custom solutions, large deals, obtaining new customers through acquisitions, and providing differentiating product experiences — we have an opportunity to evaluate how newer platforms can scale appropriately for custom scenarios with the most efficient cost of ownership.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" y="2571750"/>
            <a:ext cx="3749040" cy="18493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9516" y="2587752"/>
            <a:ext cx="68580" cy="184937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2416" y="266319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– Current 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3028950"/>
            <a:ext cx="34015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sales opportunities due to lack of support for custom scenarios (large number of sites) and permutations in the current platform.</a:t>
            </a:r>
          </a:p>
          <a:p>
            <a:pPr marL="0" indent="0" algn="l">
              <a:buNone/>
            </a:pPr>
            <a:endParaRPr lang="en-US" sz="1100" dirty="0">
              <a:solidFill>
                <a:srgbClr val="2D3748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&gt;100 sites – Current Amdocs stack doesn’t scale well and needs performance improvements. Needs human touch to push the order through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Certain products are built exclusively in the Amdocs stack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91456" y="2571750"/>
            <a:ext cx="3730752" cy="18493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18304" y="2596896"/>
            <a:ext cx="73152" cy="182422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65776" y="265404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gaps BSS/OSS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5776" y="3028950"/>
            <a:ext cx="3300984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Current platforms support </a:t>
            </a:r>
            <a:r>
              <a:rPr lang="en-US" sz="11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SMB and standard Enterprise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effectively
•  Capability gaps emerge for:</a:t>
            </a: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
     ◦  Custom products and pricing- Sales, Catalog and CPQ
     ◦  Large, complex, multi-site deployments &gt;100 sites
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These gaps introduce </a:t>
            </a:r>
            <a:r>
              <a:rPr lang="en-US" sz="11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limits</a:t>
            </a:r>
            <a:r>
              <a:rPr lang="en-US" sz="11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manual workarounds, and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Level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12648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Opp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18488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64792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64792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SOW++ / SQO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70632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16936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16936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/ OSO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22776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69080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 / COSMOS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21224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73368" y="1371600"/>
            <a:ext cx="1005840" cy="1280160"/>
          </a:xfrm>
          <a:prstGeom prst="rect">
            <a:avLst/>
          </a:prstGeom>
          <a:solidFill>
            <a:srgbClr val="1B6B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/ CAFÉ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79208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25512" y="1371600"/>
            <a:ext cx="1005840" cy="128016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25512" y="1371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1188720" cy="54864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0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45920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88336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88336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 / C1/D1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30752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3168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15584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15584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0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ICO/CAFÉ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00416" y="310896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00416" y="31089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Conv.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118872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45920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645920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88336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688336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Tool++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30752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30752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73168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OSO/COSMOS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15584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15584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58000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58000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ICO/CAFÉ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00416" y="3931920"/>
            <a:ext cx="9601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00416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Conv.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Standard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31637"/>
              </p:ext>
            </p:extLst>
          </p:nvPr>
        </p:nvGraphicFramePr>
        <p:xfrm>
          <a:off x="274320" y="1005840"/>
          <a:ext cx="859536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Builder/SQO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Workbench/CSG 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 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SQO - C1/D1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Nitel 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Intellipro/SQO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Custom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40069"/>
              </p:ext>
            </p:extLst>
          </p:nvPr>
        </p:nvGraphicFramePr>
        <p:xfrm>
          <a:off x="274320" y="1005840"/>
          <a:ext cx="859536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Workbench/CSG 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CSG/Amdocs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1000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 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Nitel 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Intellipro/SOW++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 type — requires SOW Tool++ and Compass/Singleview stack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Scenarios — International, CBM &amp; Fed/SLED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06763"/>
              </p:ext>
            </p:extLst>
          </p:nvPr>
        </p:nvGraphicFramePr>
        <p:xfrm>
          <a:off x="274320" y="914400"/>
          <a:ext cx="7955280" cy="33147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Lead/Opp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- Short Term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PIVOT/ILEX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Geneva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 - NorthStar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SMB (Std)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 CBM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Celestial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Ent/CES (Std)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SMB (Cust)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- Ent/CES (Cust)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Gov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: Dynamics /ServiceNow/iCertis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: Dynamics /ServiceNow/iCertis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 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Fed/SLED (Comcast)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(Comcast paper)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Tool++</a:t>
                      </a:r>
                      <a:endParaRPr lang="en-US" sz="75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OSO/COSMOS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ICO/CAFÉ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SOW</a:t>
            </a:r>
            <a:r>
              <a:rPr lang="en-US" sz="14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++</a:t>
            </a:r>
            <a:r>
              <a:rPr lang="en-US" sz="1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Standards-Led Acceleration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E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Custom Enterprise Quoting Gaps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4572000" cy="1975104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FFE8D6"/>
          </a:solidFill>
          <a:ln w="3175">
            <a:solidFill>
              <a:schemeClr val="accent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933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CATALYST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408176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Current platforms support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SMB and standard Enterprise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effectively
•  Capability gaps emerge for:
</a:t>
            </a:r>
            <a:r>
              <a:rPr lang="en-US" sz="8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◦  Custom Enterprise customers
     ◦  Custom products and pricing
     ◦  Large, complex, multi-site deployments &gt;50 sites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These gaps introduce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limits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manual workarounds, and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658368"/>
            <a:ext cx="4572000" cy="1975104"/>
          </a:xfrm>
          <a:prstGeom prst="rect">
            <a:avLst/>
          </a:prstGeom>
          <a:solidFill>
            <a:srgbClr val="E8F0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D1E2F9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846320" y="822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338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46320" y="1133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08176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Close the Custom Enterprise quoting gap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quickly</a:t>
            </a:r>
            <a:r>
              <a:rPr lang="en-US" sz="1000" dirty="0">
                <a:solidFill>
                  <a:srgbClr val="000000"/>
                </a:solidFill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Accelerate a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vs. buy (COTS)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decision
•  Minimize upfront spend while maximizing 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633472"/>
            <a:ext cx="4572000" cy="1975104"/>
          </a:xfrm>
          <a:prstGeom prst="rect">
            <a:avLst/>
          </a:prstGeom>
          <a:solidFill>
            <a:srgbClr val="F0F3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896112" cy="237744"/>
          </a:xfrm>
          <a:prstGeom prst="roundRect">
            <a:avLst>
              <a:gd name="adj" fmla="val 15385"/>
            </a:avLst>
          </a:prstGeom>
          <a:solidFill>
            <a:srgbClr val="D6DEE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74320" y="279806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APPROACH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7432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Leveraged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TMF standards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open APIs as stable reference models
•  Applied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Spec-Driven Development (SDD)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enhance core capabilities
•  Built a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low-cost Prototype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focused on architectural viability — not feature completeness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33472"/>
            <a:ext cx="4572000" cy="197510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846320" y="279806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846320" y="2798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Proved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Proven technical scaffolding:
</a:t>
            </a:r>
            <a:r>
              <a:rPr lang="en-US" sz="8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◦  Canonical models, APIs, orchestration patterns
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 Prototype that validates support for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products</a:t>
            </a:r>
            <a:r>
              <a:rPr lang="en-US" sz="10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000" b="1" dirty="0">
                <a:solidFill>
                  <a:srgbClr val="FF55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large-site scenarios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096512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010912" y="4096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decision point: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Confidently continue targeted build or pivot to alternative options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" y="4645152"/>
            <a:ext cx="8636508" cy="42062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457200" y="4608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58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 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invested JUST enough to reduce uncertainty — accelerating decision-making while avoiding premature commitment.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solidFill>
            <a:srgbClr val="F0F3F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029200" y="49926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Audience: </a:t>
            </a:r>
            <a:r>
              <a:rPr lang="en-US" sz="500" b="1" dirty="0">
                <a:solidFill>
                  <a:srgbClr val="003382"/>
                </a:solidFill>
                <a:highlight>
                  <a:srgbClr val="D1E2F9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CIO </a:t>
            </a:r>
            <a:r>
              <a:rPr lang="en-US" sz="500" dirty="0">
                <a:solidFill>
                  <a:srgbClr val="000000"/>
                </a:solidFill>
              </a:rPr>
              <a:t>  </a:t>
            </a:r>
            <a:r>
              <a:rPr lang="en-US" sz="500" b="1" dirty="0">
                <a:solidFill>
                  <a:srgbClr val="0C2340"/>
                </a:solidFill>
                <a:highlight>
                  <a:srgbClr val="D6DEE8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ARCHITECTS </a:t>
            </a:r>
            <a:r>
              <a:rPr lang="en-US" sz="500" dirty="0">
                <a:solidFill>
                  <a:srgbClr val="000000"/>
                </a:solidFill>
              </a:rPr>
              <a:t>  </a:t>
            </a:r>
            <a:r>
              <a:rPr lang="en-US" sz="500" b="1" dirty="0">
                <a:solidFill>
                  <a:srgbClr val="993300"/>
                </a:solidFill>
                <a:highlight>
                  <a:srgbClr val="FFE8D6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DEVELOPERS </a:t>
            </a:r>
            <a:endParaRPr lang="en-US" sz="6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62D7AAE-5232-A1F9-C75B-9814605CD954}"/>
              </a:ext>
            </a:extLst>
          </p:cNvPr>
          <p:cNvSpPr/>
          <p:nvPr/>
        </p:nvSpPr>
        <p:spPr>
          <a:xfrm>
            <a:off x="-310896" y="868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102870"/>
            <a:ext cx="8709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— Sales → Assurance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05740" y="377190"/>
            <a:ext cx="8709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capability view across Sales, Ordering, Fulfillment, Billing, and Assurance — with shared &amp; ancillary systems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285875" y="593217"/>
            <a:ext cx="7200900" cy="994410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0090" y="582930"/>
            <a:ext cx="41148" cy="994410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" y="582930"/>
            <a:ext cx="58293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0090" y="1611630"/>
            <a:ext cx="7200900" cy="133731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0090" y="1611630"/>
            <a:ext cx="41148" cy="1337310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70" y="1611630"/>
            <a:ext cx="58293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0090" y="2983230"/>
            <a:ext cx="7200900" cy="720090"/>
          </a:xfrm>
          <a:prstGeom prst="rect">
            <a:avLst/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0090" y="2983230"/>
            <a:ext cx="41148" cy="720090"/>
          </a:xfrm>
          <a:prstGeom prst="rect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70" y="2983230"/>
            <a:ext cx="58293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0090" y="3737610"/>
            <a:ext cx="7200900" cy="445770"/>
          </a:xfrm>
          <a:prstGeom prst="rect">
            <a:avLst/>
          </a:prstGeom>
          <a:solidFill>
            <a:srgbClr val="FDF2E4"/>
          </a:solidFill>
          <a:ln w="12700">
            <a:solidFill>
              <a:srgbClr val="FDF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0090" y="3737610"/>
            <a:ext cx="41148" cy="445770"/>
          </a:xfrm>
          <a:prstGeom prst="rect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70" y="3737610"/>
            <a:ext cx="58293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D98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0090" y="4217670"/>
            <a:ext cx="7200900" cy="685800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0090" y="4217670"/>
            <a:ext cx="41148" cy="685800"/>
          </a:xfrm>
          <a:prstGeom prst="rect">
            <a:avLst/>
          </a:prstGeom>
          <a:solidFill>
            <a:srgbClr val="C24B4B"/>
          </a:solidFill>
          <a:ln w="12700">
            <a:solidFill>
              <a:srgbClr val="C24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70" y="4217670"/>
            <a:ext cx="5829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89570" y="582930"/>
            <a:ext cx="994410" cy="4320540"/>
          </a:xfrm>
          <a:prstGeom prst="rect">
            <a:avLst/>
          </a:prstGeom>
          <a:solidFill>
            <a:srgbClr val="EDE8F5"/>
          </a:solidFill>
          <a:ln w="12700">
            <a:solidFill>
              <a:srgbClr val="ED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89570" y="582930"/>
            <a:ext cx="41148" cy="4320540"/>
          </a:xfrm>
          <a:prstGeom prst="rect">
            <a:avLst/>
          </a:prstGeom>
          <a:solidFill>
            <a:srgbClr val="6A4FB8"/>
          </a:solidFill>
          <a:ln w="12700">
            <a:solidFill>
              <a:srgbClr val="6A4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4434" y="603504"/>
            <a:ext cx="9121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6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&amp;</a:t>
            </a:r>
            <a:endParaRPr lang="en-US" sz="713" dirty="0"/>
          </a:p>
          <a:p>
            <a:pPr algn="ctr"/>
            <a:r>
              <a:rPr lang="en-US" sz="713" b="1" dirty="0">
                <a:solidFill>
                  <a:srgbClr val="6A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Capabilities</a:t>
            </a:r>
            <a:endParaRPr lang="en-US" sz="713" dirty="0"/>
          </a:p>
        </p:txBody>
      </p:sp>
      <p:sp>
        <p:nvSpPr>
          <p:cNvPr id="22" name="Shape 20"/>
          <p:cNvSpPr/>
          <p:nvPr/>
        </p:nvSpPr>
        <p:spPr>
          <a:xfrm>
            <a:off x="891540" y="637794"/>
            <a:ext cx="150876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1540" y="65151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Sales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946404" y="774954"/>
            <a:ext cx="665226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774954"/>
            <a:ext cx="6377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Ntellipro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680210" y="774954"/>
            <a:ext cx="665226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93926" y="774954"/>
            <a:ext cx="6377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Cablefinder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537460" y="637794"/>
            <a:ext cx="102870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51176" y="637794"/>
            <a:ext cx="100126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Buy Flow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78348" y="651510"/>
            <a:ext cx="116586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3484" y="672084"/>
            <a:ext cx="11658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Gov</a:t>
            </a:r>
            <a:endParaRPr lang="en-US" sz="563" dirty="0"/>
          </a:p>
        </p:txBody>
      </p:sp>
      <p:sp>
        <p:nvSpPr>
          <p:cNvPr id="32" name="Shape 30"/>
          <p:cNvSpPr/>
          <p:nvPr/>
        </p:nvSpPr>
        <p:spPr>
          <a:xfrm>
            <a:off x="5119496" y="781812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19496" y="781812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 Dynamics</a:t>
            </a:r>
            <a:endParaRPr lang="en-US" sz="563" dirty="0"/>
          </a:p>
        </p:txBody>
      </p:sp>
      <p:sp>
        <p:nvSpPr>
          <p:cNvPr id="34" name="Shape 32"/>
          <p:cNvSpPr/>
          <p:nvPr/>
        </p:nvSpPr>
        <p:spPr>
          <a:xfrm>
            <a:off x="5119496" y="956691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33212" y="956691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563" dirty="0"/>
          </a:p>
        </p:txBody>
      </p:sp>
      <p:sp>
        <p:nvSpPr>
          <p:cNvPr id="36" name="Shape 34"/>
          <p:cNvSpPr/>
          <p:nvPr/>
        </p:nvSpPr>
        <p:spPr>
          <a:xfrm>
            <a:off x="5119496" y="1121283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33212" y="1121283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Encompass</a:t>
            </a:r>
            <a:endParaRPr lang="en-US" sz="563" dirty="0"/>
          </a:p>
        </p:txBody>
      </p:sp>
      <p:sp>
        <p:nvSpPr>
          <p:cNvPr id="38" name="Shape 36"/>
          <p:cNvSpPr/>
          <p:nvPr/>
        </p:nvSpPr>
        <p:spPr>
          <a:xfrm>
            <a:off x="5119496" y="1292733"/>
            <a:ext cx="1056132" cy="14401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67502" y="1267587"/>
            <a:ext cx="1028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Enclave Sys</a:t>
            </a:r>
            <a:endParaRPr lang="en-US" sz="563" dirty="0"/>
          </a:p>
        </p:txBody>
      </p:sp>
      <p:sp>
        <p:nvSpPr>
          <p:cNvPr id="40" name="Shape 38"/>
          <p:cNvSpPr/>
          <p:nvPr/>
        </p:nvSpPr>
        <p:spPr>
          <a:xfrm>
            <a:off x="994410" y="1097280"/>
            <a:ext cx="2811780" cy="39776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4410" y="1110996"/>
            <a:ext cx="28117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Abstraction &amp; Integration</a:t>
            </a:r>
            <a:endParaRPr lang="en-US" sz="563" dirty="0"/>
          </a:p>
        </p:txBody>
      </p:sp>
      <p:sp>
        <p:nvSpPr>
          <p:cNvPr id="42" name="Shape 40"/>
          <p:cNvSpPr/>
          <p:nvPr/>
        </p:nvSpPr>
        <p:spPr>
          <a:xfrm>
            <a:off x="1028700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42416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645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638" dirty="0"/>
          </a:p>
        </p:txBody>
      </p:sp>
      <p:sp>
        <p:nvSpPr>
          <p:cNvPr id="44" name="Shape 42"/>
          <p:cNvSpPr/>
          <p:nvPr/>
        </p:nvSpPr>
        <p:spPr>
          <a:xfrm>
            <a:off x="1723072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736788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620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638" dirty="0"/>
          </a:p>
        </p:txBody>
      </p:sp>
      <p:sp>
        <p:nvSpPr>
          <p:cNvPr id="46" name="Shape 44"/>
          <p:cNvSpPr/>
          <p:nvPr/>
        </p:nvSpPr>
        <p:spPr>
          <a:xfrm>
            <a:off x="2417445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31161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621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Mgmt</a:t>
            </a:r>
            <a:endParaRPr lang="en-US" sz="638" dirty="0"/>
          </a:p>
        </p:txBody>
      </p:sp>
      <p:sp>
        <p:nvSpPr>
          <p:cNvPr id="48" name="Shape 46"/>
          <p:cNvSpPr/>
          <p:nvPr/>
        </p:nvSpPr>
        <p:spPr>
          <a:xfrm>
            <a:off x="3111817" y="1248156"/>
            <a:ext cx="646367" cy="28803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25533" y="1248156"/>
            <a:ext cx="61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648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638" dirty="0"/>
          </a:p>
        </p:txBody>
      </p:sp>
      <p:sp>
        <p:nvSpPr>
          <p:cNvPr id="50" name="Shape 48"/>
          <p:cNvSpPr/>
          <p:nvPr/>
        </p:nvSpPr>
        <p:spPr>
          <a:xfrm>
            <a:off x="1645920" y="1014984"/>
            <a:ext cx="0" cy="822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051810" y="1014984"/>
            <a:ext cx="0" cy="822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645920" y="1666494"/>
            <a:ext cx="3886200" cy="28117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59636" y="1666494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3703320" y="1495044"/>
            <a:ext cx="0" cy="17145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8670" y="1700784"/>
            <a:ext cx="822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→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097280" y="2091690"/>
            <a:ext cx="92583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10996" y="2091690"/>
            <a:ext cx="89839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Frictionless/BB</a:t>
            </a:r>
            <a:endParaRPr lang="en-US" sz="675" dirty="0"/>
          </a:p>
        </p:txBody>
      </p:sp>
      <p:sp>
        <p:nvSpPr>
          <p:cNvPr id="58" name="Shape 56"/>
          <p:cNvSpPr/>
          <p:nvPr/>
        </p:nvSpPr>
        <p:spPr>
          <a:xfrm>
            <a:off x="2228850" y="2091690"/>
            <a:ext cx="68580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242566" y="209169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3257550" y="2091690"/>
            <a:ext cx="1714500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71266" y="2091690"/>
            <a:ext cx="16870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++</a:t>
            </a:r>
            <a:endParaRPr lang="en-US" sz="675" dirty="0"/>
          </a:p>
        </p:txBody>
      </p:sp>
      <p:sp>
        <p:nvSpPr>
          <p:cNvPr id="62" name="Shape 60"/>
          <p:cNvSpPr/>
          <p:nvPr/>
        </p:nvSpPr>
        <p:spPr>
          <a:xfrm>
            <a:off x="1788795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571750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114800" y="1940814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28700" y="1954530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i="1" dirty="0">
                <a:solidFill>
                  <a:srgbClr val="475569"/>
                </a:solidFill>
              </a:rPr>
              <a:t>Quoting</a:t>
            </a:r>
            <a:endParaRPr lang="en-US" sz="525" dirty="0"/>
          </a:p>
        </p:txBody>
      </p:sp>
      <p:sp>
        <p:nvSpPr>
          <p:cNvPr id="66" name="Text 64"/>
          <p:cNvSpPr/>
          <p:nvPr/>
        </p:nvSpPr>
        <p:spPr>
          <a:xfrm>
            <a:off x="3188970" y="1954530"/>
            <a:ext cx="6172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i="1" dirty="0">
                <a:solidFill>
                  <a:srgbClr val="475569"/>
                </a:solidFill>
              </a:rPr>
              <a:t>Quoting</a:t>
            </a:r>
            <a:endParaRPr lang="en-US" sz="525" dirty="0"/>
          </a:p>
        </p:txBody>
      </p:sp>
      <p:sp>
        <p:nvSpPr>
          <p:cNvPr id="67" name="Shape 65"/>
          <p:cNvSpPr/>
          <p:nvPr/>
        </p:nvSpPr>
        <p:spPr>
          <a:xfrm>
            <a:off x="3600450" y="2420874"/>
            <a:ext cx="1028700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14166" y="2420874"/>
            <a:ext cx="1001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622</a:t>
            </a:r>
            <a:endParaRPr lang="en-US" sz="638" dirty="0"/>
          </a:p>
          <a:p>
            <a:pPr algn="ctr"/>
            <a:r>
              <a:rPr lang="en-US" sz="525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Order</a:t>
            </a:r>
            <a:endParaRPr lang="en-US" sz="638" dirty="0"/>
          </a:p>
        </p:txBody>
      </p:sp>
      <p:sp>
        <p:nvSpPr>
          <p:cNvPr id="69" name="Shape 67"/>
          <p:cNvSpPr/>
          <p:nvPr/>
        </p:nvSpPr>
        <p:spPr>
          <a:xfrm>
            <a:off x="4114800" y="2324862"/>
            <a:ext cx="0" cy="960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257550" y="2681478"/>
            <a:ext cx="1714500" cy="17830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271266" y="2681478"/>
            <a:ext cx="16870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675" dirty="0"/>
          </a:p>
        </p:txBody>
      </p:sp>
      <p:sp>
        <p:nvSpPr>
          <p:cNvPr id="72" name="Shape 70"/>
          <p:cNvSpPr/>
          <p:nvPr/>
        </p:nvSpPr>
        <p:spPr>
          <a:xfrm>
            <a:off x="4114800" y="264033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948940" y="3010662"/>
            <a:ext cx="233172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948940" y="3017520"/>
            <a:ext cx="233172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25" b="1" dirty="0">
                <a:solidFill>
                  <a:srgbClr val="475569"/>
                </a:solidFill>
              </a:rPr>
              <a:t>Product Order Gateway</a:t>
            </a:r>
            <a:endParaRPr lang="en-US" sz="525" dirty="0"/>
          </a:p>
        </p:txBody>
      </p:sp>
      <p:sp>
        <p:nvSpPr>
          <p:cNvPr id="75" name="Shape 73"/>
          <p:cNvSpPr/>
          <p:nvPr/>
        </p:nvSpPr>
        <p:spPr>
          <a:xfrm>
            <a:off x="2983230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996946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620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638" dirty="0"/>
          </a:p>
        </p:txBody>
      </p:sp>
      <p:sp>
        <p:nvSpPr>
          <p:cNvPr id="77" name="Shape 75"/>
          <p:cNvSpPr/>
          <p:nvPr/>
        </p:nvSpPr>
        <p:spPr>
          <a:xfrm>
            <a:off x="3731895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745611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641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</a:t>
            </a:r>
            <a:endParaRPr lang="en-US" sz="638" dirty="0"/>
          </a:p>
        </p:txBody>
      </p:sp>
      <p:sp>
        <p:nvSpPr>
          <p:cNvPr id="79" name="Shape 77"/>
          <p:cNvSpPr/>
          <p:nvPr/>
        </p:nvSpPr>
        <p:spPr>
          <a:xfrm>
            <a:off x="4480560" y="3134106"/>
            <a:ext cx="71780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494276" y="3134106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</a:t>
            </a:r>
            <a:endParaRPr lang="en-US" sz="638" dirty="0"/>
          </a:p>
          <a:p>
            <a:pPr algn="ctr"/>
            <a:r>
              <a:rPr lang="en-US" sz="488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Services</a:t>
            </a:r>
            <a:endParaRPr lang="en-US" sz="638" dirty="0"/>
          </a:p>
        </p:txBody>
      </p:sp>
      <p:sp>
        <p:nvSpPr>
          <p:cNvPr id="81" name="Shape 79"/>
          <p:cNvSpPr/>
          <p:nvPr/>
        </p:nvSpPr>
        <p:spPr>
          <a:xfrm>
            <a:off x="4114800" y="2859786"/>
            <a:ext cx="0" cy="1508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5725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7096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259025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272741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66080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67451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5062576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076292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464350" y="3435858"/>
            <a:ext cx="131948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478066" y="3435858"/>
            <a:ext cx="12920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future</a:t>
            </a:r>
            <a:endParaRPr lang="en-US" sz="600" dirty="0"/>
          </a:p>
          <a:p>
            <a:pPr algn="ctr"/>
            <a:r>
              <a:rPr lang="en-US" sz="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system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4114800" y="3353562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516990" y="3394710"/>
            <a:ext cx="5607101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51699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918765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32054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722316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124090" y="3394710"/>
            <a:ext cx="0" cy="411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560195" y="2324862"/>
            <a:ext cx="0" cy="10424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H="1">
            <a:off x="1516990" y="3367278"/>
            <a:ext cx="4320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516990" y="3367278"/>
            <a:ext cx="0" cy="685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571750" y="2324862"/>
            <a:ext cx="0" cy="10424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571750" y="3367278"/>
            <a:ext cx="34701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918765" y="3367278"/>
            <a:ext cx="0" cy="685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131570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145286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</a:t>
            </a:r>
            <a:endParaRPr lang="en-US" sz="638" dirty="0"/>
          </a:p>
        </p:txBody>
      </p:sp>
      <p:sp>
        <p:nvSpPr>
          <p:cNvPr id="107" name="Shape 105"/>
          <p:cNvSpPr/>
          <p:nvPr/>
        </p:nvSpPr>
        <p:spPr>
          <a:xfrm>
            <a:off x="2791206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2804922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Amdocs Biller</a:t>
            </a:r>
            <a:endParaRPr lang="en-US" sz="638" dirty="0"/>
          </a:p>
        </p:txBody>
      </p:sp>
      <p:sp>
        <p:nvSpPr>
          <p:cNvPr id="109" name="Shape 107"/>
          <p:cNvSpPr/>
          <p:nvPr/>
        </p:nvSpPr>
        <p:spPr>
          <a:xfrm>
            <a:off x="4450842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464558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</a:t>
            </a:r>
            <a:endParaRPr lang="en-US" sz="638" dirty="0"/>
          </a:p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(International)</a:t>
            </a:r>
            <a:endParaRPr lang="en-US" sz="638" dirty="0"/>
          </a:p>
        </p:txBody>
      </p:sp>
      <p:sp>
        <p:nvSpPr>
          <p:cNvPr id="111" name="Shape 109"/>
          <p:cNvSpPr/>
          <p:nvPr/>
        </p:nvSpPr>
        <p:spPr>
          <a:xfrm>
            <a:off x="6110478" y="3874770"/>
            <a:ext cx="15361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124194" y="38747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Singleview</a:t>
            </a:r>
            <a:endParaRPr lang="en-US" sz="638" dirty="0"/>
          </a:p>
        </p:txBody>
      </p:sp>
      <p:sp>
        <p:nvSpPr>
          <p:cNvPr id="113" name="Shape 111"/>
          <p:cNvSpPr/>
          <p:nvPr/>
        </p:nvSpPr>
        <p:spPr>
          <a:xfrm>
            <a:off x="1516990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516990" y="3799332"/>
            <a:ext cx="38267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899666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1516990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899666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918765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2918764" y="3799332"/>
            <a:ext cx="64053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559302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 flipV="1">
            <a:off x="2918765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559302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320540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320540" y="3799332"/>
            <a:ext cx="89839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218938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 flipV="1">
            <a:off x="4320540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218938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722316" y="3723894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722315" y="3799332"/>
            <a:ext cx="1156259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878574" y="3799332"/>
            <a:ext cx="0" cy="7543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5722316" y="3723894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878574" y="381990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086100" y="4272534"/>
            <a:ext cx="246888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3086100" y="427939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63" b="1" dirty="0">
                <a:solidFill>
                  <a:srgbClr val="475569"/>
                </a:solidFill>
              </a:rPr>
              <a:t>Assurance Integration</a:t>
            </a:r>
            <a:endParaRPr lang="en-US" sz="563" dirty="0"/>
          </a:p>
        </p:txBody>
      </p:sp>
      <p:sp>
        <p:nvSpPr>
          <p:cNvPr id="135" name="Shape 133"/>
          <p:cNvSpPr/>
          <p:nvPr/>
        </p:nvSpPr>
        <p:spPr>
          <a:xfrm>
            <a:off x="3120390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134106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641</a:t>
            </a:r>
            <a:endParaRPr lang="en-US" sz="600" dirty="0"/>
          </a:p>
          <a:p>
            <a:pPr algn="ctr"/>
            <a:r>
              <a:rPr lang="en-US" sz="488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Service Order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3914775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928491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621</a:t>
            </a:r>
            <a:endParaRPr lang="en-US" sz="600" dirty="0"/>
          </a:p>
          <a:p>
            <a:pPr algn="ctr"/>
            <a:r>
              <a:rPr lang="en-US" sz="488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4709160" y="4395978"/>
            <a:ext cx="763524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722876" y="4395978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D360 APIs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85725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87096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Celestial</a:t>
            </a:r>
            <a:endParaRPr lang="en-US" sz="638" dirty="0"/>
          </a:p>
        </p:txBody>
      </p:sp>
      <p:sp>
        <p:nvSpPr>
          <p:cNvPr id="143" name="Shape 141"/>
          <p:cNvSpPr/>
          <p:nvPr/>
        </p:nvSpPr>
        <p:spPr>
          <a:xfrm>
            <a:off x="226314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227685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</a:t>
            </a:r>
            <a:endParaRPr lang="en-US" sz="638" dirty="0"/>
          </a:p>
        </p:txBody>
      </p:sp>
      <p:sp>
        <p:nvSpPr>
          <p:cNvPr id="145" name="Shape 143"/>
          <p:cNvSpPr/>
          <p:nvPr/>
        </p:nvSpPr>
        <p:spPr>
          <a:xfrm>
            <a:off x="366903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368274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</a:t>
            </a:r>
            <a:endParaRPr lang="en-US" sz="638" dirty="0"/>
          </a:p>
        </p:txBody>
      </p:sp>
      <p:sp>
        <p:nvSpPr>
          <p:cNvPr id="147" name="Shape 145"/>
          <p:cNvSpPr/>
          <p:nvPr/>
        </p:nvSpPr>
        <p:spPr>
          <a:xfrm>
            <a:off x="507492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508863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638" dirty="0"/>
          </a:p>
        </p:txBody>
      </p:sp>
      <p:sp>
        <p:nvSpPr>
          <p:cNvPr id="149" name="Shape 147"/>
          <p:cNvSpPr/>
          <p:nvPr/>
        </p:nvSpPr>
        <p:spPr>
          <a:xfrm>
            <a:off x="6480810" y="4752594"/>
            <a:ext cx="1303020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6494526" y="4752594"/>
            <a:ext cx="12755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638" dirty="0"/>
          </a:p>
        </p:txBody>
      </p:sp>
      <p:sp>
        <p:nvSpPr>
          <p:cNvPr id="151" name="Shape 149"/>
          <p:cNvSpPr/>
          <p:nvPr/>
        </p:nvSpPr>
        <p:spPr>
          <a:xfrm>
            <a:off x="4320540" y="4649724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508760" y="4701159"/>
            <a:ext cx="5623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150876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291465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32054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72643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132320" y="4701159"/>
            <a:ext cx="0" cy="5143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058150" y="610362"/>
            <a:ext cx="857250" cy="93954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8058150" y="6240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Site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8099298" y="761238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8113014" y="761238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ELOC/Insite</a:t>
            </a:r>
            <a:endParaRPr lang="en-US" sz="525" dirty="0"/>
          </a:p>
        </p:txBody>
      </p:sp>
      <p:sp>
        <p:nvSpPr>
          <p:cNvPr id="162" name="Shape 160"/>
          <p:cNvSpPr/>
          <p:nvPr/>
        </p:nvSpPr>
        <p:spPr>
          <a:xfrm>
            <a:off x="8099298" y="954976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8113014" y="954976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</a:t>
            </a:r>
            <a:endParaRPr lang="en-US" sz="525" dirty="0"/>
          </a:p>
        </p:txBody>
      </p:sp>
      <p:sp>
        <p:nvSpPr>
          <p:cNvPr id="164" name="Shape 162"/>
          <p:cNvSpPr/>
          <p:nvPr/>
        </p:nvSpPr>
        <p:spPr>
          <a:xfrm>
            <a:off x="8099298" y="1148715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8113014" y="1148715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Survey</a:t>
            </a:r>
            <a:endParaRPr lang="en-US" sz="525" dirty="0"/>
          </a:p>
        </p:txBody>
      </p:sp>
      <p:sp>
        <p:nvSpPr>
          <p:cNvPr id="166" name="Shape 164"/>
          <p:cNvSpPr/>
          <p:nvPr/>
        </p:nvSpPr>
        <p:spPr>
          <a:xfrm>
            <a:off x="8099298" y="1342453"/>
            <a:ext cx="774954" cy="1731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8113014" y="1342453"/>
            <a:ext cx="747522" cy="17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25" dirty="0"/>
          </a:p>
        </p:txBody>
      </p:sp>
      <p:sp>
        <p:nvSpPr>
          <p:cNvPr id="168" name="Shape 166"/>
          <p:cNvSpPr/>
          <p:nvPr/>
        </p:nvSpPr>
        <p:spPr>
          <a:xfrm>
            <a:off x="8058150" y="1639062"/>
            <a:ext cx="857250" cy="128244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8058150" y="16527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Product Catalog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8099298" y="1789938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8113014" y="1789938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C1/D1</a:t>
            </a:r>
            <a:endParaRPr lang="en-US" sz="525" dirty="0"/>
          </a:p>
        </p:txBody>
      </p:sp>
      <p:sp>
        <p:nvSpPr>
          <p:cNvPr id="172" name="Shape 170"/>
          <p:cNvSpPr/>
          <p:nvPr/>
        </p:nvSpPr>
        <p:spPr>
          <a:xfrm>
            <a:off x="8099298" y="2162556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8113014" y="2162556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360</a:t>
            </a:r>
            <a:endParaRPr lang="en-US" sz="525" dirty="0"/>
          </a:p>
        </p:txBody>
      </p:sp>
      <p:sp>
        <p:nvSpPr>
          <p:cNvPr id="174" name="Shape 172"/>
          <p:cNvSpPr/>
          <p:nvPr/>
        </p:nvSpPr>
        <p:spPr>
          <a:xfrm>
            <a:off x="8099298" y="2535174"/>
            <a:ext cx="774954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8113014" y="2535174"/>
            <a:ext cx="74752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Catalog</a:t>
            </a:r>
            <a:endParaRPr lang="en-US" sz="525" dirty="0"/>
          </a:p>
        </p:txBody>
      </p:sp>
      <p:sp>
        <p:nvSpPr>
          <p:cNvPr id="176" name="Shape 174"/>
          <p:cNvSpPr/>
          <p:nvPr/>
        </p:nvSpPr>
        <p:spPr>
          <a:xfrm>
            <a:off x="8058150" y="3010662"/>
            <a:ext cx="857250" cy="66522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8058150" y="302437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Fulfillment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8099298" y="3161538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8113014" y="3161538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Survey</a:t>
            </a:r>
            <a:endParaRPr lang="en-US" sz="525" dirty="0"/>
          </a:p>
        </p:txBody>
      </p:sp>
      <p:sp>
        <p:nvSpPr>
          <p:cNvPr id="180" name="Shape 178"/>
          <p:cNvSpPr/>
          <p:nvPr/>
        </p:nvSpPr>
        <p:spPr>
          <a:xfrm>
            <a:off x="8099298" y="3244977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8113014" y="3244977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</a:t>
            </a:r>
            <a:endParaRPr lang="en-US" sz="525" dirty="0"/>
          </a:p>
        </p:txBody>
      </p:sp>
      <p:sp>
        <p:nvSpPr>
          <p:cNvPr id="182" name="Shape 180"/>
          <p:cNvSpPr/>
          <p:nvPr/>
        </p:nvSpPr>
        <p:spPr>
          <a:xfrm>
            <a:off x="8099298" y="3328416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8113014" y="3328416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DCP/TTUA/Zeus</a:t>
            </a:r>
            <a:endParaRPr lang="en-US" sz="525" dirty="0"/>
          </a:p>
        </p:txBody>
      </p:sp>
      <p:sp>
        <p:nvSpPr>
          <p:cNvPr id="184" name="Shape 182"/>
          <p:cNvSpPr/>
          <p:nvPr/>
        </p:nvSpPr>
        <p:spPr>
          <a:xfrm>
            <a:off x="8099298" y="3411855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8113014" y="3411855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OfficeTrack</a:t>
            </a:r>
            <a:endParaRPr lang="en-US" sz="525" dirty="0"/>
          </a:p>
        </p:txBody>
      </p:sp>
      <p:sp>
        <p:nvSpPr>
          <p:cNvPr id="186" name="Shape 184"/>
          <p:cNvSpPr/>
          <p:nvPr/>
        </p:nvSpPr>
        <p:spPr>
          <a:xfrm>
            <a:off x="8099298" y="3495294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8113014" y="3495294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WFX</a:t>
            </a:r>
            <a:endParaRPr lang="en-US" sz="525" dirty="0"/>
          </a:p>
        </p:txBody>
      </p:sp>
      <p:sp>
        <p:nvSpPr>
          <p:cNvPr id="188" name="Shape 186"/>
          <p:cNvSpPr/>
          <p:nvPr/>
        </p:nvSpPr>
        <p:spPr>
          <a:xfrm>
            <a:off x="8099298" y="3578733"/>
            <a:ext cx="774954" cy="62865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/>
          <p:nvPr/>
        </p:nvSpPr>
        <p:spPr>
          <a:xfrm>
            <a:off x="8113014" y="3578733"/>
            <a:ext cx="747522" cy="6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..N tools</a:t>
            </a:r>
            <a:endParaRPr lang="en-US" sz="525" dirty="0"/>
          </a:p>
        </p:txBody>
      </p:sp>
      <p:sp>
        <p:nvSpPr>
          <p:cNvPr id="190" name="Shape 188"/>
          <p:cNvSpPr/>
          <p:nvPr/>
        </p:nvSpPr>
        <p:spPr>
          <a:xfrm>
            <a:off x="8058150" y="3765042"/>
            <a:ext cx="85725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8058150" y="3778758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 b="1" dirty="0">
                <a:solidFill>
                  <a:srgbClr val="475569"/>
                </a:solidFill>
              </a:rPr>
              <a:t>Billing &amp; Assurance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8099298" y="3915918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8113014" y="3915918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525" dirty="0"/>
          </a:p>
        </p:txBody>
      </p:sp>
      <p:sp>
        <p:nvSpPr>
          <p:cNvPr id="194" name="Shape 192"/>
          <p:cNvSpPr/>
          <p:nvPr/>
        </p:nvSpPr>
        <p:spPr>
          <a:xfrm>
            <a:off x="8099298" y="4231386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/>
          <p:cNvSpPr/>
          <p:nvPr/>
        </p:nvSpPr>
        <p:spPr>
          <a:xfrm>
            <a:off x="8113014" y="4231386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525" dirty="0"/>
          </a:p>
        </p:txBody>
      </p:sp>
      <p:sp>
        <p:nvSpPr>
          <p:cNvPr id="196" name="Shape 194"/>
          <p:cNvSpPr/>
          <p:nvPr/>
        </p:nvSpPr>
        <p:spPr>
          <a:xfrm>
            <a:off x="8099298" y="4546854"/>
            <a:ext cx="774954" cy="294894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195"/>
          <p:cNvSpPr/>
          <p:nvPr/>
        </p:nvSpPr>
        <p:spPr>
          <a:xfrm>
            <a:off x="8113014" y="4546854"/>
            <a:ext cx="747522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Assurance Monitoring (SAM)</a:t>
            </a:r>
            <a:endParaRPr lang="en-US" sz="525" dirty="0"/>
          </a:p>
        </p:txBody>
      </p:sp>
      <p:sp>
        <p:nvSpPr>
          <p:cNvPr id="198" name="Shape 196"/>
          <p:cNvSpPr/>
          <p:nvPr/>
        </p:nvSpPr>
        <p:spPr>
          <a:xfrm>
            <a:off x="7818120" y="108013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818120" y="228028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818120" y="334327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818120" y="3960495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7818120" y="4560570"/>
            <a:ext cx="18516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204" name="Curved Connector 203">
            <a:extLst>
              <a:ext uri="{FF2B5EF4-FFF2-40B4-BE49-F238E27FC236}">
                <a16:creationId xmlns:a16="http://schemas.microsoft.com/office/drawing/2014/main" id="{76558A0A-04D6-5A2C-9499-F71B3F0F6185}"/>
              </a:ext>
            </a:extLst>
          </p:cNvPr>
          <p:cNvCxnSpPr>
            <a:cxnSpLocks/>
          </p:cNvCxnSpPr>
          <p:nvPr/>
        </p:nvCxnSpPr>
        <p:spPr>
          <a:xfrm rot="5400000">
            <a:off x="4652296" y="1990250"/>
            <a:ext cx="1481328" cy="559500"/>
          </a:xfrm>
          <a:prstGeom prst="bentConnector3">
            <a:avLst/>
          </a:prstGeom>
          <a:noFill/>
          <a:ln w="9525">
            <a:solidFill>
              <a:srgbClr val="334155"/>
            </a:solidFill>
            <a:prstDash val="dash"/>
            <a:tailEnd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  (1/2)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585675"/>
              </p:ext>
            </p:extLst>
          </p:nvPr>
        </p:nvGraphicFramePr>
        <p:xfrm>
          <a:off x="274320" y="914400"/>
          <a:ext cx="7251192" cy="3721609"/>
        </p:xfrm>
        <a:graphic>
          <a:graphicData uri="http://schemas.openxmlformats.org/drawingml/2006/table">
            <a:tbl>
              <a:tblPr/>
              <a:tblGrid>
                <a:gridCol w="126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4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Amdocs (Mid Market/Standard stack)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improvements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Get a roadmap from Amdocs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SOW++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CPQ and SOW support to replace the current SOW and Configurators. New catalog to support standard and non-standard requirements, includes authoring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design and dev in 2026. Decision on options — build vs. buy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Galaxy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all standard products to support new custom and large site orders.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build in Galaxy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9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Impacts for new products/services and new flow from SOW++. Ethernet and Fed Gov products via POG.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POG roadmap for product builds.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product support for standard products not currently in Singleview and only in Orion.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delta of standard products in Orion vs Singleview</a:t>
                      </a: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Next Gen Biller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Biller evolution.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with Netcracker and CSG to evaluate next gen options for Custom Enterprise (and maybe standard) biller.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867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to Current State  (2/2)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119979"/>
              </p:ext>
            </p:extLst>
          </p:nvPr>
        </p:nvGraphicFramePr>
        <p:xfrm>
          <a:off x="274320" y="914400"/>
          <a:ext cx="8595360" cy="3429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/ TMF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TMF APIs handled by S3 and Compass. Determine if other TMF APIs needed for Assurance, Ticketing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S3/Compass in CBG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architecture on TMF and other APIs in fulfillment, assurance, and 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 impacted by Custom implementation in SOW++ → Singleview. Assess roadmap for D360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Convergence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with Digital stakeholders to determine impacts to platform and program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CBG/Nitel Migration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 migration strategy.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with business on migration strategy for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service locations and currency support in the custom stack, SOW++ through 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with Netcracker and CSG to evaluate better options for International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Up 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CBM TMo/Genesis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patterns to support upmarket – 100s of lines and 100s sites.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functionality above the line in Enclave. Updates below the line to integrate via POG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Gov / S3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Enclave integration with POG 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Dual-Stack 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stacks will coexist; plan for parallel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SOW++ and Custom Catalog Is the Pivot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84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CPQ and SOW replacement is the key — accelerate design and development in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78024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478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and location support built in custom stack; Netcracker biller evaluation needs to happen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99816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Galaxy stack – Product build 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28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standard products in the Galaxy stack (and POG)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21608"/>
            <a:ext cx="3200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Growth Path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50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Identify OSS/BSS stack options for CBM upmarket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1588</Words>
  <Application>Microsoft Macintosh PowerPoint</Application>
  <PresentationFormat>On-screen Show (16:9)</PresentationFormat>
  <Paragraphs>457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Source Sans 3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vs. Custom BSS/OSS Pattern</dc:title>
  <dc:subject>PptxGenJS Presentation</dc:subject>
  <dc:creator>Sudhaman Chandrasekaran</dc:creator>
  <cp:lastModifiedBy>Chandrasekaran, Sudhaman</cp:lastModifiedBy>
  <cp:revision>24</cp:revision>
  <dcterms:created xsi:type="dcterms:W3CDTF">2026-04-20T21:44:04Z</dcterms:created>
  <dcterms:modified xsi:type="dcterms:W3CDTF">2026-04-21T15:59:40Z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2026-04-20T21:45:56Z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ba13f17e-9d43-4ef0-979a-874e8dbf0cbd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50, 0, 1, 1</vt:lpwstr>
  </property>
</Properties>
</file>