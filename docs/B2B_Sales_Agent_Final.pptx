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20"/>
  </p:notesMasterIdLst>
  <p:sldIdLst>
    <p:sldId id="256" r:id="rId3"/>
    <p:sldId id="257" r:id="rId4"/>
    <p:sldId id="258" r:id="rId5"/>
    <p:sldId id="259" r:id="rId6"/>
    <p:sldId id="260" r:id="rId7"/>
    <p:sldId id="278" r:id="rId8"/>
    <p:sldId id="284" r:id="rId9"/>
    <p:sldId id="262" r:id="rId10"/>
    <p:sldId id="261" r:id="rId11"/>
    <p:sldId id="282" r:id="rId12"/>
    <p:sldId id="281" r:id="rId13"/>
    <p:sldId id="265" r:id="rId14"/>
    <p:sldId id="264" r:id="rId15"/>
    <p:sldId id="266" r:id="rId16"/>
    <p:sldId id="277" r:id="rId17"/>
    <p:sldId id="279" r:id="rId18"/>
    <p:sldId id="270"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4A3B8"/>
    <a:srgbClr val="0D1B3E"/>
    <a:srgbClr val="F0F6FA"/>
    <a:srgbClr val="6E798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05861E-97A5-4FCE-9613-933580FDF88D}" v="10" dt="2026-05-23T22:58:12.1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5/10/relationships/revisionInfo" Target="revisionInfo.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n, Arun" userId="3cf97d7c-9072-4788-8fc7-36a73324abe6" providerId="ADAL" clId="{52652E29-AB0D-4F64-B689-2D843D2D16B6}"/>
    <pc:docChg chg="undo custSel modSld">
      <pc:chgData name="Mohan, Arun" userId="3cf97d7c-9072-4788-8fc7-36a73324abe6" providerId="ADAL" clId="{52652E29-AB0D-4F64-B689-2D843D2D16B6}" dt="2026-05-23T22:58:12.177" v="11" actId="478"/>
      <pc:docMkLst>
        <pc:docMk/>
      </pc:docMkLst>
      <pc:sldChg chg="addSp delSp modSp mod">
        <pc:chgData name="Mohan, Arun" userId="3cf97d7c-9072-4788-8fc7-36a73324abe6" providerId="ADAL" clId="{52652E29-AB0D-4F64-B689-2D843D2D16B6}" dt="2026-05-23T22:57:35.562" v="7" actId="14100"/>
        <pc:sldMkLst>
          <pc:docMk/>
          <pc:sldMk cId="0" sldId="256"/>
        </pc:sldMkLst>
        <pc:spChg chg="add del">
          <ac:chgData name="Mohan, Arun" userId="3cf97d7c-9072-4788-8fc7-36a73324abe6" providerId="ADAL" clId="{52652E29-AB0D-4F64-B689-2D843D2D16B6}" dt="2026-05-23T22:53:59.215" v="1" actId="22"/>
          <ac:spMkLst>
            <pc:docMk/>
            <pc:sldMk cId="0" sldId="256"/>
            <ac:spMk id="22" creationId="{C6A83B43-83A5-3F0E-64A6-D9B3D44B2A04}"/>
          </ac:spMkLst>
        </pc:spChg>
        <pc:picChg chg="add mod">
          <ac:chgData name="Mohan, Arun" userId="3cf97d7c-9072-4788-8fc7-36a73324abe6" providerId="ADAL" clId="{52652E29-AB0D-4F64-B689-2D843D2D16B6}" dt="2026-05-23T22:57:35.562" v="7" actId="14100"/>
          <ac:picMkLst>
            <pc:docMk/>
            <pc:sldMk cId="0" sldId="256"/>
            <ac:picMk id="1026" creationId="{F1BE82D6-F6AC-1DFF-EC36-23EE5C75B2E7}"/>
          </ac:picMkLst>
        </pc:picChg>
      </pc:sldChg>
      <pc:sldChg chg="addSp delSp modSp">
        <pc:chgData name="Mohan, Arun" userId="3cf97d7c-9072-4788-8fc7-36a73324abe6" providerId="ADAL" clId="{52652E29-AB0D-4F64-B689-2D843D2D16B6}" dt="2026-05-23T22:58:12.177" v="11" actId="478"/>
        <pc:sldMkLst>
          <pc:docMk/>
          <pc:sldMk cId="0" sldId="257"/>
        </pc:sldMkLst>
        <pc:picChg chg="add del mod">
          <ac:chgData name="Mohan, Arun" userId="3cf97d7c-9072-4788-8fc7-36a73324abe6" providerId="ADAL" clId="{52652E29-AB0D-4F64-B689-2D843D2D16B6}" dt="2026-05-23T22:58:12.177" v="11" actId="478"/>
          <ac:picMkLst>
            <pc:docMk/>
            <pc:sldMk cId="0" sldId="257"/>
            <ac:picMk id="35" creationId="{8E849CFE-B048-801F-DCE7-2C5A4E87FEE8}"/>
          </ac:picMkLst>
        </pc:picChg>
      </pc:sldChg>
    </pc:docChg>
  </pc:docChgLst>
  <pc:docChgLst>
    <pc:chgData name="Clever, Aubin" userId="13ca3d7b-db6b-4256-944a-b4e7cf688f90" providerId="ADAL" clId="{EB37EC22-7094-40D1-995C-570CBAC1C1EB}"/>
    <pc:docChg chg="undo custSel addSld delSld modSld sldOrd">
      <pc:chgData name="Clever, Aubin" userId="13ca3d7b-db6b-4256-944a-b4e7cf688f90" providerId="ADAL" clId="{EB37EC22-7094-40D1-995C-570CBAC1C1EB}" dt="2026-05-18T16:15:51.194" v="996" actId="108"/>
      <pc:docMkLst>
        <pc:docMk/>
      </pc:docMkLst>
      <pc:sldChg chg="addSp modSp mod">
        <pc:chgData name="Clever, Aubin" userId="13ca3d7b-db6b-4256-944a-b4e7cf688f90" providerId="ADAL" clId="{EB37EC22-7094-40D1-995C-570CBAC1C1EB}" dt="2026-05-18T12:59:39.493" v="14"/>
        <pc:sldMkLst>
          <pc:docMk/>
          <pc:sldMk cId="0" sldId="256"/>
        </pc:sldMkLst>
        <pc:spChg chg="mod">
          <ac:chgData name="Clever, Aubin" userId="13ca3d7b-db6b-4256-944a-b4e7cf688f90" providerId="ADAL" clId="{EB37EC22-7094-40D1-995C-570CBAC1C1EB}" dt="2026-05-18T12:59:39.493" v="14"/>
          <ac:spMkLst>
            <pc:docMk/>
            <pc:sldMk cId="0" sldId="256"/>
            <ac:spMk id="9" creationId="{00000000-0000-0000-0000-000000000000}"/>
          </ac:spMkLst>
        </pc:spChg>
        <pc:spChg chg="add mod">
          <ac:chgData name="Clever, Aubin" userId="13ca3d7b-db6b-4256-944a-b4e7cf688f90" providerId="ADAL" clId="{EB37EC22-7094-40D1-995C-570CBAC1C1EB}" dt="2026-05-18T12:58:59.256" v="4" actId="1076"/>
          <ac:spMkLst>
            <pc:docMk/>
            <pc:sldMk cId="0" sldId="256"/>
            <ac:spMk id="24" creationId="{6E3DE909-E912-ED5C-817B-8C1C378E4D22}"/>
          </ac:spMkLst>
        </pc:spChg>
        <pc:picChg chg="add mod">
          <ac:chgData name="Clever, Aubin" userId="13ca3d7b-db6b-4256-944a-b4e7cf688f90" providerId="ADAL" clId="{EB37EC22-7094-40D1-995C-570CBAC1C1EB}" dt="2026-05-18T12:58:59.256" v="4" actId="1076"/>
          <ac:picMkLst>
            <pc:docMk/>
            <pc:sldMk cId="0" sldId="256"/>
            <ac:picMk id="23" creationId="{BF1EC147-BC7D-A749-9D27-9F2224F11F71}"/>
          </ac:picMkLst>
        </pc:picChg>
      </pc:sldChg>
      <pc:sldChg chg="addSp modSp mod">
        <pc:chgData name="Clever, Aubin" userId="13ca3d7b-db6b-4256-944a-b4e7cf688f90" providerId="ADAL" clId="{EB37EC22-7094-40D1-995C-570CBAC1C1EB}" dt="2026-05-18T16:15:24.482" v="995" actId="1036"/>
        <pc:sldMkLst>
          <pc:docMk/>
          <pc:sldMk cId="0" sldId="257"/>
        </pc:sldMkLst>
        <pc:spChg chg="mod">
          <ac:chgData name="Clever, Aubin" userId="13ca3d7b-db6b-4256-944a-b4e7cf688f90" providerId="ADAL" clId="{EB37EC22-7094-40D1-995C-570CBAC1C1EB}" dt="2026-05-18T16:15:05.113" v="960" actId="20577"/>
          <ac:spMkLst>
            <pc:docMk/>
            <pc:sldMk cId="0" sldId="257"/>
            <ac:spMk id="33" creationId="{00000000-0000-0000-0000-000000000000}"/>
          </ac:spMkLst>
        </pc:spChg>
        <pc:spChg chg="add mod">
          <ac:chgData name="Clever, Aubin" userId="13ca3d7b-db6b-4256-944a-b4e7cf688f90" providerId="ADAL" clId="{EB37EC22-7094-40D1-995C-570CBAC1C1EB}" dt="2026-05-18T16:15:24.482" v="995" actId="1036"/>
          <ac:spMkLst>
            <pc:docMk/>
            <pc:sldMk cId="0" sldId="257"/>
            <ac:spMk id="34" creationId="{809BBFCC-D392-4A11-61D8-B30CF5828F80}"/>
          </ac:spMkLst>
        </pc:spChg>
      </pc:sldChg>
      <pc:sldChg chg="addSp delSp modSp mod ord setBg">
        <pc:chgData name="Clever, Aubin" userId="13ca3d7b-db6b-4256-944a-b4e7cf688f90" providerId="ADAL" clId="{EB37EC22-7094-40D1-995C-570CBAC1C1EB}" dt="2026-05-18T15:28:45.075" v="852" actId="1076"/>
        <pc:sldMkLst>
          <pc:docMk/>
          <pc:sldMk cId="0" sldId="262"/>
        </pc:sldMkLst>
        <pc:spChg chg="mod">
          <ac:chgData name="Clever, Aubin" userId="13ca3d7b-db6b-4256-944a-b4e7cf688f90" providerId="ADAL" clId="{EB37EC22-7094-40D1-995C-570CBAC1C1EB}" dt="2026-05-18T15:19:47.499" v="840" actId="20577"/>
          <ac:spMkLst>
            <pc:docMk/>
            <pc:sldMk cId="0" sldId="262"/>
            <ac:spMk id="3" creationId="{00000000-0000-0000-0000-000000000000}"/>
          </ac:spMkLst>
        </pc:spChg>
        <pc:spChg chg="mod">
          <ac:chgData name="Clever, Aubin" userId="13ca3d7b-db6b-4256-944a-b4e7cf688f90" providerId="ADAL" clId="{EB37EC22-7094-40D1-995C-570CBAC1C1EB}" dt="2026-05-18T14:59:55.685" v="763" actId="6549"/>
          <ac:spMkLst>
            <pc:docMk/>
            <pc:sldMk cId="0" sldId="262"/>
            <ac:spMk id="7" creationId="{00000000-0000-0000-0000-000000000000}"/>
          </ac:spMkLst>
        </pc:spChg>
        <pc:picChg chg="add mod">
          <ac:chgData name="Clever, Aubin" userId="13ca3d7b-db6b-4256-944a-b4e7cf688f90" providerId="ADAL" clId="{EB37EC22-7094-40D1-995C-570CBAC1C1EB}" dt="2026-05-18T15:28:45.075" v="852" actId="1076"/>
          <ac:picMkLst>
            <pc:docMk/>
            <pc:sldMk cId="0" sldId="262"/>
            <ac:picMk id="23" creationId="{9C1C86CD-2ECA-DAE5-E4FA-8AA271FF23F2}"/>
          </ac:picMkLst>
        </pc:picChg>
      </pc:sldChg>
      <pc:sldChg chg="modSp mod setBg">
        <pc:chgData name="Clever, Aubin" userId="13ca3d7b-db6b-4256-944a-b4e7cf688f90" providerId="ADAL" clId="{EB37EC22-7094-40D1-995C-570CBAC1C1EB}" dt="2026-05-18T13:06:34.383" v="130"/>
        <pc:sldMkLst>
          <pc:docMk/>
          <pc:sldMk cId="0" sldId="265"/>
        </pc:sldMkLst>
        <pc:spChg chg="mod">
          <ac:chgData name="Clever, Aubin" userId="13ca3d7b-db6b-4256-944a-b4e7cf688f90" providerId="ADAL" clId="{EB37EC22-7094-40D1-995C-570CBAC1C1EB}" dt="2026-05-18T13:05:53.886" v="128" actId="207"/>
          <ac:spMkLst>
            <pc:docMk/>
            <pc:sldMk cId="0" sldId="265"/>
            <ac:spMk id="5" creationId="{00000000-0000-0000-0000-000000000000}"/>
          </ac:spMkLst>
        </pc:spChg>
      </pc:sldChg>
      <pc:sldChg chg="modSp add mod setBg">
        <pc:chgData name="Clever, Aubin" userId="13ca3d7b-db6b-4256-944a-b4e7cf688f90" providerId="ADAL" clId="{EB37EC22-7094-40D1-995C-570CBAC1C1EB}" dt="2026-05-18T13:43:24.963" v="384" actId="1076"/>
        <pc:sldMkLst>
          <pc:docMk/>
          <pc:sldMk cId="0" sldId="270"/>
        </pc:sldMkLst>
        <pc:spChg chg="mod">
          <ac:chgData name="Clever, Aubin" userId="13ca3d7b-db6b-4256-944a-b4e7cf688f90" providerId="ADAL" clId="{EB37EC22-7094-40D1-995C-570CBAC1C1EB}" dt="2026-05-18T13:37:29.743" v="374" actId="14100"/>
          <ac:spMkLst>
            <pc:docMk/>
            <pc:sldMk cId="0" sldId="270"/>
            <ac:spMk id="6" creationId="{00000000-0000-0000-0000-000000000000}"/>
          </ac:spMkLst>
        </pc:spChg>
        <pc:spChg chg="mod">
          <ac:chgData name="Clever, Aubin" userId="13ca3d7b-db6b-4256-944a-b4e7cf688f90" providerId="ADAL" clId="{EB37EC22-7094-40D1-995C-570CBAC1C1EB}" dt="2026-05-18T13:37:19.073" v="373" actId="14100"/>
          <ac:spMkLst>
            <pc:docMk/>
            <pc:sldMk cId="0" sldId="270"/>
            <ac:spMk id="17" creationId="{00000000-0000-0000-0000-000000000000}"/>
          </ac:spMkLst>
        </pc:spChg>
        <pc:spChg chg="mod">
          <ac:chgData name="Clever, Aubin" userId="13ca3d7b-db6b-4256-944a-b4e7cf688f90" providerId="ADAL" clId="{EB37EC22-7094-40D1-995C-570CBAC1C1EB}" dt="2026-05-18T13:42:57.794" v="377" actId="1076"/>
          <ac:spMkLst>
            <pc:docMk/>
            <pc:sldMk cId="0" sldId="270"/>
            <ac:spMk id="26" creationId="{00000000-0000-0000-0000-000000000000}"/>
          </ac:spMkLst>
        </pc:spChg>
        <pc:spChg chg="mod">
          <ac:chgData name="Clever, Aubin" userId="13ca3d7b-db6b-4256-944a-b4e7cf688f90" providerId="ADAL" clId="{EB37EC22-7094-40D1-995C-570CBAC1C1EB}" dt="2026-05-18T13:43:21.898" v="383" actId="1076"/>
          <ac:spMkLst>
            <pc:docMk/>
            <pc:sldMk cId="0" sldId="270"/>
            <ac:spMk id="33" creationId="{00000000-0000-0000-0000-000000000000}"/>
          </ac:spMkLst>
        </pc:spChg>
        <pc:spChg chg="mod">
          <ac:chgData name="Clever, Aubin" userId="13ca3d7b-db6b-4256-944a-b4e7cf688f90" providerId="ADAL" clId="{EB37EC22-7094-40D1-995C-570CBAC1C1EB}" dt="2026-05-18T13:43:24.963" v="384" actId="1076"/>
          <ac:spMkLst>
            <pc:docMk/>
            <pc:sldMk cId="0" sldId="270"/>
            <ac:spMk id="34" creationId="{00000000-0000-0000-0000-000000000000}"/>
          </ac:spMkLst>
        </pc:spChg>
      </pc:sldChg>
      <pc:sldChg chg="addSp delSp modSp add mod setBg">
        <pc:chgData name="Clever, Aubin" userId="13ca3d7b-db6b-4256-944a-b4e7cf688f90" providerId="ADAL" clId="{EB37EC22-7094-40D1-995C-570CBAC1C1EB}" dt="2026-05-18T13:33:26.682" v="302" actId="14100"/>
        <pc:sldMkLst>
          <pc:docMk/>
          <pc:sldMk cId="0" sldId="277"/>
        </pc:sldMkLst>
        <pc:spChg chg="mod">
          <ac:chgData name="Clever, Aubin" userId="13ca3d7b-db6b-4256-944a-b4e7cf688f90" providerId="ADAL" clId="{EB37EC22-7094-40D1-995C-570CBAC1C1EB}" dt="2026-05-18T13:33:26.682" v="302" actId="14100"/>
          <ac:spMkLst>
            <pc:docMk/>
            <pc:sldMk cId="0" sldId="277"/>
            <ac:spMk id="2" creationId="{00000000-0000-0000-0000-000000000000}"/>
          </ac:spMkLst>
        </pc:spChg>
        <pc:spChg chg="mod">
          <ac:chgData name="Clever, Aubin" userId="13ca3d7b-db6b-4256-944a-b4e7cf688f90" providerId="ADAL" clId="{EB37EC22-7094-40D1-995C-570CBAC1C1EB}" dt="2026-05-18T13:02:38.444" v="122" actId="1035"/>
          <ac:spMkLst>
            <pc:docMk/>
            <pc:sldMk cId="0" sldId="277"/>
            <ac:spMk id="3" creationId="{00000000-0000-0000-0000-000000000000}"/>
          </ac:spMkLst>
        </pc:spChg>
      </pc:sldChg>
      <pc:sldChg chg="addSp delSp modSp add del mod setBg">
        <pc:chgData name="Clever, Aubin" userId="13ca3d7b-db6b-4256-944a-b4e7cf688f90" providerId="ADAL" clId="{EB37EC22-7094-40D1-995C-570CBAC1C1EB}" dt="2026-05-18T16:13:55.895" v="940" actId="478"/>
        <pc:sldMkLst>
          <pc:docMk/>
          <pc:sldMk cId="0" sldId="278"/>
        </pc:sldMkLst>
        <pc:spChg chg="mod">
          <ac:chgData name="Clever, Aubin" userId="13ca3d7b-db6b-4256-944a-b4e7cf688f90" providerId="ADAL" clId="{EB37EC22-7094-40D1-995C-570CBAC1C1EB}" dt="2026-05-18T13:11:37.086" v="143" actId="255"/>
          <ac:spMkLst>
            <pc:docMk/>
            <pc:sldMk cId="0" sldId="278"/>
            <ac:spMk id="2" creationId="{00000000-0000-0000-0000-000000000000}"/>
          </ac:spMkLst>
        </pc:spChg>
        <pc:spChg chg="mod">
          <ac:chgData name="Clever, Aubin" userId="13ca3d7b-db6b-4256-944a-b4e7cf688f90" providerId="ADAL" clId="{EB37EC22-7094-40D1-995C-570CBAC1C1EB}" dt="2026-05-18T13:15:28.728" v="187" actId="207"/>
          <ac:spMkLst>
            <pc:docMk/>
            <pc:sldMk cId="0" sldId="278"/>
            <ac:spMk id="7" creationId="{00000000-0000-0000-0000-000000000000}"/>
          </ac:spMkLst>
        </pc:spChg>
        <pc:spChg chg="mod">
          <ac:chgData name="Clever, Aubin" userId="13ca3d7b-db6b-4256-944a-b4e7cf688f90" providerId="ADAL" clId="{EB37EC22-7094-40D1-995C-570CBAC1C1EB}" dt="2026-05-18T13:15:26.428" v="182" actId="1076"/>
          <ac:spMkLst>
            <pc:docMk/>
            <pc:sldMk cId="0" sldId="278"/>
            <ac:spMk id="10" creationId="{00000000-0000-0000-0000-000000000000}"/>
          </ac:spMkLst>
        </pc:spChg>
        <pc:spChg chg="mod">
          <ac:chgData name="Clever, Aubin" userId="13ca3d7b-db6b-4256-944a-b4e7cf688f90" providerId="ADAL" clId="{EB37EC22-7094-40D1-995C-570CBAC1C1EB}" dt="2026-05-18T13:15:26.428" v="182" actId="1076"/>
          <ac:spMkLst>
            <pc:docMk/>
            <pc:sldMk cId="0" sldId="278"/>
            <ac:spMk id="11" creationId="{00000000-0000-0000-0000-000000000000}"/>
          </ac:spMkLst>
        </pc:spChg>
        <pc:spChg chg="mod">
          <ac:chgData name="Clever, Aubin" userId="13ca3d7b-db6b-4256-944a-b4e7cf688f90" providerId="ADAL" clId="{EB37EC22-7094-40D1-995C-570CBAC1C1EB}" dt="2026-05-18T16:11:13.811" v="929" actId="6549"/>
          <ac:spMkLst>
            <pc:docMk/>
            <pc:sldMk cId="0" sldId="278"/>
            <ac:spMk id="19" creationId="{00000000-0000-0000-0000-000000000000}"/>
          </ac:spMkLst>
        </pc:spChg>
        <pc:spChg chg="mod">
          <ac:chgData name="Clever, Aubin" userId="13ca3d7b-db6b-4256-944a-b4e7cf688f90" providerId="ADAL" clId="{EB37EC22-7094-40D1-995C-570CBAC1C1EB}" dt="2026-05-18T16:03:11.558" v="864" actId="20577"/>
          <ac:spMkLst>
            <pc:docMk/>
            <pc:sldMk cId="0" sldId="278"/>
            <ac:spMk id="35" creationId="{00000000-0000-0000-0000-000000000000}"/>
          </ac:spMkLst>
        </pc:spChg>
        <pc:spChg chg="mod">
          <ac:chgData name="Clever, Aubin" userId="13ca3d7b-db6b-4256-944a-b4e7cf688f90" providerId="ADAL" clId="{EB37EC22-7094-40D1-995C-570CBAC1C1EB}" dt="2026-05-18T16:07:46.165" v="878" actId="1076"/>
          <ac:spMkLst>
            <pc:docMk/>
            <pc:sldMk cId="0" sldId="278"/>
            <ac:spMk id="50" creationId="{00000000-0000-0000-0000-000000000000}"/>
          </ac:spMkLst>
        </pc:spChg>
        <pc:spChg chg="add mod">
          <ac:chgData name="Clever, Aubin" userId="13ca3d7b-db6b-4256-944a-b4e7cf688f90" providerId="ADAL" clId="{EB37EC22-7094-40D1-995C-570CBAC1C1EB}" dt="2026-05-18T13:12:29.463" v="162" actId="1037"/>
          <ac:spMkLst>
            <pc:docMk/>
            <pc:sldMk cId="0" sldId="278"/>
            <ac:spMk id="81" creationId="{D9504386-B96F-3C8F-E736-8805F7BEAA15}"/>
          </ac:spMkLst>
        </pc:spChg>
        <pc:picChg chg="add mod">
          <ac:chgData name="Clever, Aubin" userId="13ca3d7b-db6b-4256-944a-b4e7cf688f90" providerId="ADAL" clId="{EB37EC22-7094-40D1-995C-570CBAC1C1EB}" dt="2026-05-18T13:17:10.667" v="208" actId="1076"/>
          <ac:picMkLst>
            <pc:docMk/>
            <pc:sldMk cId="0" sldId="278"/>
            <ac:picMk id="86" creationId="{531063D4-E04E-9731-AEA0-19C38E07D3B6}"/>
          </ac:picMkLst>
        </pc:picChg>
        <pc:picChg chg="add mod">
          <ac:chgData name="Clever, Aubin" userId="13ca3d7b-db6b-4256-944a-b4e7cf688f90" providerId="ADAL" clId="{EB37EC22-7094-40D1-995C-570CBAC1C1EB}" dt="2026-05-18T16:11:00.108" v="928" actId="207"/>
          <ac:picMkLst>
            <pc:docMk/>
            <pc:sldMk cId="0" sldId="278"/>
            <ac:picMk id="108" creationId="{59B6BFB4-CFDF-5DD0-EED0-E82B382EF083}"/>
          </ac:picMkLst>
        </pc:picChg>
      </pc:sldChg>
      <pc:sldChg chg="modSp add mod">
        <pc:chgData name="Clever, Aubin" userId="13ca3d7b-db6b-4256-944a-b4e7cf688f90" providerId="ADAL" clId="{EB37EC22-7094-40D1-995C-570CBAC1C1EB}" dt="2026-05-18T13:32:52.464" v="300" actId="1076"/>
        <pc:sldMkLst>
          <pc:docMk/>
          <pc:sldMk cId="0" sldId="279"/>
        </pc:sldMkLst>
        <pc:spChg chg="mod">
          <ac:chgData name="Clever, Aubin" userId="13ca3d7b-db6b-4256-944a-b4e7cf688f90" providerId="ADAL" clId="{EB37EC22-7094-40D1-995C-570CBAC1C1EB}" dt="2026-05-18T13:32:32.034" v="297" actId="14100"/>
          <ac:spMkLst>
            <pc:docMk/>
            <pc:sldMk cId="0" sldId="279"/>
            <ac:spMk id="2" creationId="{00000000-0000-0000-0000-000000000000}"/>
          </ac:spMkLst>
        </pc:spChg>
        <pc:spChg chg="mod">
          <ac:chgData name="Clever, Aubin" userId="13ca3d7b-db6b-4256-944a-b4e7cf688f90" providerId="ADAL" clId="{EB37EC22-7094-40D1-995C-570CBAC1C1EB}" dt="2026-05-18T13:32:52.464" v="300" actId="1076"/>
          <ac:spMkLst>
            <pc:docMk/>
            <pc:sldMk cId="0" sldId="279"/>
            <ac:spMk id="3" creationId="{00000000-0000-0000-0000-000000000000}"/>
          </ac:spMkLst>
        </pc:spChg>
        <pc:spChg chg="mod">
          <ac:chgData name="Clever, Aubin" userId="13ca3d7b-db6b-4256-944a-b4e7cf688f90" providerId="ADAL" clId="{EB37EC22-7094-40D1-995C-570CBAC1C1EB}" dt="2026-05-18T13:31:47.078" v="273" actId="1035"/>
          <ac:spMkLst>
            <pc:docMk/>
            <pc:sldMk cId="0" sldId="279"/>
            <ac:spMk id="6" creationId="{00000000-0000-0000-0000-000000000000}"/>
          </ac:spMkLst>
        </pc:spChg>
        <pc:spChg chg="mod">
          <ac:chgData name="Clever, Aubin" userId="13ca3d7b-db6b-4256-944a-b4e7cf688f90" providerId="ADAL" clId="{EB37EC22-7094-40D1-995C-570CBAC1C1EB}" dt="2026-05-18T13:32:14.797" v="286" actId="14100"/>
          <ac:spMkLst>
            <pc:docMk/>
            <pc:sldMk cId="0" sldId="279"/>
            <ac:spMk id="19" creationId="{00000000-0000-0000-0000-000000000000}"/>
          </ac:spMkLst>
        </pc:spChg>
      </pc:sldChg>
      <pc:sldChg chg="modSp add mod">
        <pc:chgData name="Clever, Aubin" userId="13ca3d7b-db6b-4256-944a-b4e7cf688f90" providerId="ADAL" clId="{EB37EC22-7094-40D1-995C-570CBAC1C1EB}" dt="2026-05-18T14:54:56.248" v="720" actId="1076"/>
        <pc:sldMkLst>
          <pc:docMk/>
          <pc:sldMk cId="0" sldId="281"/>
        </pc:sldMkLst>
        <pc:spChg chg="mod">
          <ac:chgData name="Clever, Aubin" userId="13ca3d7b-db6b-4256-944a-b4e7cf688f90" providerId="ADAL" clId="{EB37EC22-7094-40D1-995C-570CBAC1C1EB}" dt="2026-05-18T14:54:22.081" v="714" actId="108"/>
          <ac:spMkLst>
            <pc:docMk/>
            <pc:sldMk cId="0" sldId="281"/>
            <ac:spMk id="3" creationId="{00000000-0000-0000-0000-000000000000}"/>
          </ac:spMkLst>
        </pc:spChg>
        <pc:spChg chg="mod">
          <ac:chgData name="Clever, Aubin" userId="13ca3d7b-db6b-4256-944a-b4e7cf688f90" providerId="ADAL" clId="{EB37EC22-7094-40D1-995C-570CBAC1C1EB}" dt="2026-05-18T14:44:20.660" v="604" actId="14100"/>
          <ac:spMkLst>
            <pc:docMk/>
            <pc:sldMk cId="0" sldId="281"/>
            <ac:spMk id="21" creationId="{00000000-0000-0000-0000-000000000000}"/>
          </ac:spMkLst>
        </pc:spChg>
        <pc:spChg chg="mod">
          <ac:chgData name="Clever, Aubin" userId="13ca3d7b-db6b-4256-944a-b4e7cf688f90" providerId="ADAL" clId="{EB37EC22-7094-40D1-995C-570CBAC1C1EB}" dt="2026-05-18T14:44:23.477" v="605" actId="14100"/>
          <ac:spMkLst>
            <pc:docMk/>
            <pc:sldMk cId="0" sldId="281"/>
            <ac:spMk id="22" creationId="{00000000-0000-0000-0000-000000000000}"/>
          </ac:spMkLst>
        </pc:spChg>
        <pc:spChg chg="mod">
          <ac:chgData name="Clever, Aubin" userId="13ca3d7b-db6b-4256-944a-b4e7cf688f90" providerId="ADAL" clId="{EB37EC22-7094-40D1-995C-570CBAC1C1EB}" dt="2026-05-18T14:43:41.148" v="567" actId="20577"/>
          <ac:spMkLst>
            <pc:docMk/>
            <pc:sldMk cId="0" sldId="281"/>
            <ac:spMk id="24" creationId="{00000000-0000-0000-0000-000000000000}"/>
          </ac:spMkLst>
        </pc:spChg>
        <pc:spChg chg="mod">
          <ac:chgData name="Clever, Aubin" userId="13ca3d7b-db6b-4256-944a-b4e7cf688f90" providerId="ADAL" clId="{EB37EC22-7094-40D1-995C-570CBAC1C1EB}" dt="2026-05-18T14:49:55.225" v="660" actId="14100"/>
          <ac:spMkLst>
            <pc:docMk/>
            <pc:sldMk cId="0" sldId="281"/>
            <ac:spMk id="25" creationId="{00000000-0000-0000-0000-000000000000}"/>
          </ac:spMkLst>
        </pc:spChg>
        <pc:spChg chg="mod">
          <ac:chgData name="Clever, Aubin" userId="13ca3d7b-db6b-4256-944a-b4e7cf688f90" providerId="ADAL" clId="{EB37EC22-7094-40D1-995C-570CBAC1C1EB}" dt="2026-05-18T14:50:01.080" v="669" actId="14100"/>
          <ac:spMkLst>
            <pc:docMk/>
            <pc:sldMk cId="0" sldId="281"/>
            <ac:spMk id="26" creationId="{00000000-0000-0000-0000-000000000000}"/>
          </ac:spMkLst>
        </pc:spChg>
        <pc:spChg chg="mod">
          <ac:chgData name="Clever, Aubin" userId="13ca3d7b-db6b-4256-944a-b4e7cf688f90" providerId="ADAL" clId="{EB37EC22-7094-40D1-995C-570CBAC1C1EB}" dt="2026-05-18T14:44:16.065" v="603" actId="1036"/>
          <ac:spMkLst>
            <pc:docMk/>
            <pc:sldMk cId="0" sldId="281"/>
            <ac:spMk id="27" creationId="{00000000-0000-0000-0000-000000000000}"/>
          </ac:spMkLst>
        </pc:spChg>
        <pc:spChg chg="mod">
          <ac:chgData name="Clever, Aubin" userId="13ca3d7b-db6b-4256-944a-b4e7cf688f90" providerId="ADAL" clId="{EB37EC22-7094-40D1-995C-570CBAC1C1EB}" dt="2026-05-18T14:50:21.267" v="675" actId="20577"/>
          <ac:spMkLst>
            <pc:docMk/>
            <pc:sldMk cId="0" sldId="281"/>
            <ac:spMk id="28" creationId="{00000000-0000-0000-0000-000000000000}"/>
          </ac:spMkLst>
        </pc:spChg>
        <pc:spChg chg="mod">
          <ac:chgData name="Clever, Aubin" userId="13ca3d7b-db6b-4256-944a-b4e7cf688f90" providerId="ADAL" clId="{EB37EC22-7094-40D1-995C-570CBAC1C1EB}" dt="2026-05-18T14:45:43.155" v="623" actId="14100"/>
          <ac:spMkLst>
            <pc:docMk/>
            <pc:sldMk cId="0" sldId="281"/>
            <ac:spMk id="29" creationId="{00000000-0000-0000-0000-000000000000}"/>
          </ac:spMkLst>
        </pc:spChg>
        <pc:spChg chg="mod">
          <ac:chgData name="Clever, Aubin" userId="13ca3d7b-db6b-4256-944a-b4e7cf688f90" providerId="ADAL" clId="{EB37EC22-7094-40D1-995C-570CBAC1C1EB}" dt="2026-05-18T14:45:40.223" v="622" actId="14100"/>
          <ac:spMkLst>
            <pc:docMk/>
            <pc:sldMk cId="0" sldId="281"/>
            <ac:spMk id="30" creationId="{00000000-0000-0000-0000-000000000000}"/>
          </ac:spMkLst>
        </pc:spChg>
        <pc:spChg chg="mod">
          <ac:chgData name="Clever, Aubin" userId="13ca3d7b-db6b-4256-944a-b4e7cf688f90" providerId="ADAL" clId="{EB37EC22-7094-40D1-995C-570CBAC1C1EB}" dt="2026-05-18T14:47:40.811" v="634" actId="108"/>
          <ac:spMkLst>
            <pc:docMk/>
            <pc:sldMk cId="0" sldId="281"/>
            <ac:spMk id="32" creationId="{00000000-0000-0000-0000-000000000000}"/>
          </ac:spMkLst>
        </pc:spChg>
        <pc:spChg chg="mod">
          <ac:chgData name="Clever, Aubin" userId="13ca3d7b-db6b-4256-944a-b4e7cf688f90" providerId="ADAL" clId="{EB37EC22-7094-40D1-995C-570CBAC1C1EB}" dt="2026-05-18T14:54:56.248" v="720" actId="1076"/>
          <ac:spMkLst>
            <pc:docMk/>
            <pc:sldMk cId="0" sldId="281"/>
            <ac:spMk id="33" creationId="{00000000-0000-0000-0000-000000000000}"/>
          </ac:spMkLst>
        </pc:spChg>
        <pc:spChg chg="mod">
          <ac:chgData name="Clever, Aubin" userId="13ca3d7b-db6b-4256-944a-b4e7cf688f90" providerId="ADAL" clId="{EB37EC22-7094-40D1-995C-570CBAC1C1EB}" dt="2026-05-18T14:53:40.539" v="701" actId="14100"/>
          <ac:spMkLst>
            <pc:docMk/>
            <pc:sldMk cId="0" sldId="281"/>
            <ac:spMk id="34" creationId="{00000000-0000-0000-0000-000000000000}"/>
          </ac:spMkLst>
        </pc:spChg>
        <pc:spChg chg="mod">
          <ac:chgData name="Clever, Aubin" userId="13ca3d7b-db6b-4256-944a-b4e7cf688f90" providerId="ADAL" clId="{EB37EC22-7094-40D1-995C-570CBAC1C1EB}" dt="2026-05-18T14:44:16.065" v="603" actId="1036"/>
          <ac:spMkLst>
            <pc:docMk/>
            <pc:sldMk cId="0" sldId="281"/>
            <ac:spMk id="35" creationId="{00000000-0000-0000-0000-000000000000}"/>
          </ac:spMkLst>
        </pc:spChg>
        <pc:spChg chg="mod">
          <ac:chgData name="Clever, Aubin" userId="13ca3d7b-db6b-4256-944a-b4e7cf688f90" providerId="ADAL" clId="{EB37EC22-7094-40D1-995C-570CBAC1C1EB}" dt="2026-05-18T14:54:52.128" v="719" actId="1076"/>
          <ac:spMkLst>
            <pc:docMk/>
            <pc:sldMk cId="0" sldId="281"/>
            <ac:spMk id="36" creationId="{00000000-0000-0000-0000-000000000000}"/>
          </ac:spMkLst>
        </pc:spChg>
      </pc:sldChg>
      <pc:sldChg chg="modSp add mod">
        <pc:chgData name="Clever, Aubin" userId="13ca3d7b-db6b-4256-944a-b4e7cf688f90" providerId="ADAL" clId="{EB37EC22-7094-40D1-995C-570CBAC1C1EB}" dt="2026-05-18T16:15:51.194" v="996" actId="108"/>
        <pc:sldMkLst>
          <pc:docMk/>
          <pc:sldMk cId="0" sldId="282"/>
        </pc:sldMkLst>
        <pc:spChg chg="mod">
          <ac:chgData name="Clever, Aubin" userId="13ca3d7b-db6b-4256-944a-b4e7cf688f90" providerId="ADAL" clId="{EB37EC22-7094-40D1-995C-570CBAC1C1EB}" dt="2026-05-18T16:15:51.194" v="996" actId="108"/>
          <ac:spMkLst>
            <pc:docMk/>
            <pc:sldMk cId="0" sldId="282"/>
            <ac:spMk id="8" creationId="{00000000-0000-0000-0000-000000000000}"/>
          </ac:spMkLst>
        </pc:spChg>
        <pc:spChg chg="mod">
          <ac:chgData name="Clever, Aubin" userId="13ca3d7b-db6b-4256-944a-b4e7cf688f90" providerId="ADAL" clId="{EB37EC22-7094-40D1-995C-570CBAC1C1EB}" dt="2026-05-18T14:38:21.353" v="530" actId="207"/>
          <ac:spMkLst>
            <pc:docMk/>
            <pc:sldMk cId="0" sldId="282"/>
            <ac:spMk id="12" creationId="{00000000-0000-0000-0000-000000000000}"/>
          </ac:spMkLst>
        </pc:spChg>
        <pc:spChg chg="mod">
          <ac:chgData name="Clever, Aubin" userId="13ca3d7b-db6b-4256-944a-b4e7cf688f90" providerId="ADAL" clId="{EB37EC22-7094-40D1-995C-570CBAC1C1EB}" dt="2026-05-18T14:39:42.295" v="557" actId="14100"/>
          <ac:spMkLst>
            <pc:docMk/>
            <pc:sldMk cId="0" sldId="282"/>
            <ac:spMk id="14" creationId="{00000000-0000-0000-0000-000000000000}"/>
          </ac:spMkLst>
        </pc:spChg>
        <pc:spChg chg="mod">
          <ac:chgData name="Clever, Aubin" userId="13ca3d7b-db6b-4256-944a-b4e7cf688f90" providerId="ADAL" clId="{EB37EC22-7094-40D1-995C-570CBAC1C1EB}" dt="2026-05-18T14:39:08.933" v="539" actId="20577"/>
          <ac:spMkLst>
            <pc:docMk/>
            <pc:sldMk cId="0" sldId="282"/>
            <ac:spMk id="20" creationId="{00000000-0000-0000-0000-000000000000}"/>
          </ac:spMkLst>
        </pc:spChg>
      </pc:sldChg>
      <pc:sldChg chg="add ord">
        <pc:chgData name="Clever, Aubin" userId="13ca3d7b-db6b-4256-944a-b4e7cf688f90" providerId="ADAL" clId="{EB37EC22-7094-40D1-995C-570CBAC1C1EB}" dt="2026-05-18T15:19:36.793" v="828"/>
        <pc:sldMkLst>
          <pc:docMk/>
          <pc:sldMk cId="2654264090" sldId="28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0990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7A336-22B2-4C88-A37D-55F99219E7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FF0659-877A-E16A-308C-D5C914BD063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412E680-FD2E-03EB-0DEC-B81D1951781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6C08174-A498-63EF-04BC-0BB1FEC0318A}"/>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9305956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04685-5DE4-CA12-C983-B43345F4886D}"/>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940708C7-D508-6A69-0595-F48C3C198DFD}"/>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76A01CB7-AC85-B3FD-72D1-BEDFB500B8A8}"/>
              </a:ext>
            </a:extLst>
          </p:cNvPr>
          <p:cNvSpPr>
            <a:spLocks noGrp="1"/>
          </p:cNvSpPr>
          <p:nvPr>
            <p:ph type="dt" sz="half" idx="10"/>
          </p:nvPr>
        </p:nvSpPr>
        <p:spPr/>
        <p:txBody>
          <a:bodyPr/>
          <a:lstStyle/>
          <a:p>
            <a:fld id="{4B12D38B-AFCA-4EB4-B8F6-B1D999B5B3C0}" type="datetimeFigureOut">
              <a:rPr lang="en-US" smtClean="0"/>
              <a:t>5/23/2026</a:t>
            </a:fld>
            <a:endParaRPr lang="en-US"/>
          </a:p>
        </p:txBody>
      </p:sp>
      <p:sp>
        <p:nvSpPr>
          <p:cNvPr id="5" name="Footer Placeholder 4">
            <a:extLst>
              <a:ext uri="{FF2B5EF4-FFF2-40B4-BE49-F238E27FC236}">
                <a16:creationId xmlns:a16="http://schemas.microsoft.com/office/drawing/2014/main" id="{DB0B63C8-3DAA-5E7D-0027-4CE107C761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09D5D5-59C9-64DC-6333-68F4FF7C7182}"/>
              </a:ext>
            </a:extLst>
          </p:cNvPr>
          <p:cNvSpPr>
            <a:spLocks noGrp="1"/>
          </p:cNvSpPr>
          <p:nvPr>
            <p:ph type="sldNum" sz="quarter" idx="12"/>
          </p:nvPr>
        </p:nvSpPr>
        <p:spPr/>
        <p:txBody>
          <a:bodyPr/>
          <a:lstStyle/>
          <a:p>
            <a:fld id="{7769A508-8340-436A-BD3A-35F1A6DE77B4}" type="slidenum">
              <a:rPr lang="en-US" smtClean="0"/>
              <a:t>‹#›</a:t>
            </a:fld>
            <a:endParaRPr lang="en-US"/>
          </a:p>
        </p:txBody>
      </p:sp>
    </p:spTree>
    <p:extLst>
      <p:ext uri="{BB962C8B-B14F-4D97-AF65-F5344CB8AC3E}">
        <p14:creationId xmlns:p14="http://schemas.microsoft.com/office/powerpoint/2010/main" val="194548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7AD35-5607-F001-A2B8-D89A90A3DE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3F82F6-D4E8-670E-A4D1-75F33ED625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715477-81EC-12F6-3451-82226D877D71}"/>
              </a:ext>
            </a:extLst>
          </p:cNvPr>
          <p:cNvSpPr>
            <a:spLocks noGrp="1"/>
          </p:cNvSpPr>
          <p:nvPr>
            <p:ph type="dt" sz="half" idx="10"/>
          </p:nvPr>
        </p:nvSpPr>
        <p:spPr/>
        <p:txBody>
          <a:bodyPr/>
          <a:lstStyle/>
          <a:p>
            <a:fld id="{4B12D38B-AFCA-4EB4-B8F6-B1D999B5B3C0}" type="datetimeFigureOut">
              <a:rPr lang="en-US" smtClean="0"/>
              <a:t>5/23/2026</a:t>
            </a:fld>
            <a:endParaRPr lang="en-US"/>
          </a:p>
        </p:txBody>
      </p:sp>
      <p:sp>
        <p:nvSpPr>
          <p:cNvPr id="5" name="Footer Placeholder 4">
            <a:extLst>
              <a:ext uri="{FF2B5EF4-FFF2-40B4-BE49-F238E27FC236}">
                <a16:creationId xmlns:a16="http://schemas.microsoft.com/office/drawing/2014/main" id="{C191527E-38F0-DF5D-1263-5E1F620926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8CEF7C-0954-2127-15F8-E41936633476}"/>
              </a:ext>
            </a:extLst>
          </p:cNvPr>
          <p:cNvSpPr>
            <a:spLocks noGrp="1"/>
          </p:cNvSpPr>
          <p:nvPr>
            <p:ph type="sldNum" sz="quarter" idx="12"/>
          </p:nvPr>
        </p:nvSpPr>
        <p:spPr/>
        <p:txBody>
          <a:bodyPr/>
          <a:lstStyle/>
          <a:p>
            <a:fld id="{7769A508-8340-436A-BD3A-35F1A6DE77B4}" type="slidenum">
              <a:rPr lang="en-US" smtClean="0"/>
              <a:t>‹#›</a:t>
            </a:fld>
            <a:endParaRPr lang="en-US"/>
          </a:p>
        </p:txBody>
      </p:sp>
    </p:spTree>
    <p:extLst>
      <p:ext uri="{BB962C8B-B14F-4D97-AF65-F5344CB8AC3E}">
        <p14:creationId xmlns:p14="http://schemas.microsoft.com/office/powerpoint/2010/main" val="30046793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F9A3E-6B29-876C-514E-00127D3EAA5E}"/>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1E573AD3-33FA-5D59-ACC0-6D4B9A78789F}"/>
              </a:ext>
            </a:extLst>
          </p:cNvPr>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3BAFD1E-D5DD-7478-3192-2A1BF6CE3A84}"/>
              </a:ext>
            </a:extLst>
          </p:cNvPr>
          <p:cNvSpPr>
            <a:spLocks noGrp="1"/>
          </p:cNvSpPr>
          <p:nvPr>
            <p:ph type="dt" sz="half" idx="10"/>
          </p:nvPr>
        </p:nvSpPr>
        <p:spPr/>
        <p:txBody>
          <a:bodyPr/>
          <a:lstStyle/>
          <a:p>
            <a:fld id="{4B12D38B-AFCA-4EB4-B8F6-B1D999B5B3C0}" type="datetimeFigureOut">
              <a:rPr lang="en-US" smtClean="0"/>
              <a:t>5/23/2026</a:t>
            </a:fld>
            <a:endParaRPr lang="en-US"/>
          </a:p>
        </p:txBody>
      </p:sp>
      <p:sp>
        <p:nvSpPr>
          <p:cNvPr id="5" name="Footer Placeholder 4">
            <a:extLst>
              <a:ext uri="{FF2B5EF4-FFF2-40B4-BE49-F238E27FC236}">
                <a16:creationId xmlns:a16="http://schemas.microsoft.com/office/drawing/2014/main" id="{8B7C74F2-9063-5814-DCF1-5FEBB24530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A445C-8AF6-76A8-7C70-EB4FAEC6DE37}"/>
              </a:ext>
            </a:extLst>
          </p:cNvPr>
          <p:cNvSpPr>
            <a:spLocks noGrp="1"/>
          </p:cNvSpPr>
          <p:nvPr>
            <p:ph type="sldNum" sz="quarter" idx="12"/>
          </p:nvPr>
        </p:nvSpPr>
        <p:spPr/>
        <p:txBody>
          <a:bodyPr/>
          <a:lstStyle/>
          <a:p>
            <a:fld id="{7769A508-8340-436A-BD3A-35F1A6DE77B4}" type="slidenum">
              <a:rPr lang="en-US" smtClean="0"/>
              <a:t>‹#›</a:t>
            </a:fld>
            <a:endParaRPr lang="en-US"/>
          </a:p>
        </p:txBody>
      </p:sp>
    </p:spTree>
    <p:extLst>
      <p:ext uri="{BB962C8B-B14F-4D97-AF65-F5344CB8AC3E}">
        <p14:creationId xmlns:p14="http://schemas.microsoft.com/office/powerpoint/2010/main" val="1404403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E6EF1-7DD4-76FA-5C53-05CE4691E2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2584EC-3103-43ED-3A91-FFA20B6E3306}"/>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F949A18-8233-0D82-776B-0FE24E529449}"/>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25D8DBE-9FBF-96F8-5E7F-1A457891771E}"/>
              </a:ext>
            </a:extLst>
          </p:cNvPr>
          <p:cNvSpPr>
            <a:spLocks noGrp="1"/>
          </p:cNvSpPr>
          <p:nvPr>
            <p:ph type="dt" sz="half" idx="10"/>
          </p:nvPr>
        </p:nvSpPr>
        <p:spPr/>
        <p:txBody>
          <a:bodyPr/>
          <a:lstStyle/>
          <a:p>
            <a:fld id="{4B12D38B-AFCA-4EB4-B8F6-B1D999B5B3C0}" type="datetimeFigureOut">
              <a:rPr lang="en-US" smtClean="0"/>
              <a:t>5/23/2026</a:t>
            </a:fld>
            <a:endParaRPr lang="en-US"/>
          </a:p>
        </p:txBody>
      </p:sp>
      <p:sp>
        <p:nvSpPr>
          <p:cNvPr id="6" name="Footer Placeholder 5">
            <a:extLst>
              <a:ext uri="{FF2B5EF4-FFF2-40B4-BE49-F238E27FC236}">
                <a16:creationId xmlns:a16="http://schemas.microsoft.com/office/drawing/2014/main" id="{097C0698-AA28-2FE0-5B21-E87B79DC85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1869F5-FC2D-3EE6-0CBF-4A311800559D}"/>
              </a:ext>
            </a:extLst>
          </p:cNvPr>
          <p:cNvSpPr>
            <a:spLocks noGrp="1"/>
          </p:cNvSpPr>
          <p:nvPr>
            <p:ph type="sldNum" sz="quarter" idx="12"/>
          </p:nvPr>
        </p:nvSpPr>
        <p:spPr/>
        <p:txBody>
          <a:bodyPr/>
          <a:lstStyle/>
          <a:p>
            <a:fld id="{7769A508-8340-436A-BD3A-35F1A6DE77B4}" type="slidenum">
              <a:rPr lang="en-US" smtClean="0"/>
              <a:t>‹#›</a:t>
            </a:fld>
            <a:endParaRPr lang="en-US"/>
          </a:p>
        </p:txBody>
      </p:sp>
    </p:spTree>
    <p:extLst>
      <p:ext uri="{BB962C8B-B14F-4D97-AF65-F5344CB8AC3E}">
        <p14:creationId xmlns:p14="http://schemas.microsoft.com/office/powerpoint/2010/main" val="2456533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C733D-FDAA-2D58-668A-3373ADBFAC96}"/>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F8A8C212-3AD7-7348-04C0-BF77A9119B1A}"/>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D611124A-5507-A383-C4E4-07882C1154AE}"/>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D350861-B68B-F771-A454-AE4F2D845113}"/>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802952C2-9368-E561-75D2-ED65967A8099}"/>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D2973B4-B0C9-BA48-4753-8C9E9346D94D}"/>
              </a:ext>
            </a:extLst>
          </p:cNvPr>
          <p:cNvSpPr>
            <a:spLocks noGrp="1"/>
          </p:cNvSpPr>
          <p:nvPr>
            <p:ph type="dt" sz="half" idx="10"/>
          </p:nvPr>
        </p:nvSpPr>
        <p:spPr/>
        <p:txBody>
          <a:bodyPr/>
          <a:lstStyle/>
          <a:p>
            <a:fld id="{4B12D38B-AFCA-4EB4-B8F6-B1D999B5B3C0}" type="datetimeFigureOut">
              <a:rPr lang="en-US" smtClean="0"/>
              <a:t>5/23/2026</a:t>
            </a:fld>
            <a:endParaRPr lang="en-US"/>
          </a:p>
        </p:txBody>
      </p:sp>
      <p:sp>
        <p:nvSpPr>
          <p:cNvPr id="8" name="Footer Placeholder 7">
            <a:extLst>
              <a:ext uri="{FF2B5EF4-FFF2-40B4-BE49-F238E27FC236}">
                <a16:creationId xmlns:a16="http://schemas.microsoft.com/office/drawing/2014/main" id="{09EA32AA-3AEB-8BB2-405E-7A9987E4B5F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443E9F7-DF51-B27E-7359-812BE22058C5}"/>
              </a:ext>
            </a:extLst>
          </p:cNvPr>
          <p:cNvSpPr>
            <a:spLocks noGrp="1"/>
          </p:cNvSpPr>
          <p:nvPr>
            <p:ph type="sldNum" sz="quarter" idx="12"/>
          </p:nvPr>
        </p:nvSpPr>
        <p:spPr/>
        <p:txBody>
          <a:bodyPr/>
          <a:lstStyle/>
          <a:p>
            <a:fld id="{7769A508-8340-436A-BD3A-35F1A6DE77B4}" type="slidenum">
              <a:rPr lang="en-US" smtClean="0"/>
              <a:t>‹#›</a:t>
            </a:fld>
            <a:endParaRPr lang="en-US"/>
          </a:p>
        </p:txBody>
      </p:sp>
    </p:spTree>
    <p:extLst>
      <p:ext uri="{BB962C8B-B14F-4D97-AF65-F5344CB8AC3E}">
        <p14:creationId xmlns:p14="http://schemas.microsoft.com/office/powerpoint/2010/main" val="1156990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17372-DE62-1570-77AC-D8E7AD41451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F1331FF-3A9E-4E11-79BE-CC39F6E8DBBD}"/>
              </a:ext>
            </a:extLst>
          </p:cNvPr>
          <p:cNvSpPr>
            <a:spLocks noGrp="1"/>
          </p:cNvSpPr>
          <p:nvPr>
            <p:ph type="dt" sz="half" idx="10"/>
          </p:nvPr>
        </p:nvSpPr>
        <p:spPr/>
        <p:txBody>
          <a:bodyPr/>
          <a:lstStyle/>
          <a:p>
            <a:fld id="{4B12D38B-AFCA-4EB4-B8F6-B1D999B5B3C0}" type="datetimeFigureOut">
              <a:rPr lang="en-US" smtClean="0"/>
              <a:t>5/23/2026</a:t>
            </a:fld>
            <a:endParaRPr lang="en-US"/>
          </a:p>
        </p:txBody>
      </p:sp>
      <p:sp>
        <p:nvSpPr>
          <p:cNvPr id="4" name="Footer Placeholder 3">
            <a:extLst>
              <a:ext uri="{FF2B5EF4-FFF2-40B4-BE49-F238E27FC236}">
                <a16:creationId xmlns:a16="http://schemas.microsoft.com/office/drawing/2014/main" id="{DEA668AB-0256-5A01-7137-7CF515CABE1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B418B04-59BE-EAF8-B210-381E77C78C51}"/>
              </a:ext>
            </a:extLst>
          </p:cNvPr>
          <p:cNvSpPr>
            <a:spLocks noGrp="1"/>
          </p:cNvSpPr>
          <p:nvPr>
            <p:ph type="sldNum" sz="quarter" idx="12"/>
          </p:nvPr>
        </p:nvSpPr>
        <p:spPr/>
        <p:txBody>
          <a:bodyPr/>
          <a:lstStyle/>
          <a:p>
            <a:fld id="{7769A508-8340-436A-BD3A-35F1A6DE77B4}" type="slidenum">
              <a:rPr lang="en-US" smtClean="0"/>
              <a:t>‹#›</a:t>
            </a:fld>
            <a:endParaRPr lang="en-US"/>
          </a:p>
        </p:txBody>
      </p:sp>
    </p:spTree>
    <p:extLst>
      <p:ext uri="{BB962C8B-B14F-4D97-AF65-F5344CB8AC3E}">
        <p14:creationId xmlns:p14="http://schemas.microsoft.com/office/powerpoint/2010/main" val="21240064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21AC66-D80D-B660-908D-B58490473297}"/>
              </a:ext>
            </a:extLst>
          </p:cNvPr>
          <p:cNvSpPr>
            <a:spLocks noGrp="1"/>
          </p:cNvSpPr>
          <p:nvPr>
            <p:ph type="dt" sz="half" idx="10"/>
          </p:nvPr>
        </p:nvSpPr>
        <p:spPr/>
        <p:txBody>
          <a:bodyPr/>
          <a:lstStyle/>
          <a:p>
            <a:fld id="{4B12D38B-AFCA-4EB4-B8F6-B1D999B5B3C0}" type="datetimeFigureOut">
              <a:rPr lang="en-US" smtClean="0"/>
              <a:t>5/23/2026</a:t>
            </a:fld>
            <a:endParaRPr lang="en-US"/>
          </a:p>
        </p:txBody>
      </p:sp>
      <p:sp>
        <p:nvSpPr>
          <p:cNvPr id="3" name="Footer Placeholder 2">
            <a:extLst>
              <a:ext uri="{FF2B5EF4-FFF2-40B4-BE49-F238E27FC236}">
                <a16:creationId xmlns:a16="http://schemas.microsoft.com/office/drawing/2014/main" id="{3C467071-4317-590A-450C-BCB35F260B8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D940F60-F744-DC82-DC82-6B6863252CBF}"/>
              </a:ext>
            </a:extLst>
          </p:cNvPr>
          <p:cNvSpPr>
            <a:spLocks noGrp="1"/>
          </p:cNvSpPr>
          <p:nvPr>
            <p:ph type="sldNum" sz="quarter" idx="12"/>
          </p:nvPr>
        </p:nvSpPr>
        <p:spPr/>
        <p:txBody>
          <a:bodyPr/>
          <a:lstStyle/>
          <a:p>
            <a:fld id="{7769A508-8340-436A-BD3A-35F1A6DE77B4}" type="slidenum">
              <a:rPr lang="en-US" smtClean="0"/>
              <a:t>‹#›</a:t>
            </a:fld>
            <a:endParaRPr lang="en-US"/>
          </a:p>
        </p:txBody>
      </p:sp>
    </p:spTree>
    <p:extLst>
      <p:ext uri="{BB962C8B-B14F-4D97-AF65-F5344CB8AC3E}">
        <p14:creationId xmlns:p14="http://schemas.microsoft.com/office/powerpoint/2010/main" val="14964111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6D6CB-E4D1-62DF-B539-9B0642B8A783}"/>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56C14440-154B-DD39-3B7D-375B9C15AC89}"/>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C501DF1-0072-1140-3FC1-93EE0D5E1A45}"/>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6C53D3A-ABEA-6E72-1A6F-BEFCFE1B9CA3}"/>
              </a:ext>
            </a:extLst>
          </p:cNvPr>
          <p:cNvSpPr>
            <a:spLocks noGrp="1"/>
          </p:cNvSpPr>
          <p:nvPr>
            <p:ph type="dt" sz="half" idx="10"/>
          </p:nvPr>
        </p:nvSpPr>
        <p:spPr/>
        <p:txBody>
          <a:bodyPr/>
          <a:lstStyle/>
          <a:p>
            <a:fld id="{4B12D38B-AFCA-4EB4-B8F6-B1D999B5B3C0}" type="datetimeFigureOut">
              <a:rPr lang="en-US" smtClean="0"/>
              <a:t>5/23/2026</a:t>
            </a:fld>
            <a:endParaRPr lang="en-US"/>
          </a:p>
        </p:txBody>
      </p:sp>
      <p:sp>
        <p:nvSpPr>
          <p:cNvPr id="6" name="Footer Placeholder 5">
            <a:extLst>
              <a:ext uri="{FF2B5EF4-FFF2-40B4-BE49-F238E27FC236}">
                <a16:creationId xmlns:a16="http://schemas.microsoft.com/office/drawing/2014/main" id="{9CAB4B63-2643-3415-3C11-C77670C260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DB91CD-963F-07F3-354E-B89C5E823C95}"/>
              </a:ext>
            </a:extLst>
          </p:cNvPr>
          <p:cNvSpPr>
            <a:spLocks noGrp="1"/>
          </p:cNvSpPr>
          <p:nvPr>
            <p:ph type="sldNum" sz="quarter" idx="12"/>
          </p:nvPr>
        </p:nvSpPr>
        <p:spPr/>
        <p:txBody>
          <a:bodyPr/>
          <a:lstStyle/>
          <a:p>
            <a:fld id="{7769A508-8340-436A-BD3A-35F1A6DE77B4}" type="slidenum">
              <a:rPr lang="en-US" smtClean="0"/>
              <a:t>‹#›</a:t>
            </a:fld>
            <a:endParaRPr lang="en-US"/>
          </a:p>
        </p:txBody>
      </p:sp>
    </p:spTree>
    <p:extLst>
      <p:ext uri="{BB962C8B-B14F-4D97-AF65-F5344CB8AC3E}">
        <p14:creationId xmlns:p14="http://schemas.microsoft.com/office/powerpoint/2010/main" val="16706552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8EE72-9DD1-46D3-2C2F-A667C99AAA1A}"/>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4F4EF51D-0334-73E3-D9A8-DD850A3E7B91}"/>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59B5876D-2794-084A-B173-6E3294FD6353}"/>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0D82ACEA-69F4-701C-C9BF-42697C03CFDC}"/>
              </a:ext>
            </a:extLst>
          </p:cNvPr>
          <p:cNvSpPr>
            <a:spLocks noGrp="1"/>
          </p:cNvSpPr>
          <p:nvPr>
            <p:ph type="dt" sz="half" idx="10"/>
          </p:nvPr>
        </p:nvSpPr>
        <p:spPr/>
        <p:txBody>
          <a:bodyPr/>
          <a:lstStyle/>
          <a:p>
            <a:fld id="{4B12D38B-AFCA-4EB4-B8F6-B1D999B5B3C0}" type="datetimeFigureOut">
              <a:rPr lang="en-US" smtClean="0"/>
              <a:t>5/23/2026</a:t>
            </a:fld>
            <a:endParaRPr lang="en-US"/>
          </a:p>
        </p:txBody>
      </p:sp>
      <p:sp>
        <p:nvSpPr>
          <p:cNvPr id="6" name="Footer Placeholder 5">
            <a:extLst>
              <a:ext uri="{FF2B5EF4-FFF2-40B4-BE49-F238E27FC236}">
                <a16:creationId xmlns:a16="http://schemas.microsoft.com/office/drawing/2014/main" id="{1303CF6A-16D5-7565-73D3-130E3D2BFF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A919FE-2EAF-5598-7B07-2CF98E8E6166}"/>
              </a:ext>
            </a:extLst>
          </p:cNvPr>
          <p:cNvSpPr>
            <a:spLocks noGrp="1"/>
          </p:cNvSpPr>
          <p:nvPr>
            <p:ph type="sldNum" sz="quarter" idx="12"/>
          </p:nvPr>
        </p:nvSpPr>
        <p:spPr/>
        <p:txBody>
          <a:bodyPr/>
          <a:lstStyle/>
          <a:p>
            <a:fld id="{7769A508-8340-436A-BD3A-35F1A6DE77B4}" type="slidenum">
              <a:rPr lang="en-US" smtClean="0"/>
              <a:t>‹#›</a:t>
            </a:fld>
            <a:endParaRPr lang="en-US"/>
          </a:p>
        </p:txBody>
      </p:sp>
    </p:spTree>
    <p:extLst>
      <p:ext uri="{BB962C8B-B14F-4D97-AF65-F5344CB8AC3E}">
        <p14:creationId xmlns:p14="http://schemas.microsoft.com/office/powerpoint/2010/main" val="3348281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80BC2-2985-26CB-81D4-E1221E59DA6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98AB2EB-4477-A684-6ECE-12B3A91E7F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0FFABA-0815-D2C4-D093-73C3F581D6AE}"/>
              </a:ext>
            </a:extLst>
          </p:cNvPr>
          <p:cNvSpPr>
            <a:spLocks noGrp="1"/>
          </p:cNvSpPr>
          <p:nvPr>
            <p:ph type="dt" sz="half" idx="10"/>
          </p:nvPr>
        </p:nvSpPr>
        <p:spPr/>
        <p:txBody>
          <a:bodyPr/>
          <a:lstStyle/>
          <a:p>
            <a:fld id="{4B12D38B-AFCA-4EB4-B8F6-B1D999B5B3C0}" type="datetimeFigureOut">
              <a:rPr lang="en-US" smtClean="0"/>
              <a:t>5/23/2026</a:t>
            </a:fld>
            <a:endParaRPr lang="en-US"/>
          </a:p>
        </p:txBody>
      </p:sp>
      <p:sp>
        <p:nvSpPr>
          <p:cNvPr id="5" name="Footer Placeholder 4">
            <a:extLst>
              <a:ext uri="{FF2B5EF4-FFF2-40B4-BE49-F238E27FC236}">
                <a16:creationId xmlns:a16="http://schemas.microsoft.com/office/drawing/2014/main" id="{7BBEA953-9DA3-B853-ED79-82E18B8949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2F152B-2DF4-59BB-4B5F-EB211E70EEE5}"/>
              </a:ext>
            </a:extLst>
          </p:cNvPr>
          <p:cNvSpPr>
            <a:spLocks noGrp="1"/>
          </p:cNvSpPr>
          <p:nvPr>
            <p:ph type="sldNum" sz="quarter" idx="12"/>
          </p:nvPr>
        </p:nvSpPr>
        <p:spPr/>
        <p:txBody>
          <a:bodyPr/>
          <a:lstStyle/>
          <a:p>
            <a:fld id="{7769A508-8340-436A-BD3A-35F1A6DE77B4}" type="slidenum">
              <a:rPr lang="en-US" smtClean="0"/>
              <a:t>‹#›</a:t>
            </a:fld>
            <a:endParaRPr lang="en-US"/>
          </a:p>
        </p:txBody>
      </p:sp>
    </p:spTree>
    <p:extLst>
      <p:ext uri="{BB962C8B-B14F-4D97-AF65-F5344CB8AC3E}">
        <p14:creationId xmlns:p14="http://schemas.microsoft.com/office/powerpoint/2010/main" val="27828002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1FCE1F-4B0B-EC4D-1211-187D983BAD8B}"/>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E6A3C03-47F2-E3C5-C883-7C3E883A1EF6}"/>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D5235D-3C58-B6C6-BF7C-DC2C4C61006C}"/>
              </a:ext>
            </a:extLst>
          </p:cNvPr>
          <p:cNvSpPr>
            <a:spLocks noGrp="1"/>
          </p:cNvSpPr>
          <p:nvPr>
            <p:ph type="dt" sz="half" idx="10"/>
          </p:nvPr>
        </p:nvSpPr>
        <p:spPr/>
        <p:txBody>
          <a:bodyPr/>
          <a:lstStyle/>
          <a:p>
            <a:fld id="{4B12D38B-AFCA-4EB4-B8F6-B1D999B5B3C0}" type="datetimeFigureOut">
              <a:rPr lang="en-US" smtClean="0"/>
              <a:t>5/23/2026</a:t>
            </a:fld>
            <a:endParaRPr lang="en-US"/>
          </a:p>
        </p:txBody>
      </p:sp>
      <p:sp>
        <p:nvSpPr>
          <p:cNvPr id="5" name="Footer Placeholder 4">
            <a:extLst>
              <a:ext uri="{FF2B5EF4-FFF2-40B4-BE49-F238E27FC236}">
                <a16:creationId xmlns:a16="http://schemas.microsoft.com/office/drawing/2014/main" id="{6F7A1418-4FC0-5545-5553-AD86B4AB82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2EBD19-03DA-0E22-46CD-9F5D1211D162}"/>
              </a:ext>
            </a:extLst>
          </p:cNvPr>
          <p:cNvSpPr>
            <a:spLocks noGrp="1"/>
          </p:cNvSpPr>
          <p:nvPr>
            <p:ph type="sldNum" sz="quarter" idx="12"/>
          </p:nvPr>
        </p:nvSpPr>
        <p:spPr/>
        <p:txBody>
          <a:bodyPr/>
          <a:lstStyle/>
          <a:p>
            <a:fld id="{7769A508-8340-436A-BD3A-35F1A6DE77B4}" type="slidenum">
              <a:rPr lang="en-US" smtClean="0"/>
              <a:t>‹#›</a:t>
            </a:fld>
            <a:endParaRPr lang="en-US"/>
          </a:p>
        </p:txBody>
      </p:sp>
    </p:spTree>
    <p:extLst>
      <p:ext uri="{BB962C8B-B14F-4D97-AF65-F5344CB8AC3E}">
        <p14:creationId xmlns:p14="http://schemas.microsoft.com/office/powerpoint/2010/main" val="41183679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526071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theme" Target="../theme/theme2.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3530586-8AF7-0488-F01B-5E0EBCCDB4F5}"/>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E2EEC87-5FDB-39F5-E14B-77F6C76B8E5F}"/>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45DB31-D900-0507-F3B9-D712F74D4979}"/>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4B12D38B-AFCA-4EB4-B8F6-B1D999B5B3C0}" type="datetimeFigureOut">
              <a:rPr lang="en-US" smtClean="0"/>
              <a:t>5/23/2026</a:t>
            </a:fld>
            <a:endParaRPr lang="en-US"/>
          </a:p>
        </p:txBody>
      </p:sp>
      <p:sp>
        <p:nvSpPr>
          <p:cNvPr id="5" name="Footer Placeholder 4">
            <a:extLst>
              <a:ext uri="{FF2B5EF4-FFF2-40B4-BE49-F238E27FC236}">
                <a16:creationId xmlns:a16="http://schemas.microsoft.com/office/drawing/2014/main" id="{636679CA-64DA-F28C-76B4-2237A4E547C0}"/>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F134D5F-9D5E-1A8D-C693-0F0ACAF248C5}"/>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7769A508-8340-436A-BD3A-35F1A6DE77B4}" type="slidenum">
              <a:rPr lang="en-US" smtClean="0"/>
              <a:t>‹#›</a:t>
            </a:fld>
            <a:endParaRPr lang="en-US"/>
          </a:p>
        </p:txBody>
      </p:sp>
    </p:spTree>
    <p:extLst>
      <p:ext uri="{BB962C8B-B14F-4D97-AF65-F5344CB8AC3E}">
        <p14:creationId xmlns:p14="http://schemas.microsoft.com/office/powerpoint/2010/main" val="1979574992"/>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s://github.com/sudhamanc/ConversationalSalesAgent"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19.sv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5.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6858000" y="0"/>
            <a:ext cx="2286000" cy="73152"/>
          </a:xfrm>
          <a:prstGeom prst="rect">
            <a:avLst/>
          </a:prstGeom>
          <a:solidFill>
            <a:srgbClr val="00C2C7"/>
          </a:solidFill>
          <a:ln/>
        </p:spPr>
        <p:txBody>
          <a:bodyPr/>
          <a:lstStyle/>
          <a:p>
            <a:endParaRPr lang="en-US"/>
          </a:p>
        </p:txBody>
      </p:sp>
      <p:sp>
        <p:nvSpPr>
          <p:cNvPr id="3" name="Shape 1"/>
          <p:cNvSpPr/>
          <p:nvPr/>
        </p:nvSpPr>
        <p:spPr>
          <a:xfrm>
            <a:off x="9070848" y="0"/>
            <a:ext cx="73152" cy="1828800"/>
          </a:xfrm>
          <a:prstGeom prst="rect">
            <a:avLst/>
          </a:prstGeom>
          <a:solidFill>
            <a:srgbClr val="00C2C7"/>
          </a:solidFill>
          <a:ln/>
        </p:spPr>
        <p:txBody>
          <a:bodyPr/>
          <a:lstStyle/>
          <a:p>
            <a:endParaRPr lang="en-US"/>
          </a:p>
        </p:txBody>
      </p:sp>
      <p:sp>
        <p:nvSpPr>
          <p:cNvPr id="4" name="Shape 2"/>
          <p:cNvSpPr/>
          <p:nvPr/>
        </p:nvSpPr>
        <p:spPr>
          <a:xfrm>
            <a:off x="0" y="5070348"/>
            <a:ext cx="3200400" cy="73152"/>
          </a:xfrm>
          <a:prstGeom prst="rect">
            <a:avLst/>
          </a:prstGeom>
          <a:solidFill>
            <a:srgbClr val="00C2C7"/>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457200" y="731520"/>
            <a:ext cx="914400" cy="914400"/>
          </a:xfrm>
          <a:prstGeom prst="rect">
            <a:avLst/>
          </a:prstGeom>
        </p:spPr>
      </p:pic>
      <p:sp>
        <p:nvSpPr>
          <p:cNvPr id="6" name="Text 3"/>
          <p:cNvSpPr/>
          <p:nvPr/>
        </p:nvSpPr>
        <p:spPr>
          <a:xfrm>
            <a:off x="457200" y="1691640"/>
            <a:ext cx="8229600" cy="685800"/>
          </a:xfrm>
          <a:prstGeom prst="rect">
            <a:avLst/>
          </a:prstGeom>
          <a:noFill/>
          <a:ln/>
        </p:spPr>
        <p:txBody>
          <a:bodyPr wrap="square" rtlCol="0" anchor="ctr"/>
          <a:lstStyle/>
          <a:p>
            <a:pPr marL="0" indent="0">
              <a:buNone/>
            </a:pPr>
            <a:r>
              <a:rPr lang="en-US" sz="3800" b="1" kern="0" spc="50">
                <a:solidFill>
                  <a:srgbClr val="FFFFFF"/>
                </a:solidFill>
                <a:latin typeface="Calibri" pitchFamily="34" charset="0"/>
                <a:ea typeface="Calibri" pitchFamily="34" charset="-122"/>
                <a:cs typeface="Calibri" pitchFamily="34" charset="-120"/>
              </a:rPr>
              <a:t>B2B Conversational Sales Agent</a:t>
            </a:r>
            <a:endParaRPr lang="en-US" sz="3800"/>
          </a:p>
        </p:txBody>
      </p:sp>
      <p:sp>
        <p:nvSpPr>
          <p:cNvPr id="7" name="Text 4"/>
          <p:cNvSpPr/>
          <p:nvPr/>
        </p:nvSpPr>
        <p:spPr>
          <a:xfrm>
            <a:off x="457200" y="2423160"/>
            <a:ext cx="8229600" cy="411480"/>
          </a:xfrm>
          <a:prstGeom prst="rect">
            <a:avLst/>
          </a:prstGeom>
          <a:noFill/>
          <a:ln/>
        </p:spPr>
        <p:txBody>
          <a:bodyPr wrap="square" rtlCol="0" anchor="ctr"/>
          <a:lstStyle/>
          <a:p>
            <a:pPr marL="0" indent="0">
              <a:buNone/>
            </a:pPr>
            <a:r>
              <a:rPr lang="en-US" sz="1600" i="1">
                <a:solidFill>
                  <a:srgbClr val="00C2C7"/>
                </a:solidFill>
                <a:latin typeface="Calibri" pitchFamily="34" charset="0"/>
                <a:ea typeface="Calibri" pitchFamily="34" charset="-122"/>
                <a:cs typeface="Calibri" pitchFamily="34" charset="-120"/>
              </a:rPr>
              <a:t>Autonomous Multi-Agent Orchestration for Telecom B2B Sales</a:t>
            </a:r>
            <a:endParaRPr lang="en-US" sz="1600"/>
          </a:p>
        </p:txBody>
      </p:sp>
      <p:sp>
        <p:nvSpPr>
          <p:cNvPr id="8" name="Shape 5"/>
          <p:cNvSpPr/>
          <p:nvPr/>
        </p:nvSpPr>
        <p:spPr>
          <a:xfrm>
            <a:off x="457200" y="2926080"/>
            <a:ext cx="8229600" cy="13716"/>
          </a:xfrm>
          <a:prstGeom prst="rect">
            <a:avLst/>
          </a:prstGeom>
          <a:solidFill>
            <a:srgbClr val="028090"/>
          </a:solidFill>
          <a:ln/>
        </p:spPr>
        <p:txBody>
          <a:bodyPr/>
          <a:lstStyle/>
          <a:p>
            <a:endParaRPr lang="en-US"/>
          </a:p>
        </p:txBody>
      </p:sp>
      <p:sp>
        <p:nvSpPr>
          <p:cNvPr id="9" name="Text 6"/>
          <p:cNvSpPr/>
          <p:nvPr/>
        </p:nvSpPr>
        <p:spPr>
          <a:xfrm>
            <a:off x="457200" y="3017520"/>
            <a:ext cx="8229600" cy="320040"/>
          </a:xfrm>
          <a:prstGeom prst="rect">
            <a:avLst/>
          </a:prstGeom>
          <a:noFill/>
          <a:ln/>
        </p:spPr>
        <p:txBody>
          <a:bodyPr wrap="square" rtlCol="0" anchor="ctr"/>
          <a:lstStyle/>
          <a:p>
            <a:pPr marL="0" indent="0">
              <a:buNone/>
            </a:pPr>
            <a:r>
              <a:rPr lang="en-US" sz="1300">
                <a:solidFill>
                  <a:srgbClr val="E8F4F8"/>
                </a:solidFill>
                <a:latin typeface="Calibri" pitchFamily="34" charset="0"/>
                <a:ea typeface="Calibri" pitchFamily="34" charset="-122"/>
                <a:cs typeface="Calibri" pitchFamily="34" charset="-120"/>
              </a:rPr>
              <a:t>Sudhaman Chandrasekaran  ·  Raja Barathan  ·  Arun Mohan  ·  Aubin Clever</a:t>
            </a:r>
            <a:endParaRPr lang="en-US" sz="1300"/>
          </a:p>
        </p:txBody>
      </p:sp>
      <p:sp>
        <p:nvSpPr>
          <p:cNvPr id="10" name="Text 7"/>
          <p:cNvSpPr/>
          <p:nvPr/>
        </p:nvSpPr>
        <p:spPr>
          <a:xfrm>
            <a:off x="457200" y="3383280"/>
            <a:ext cx="8229600" cy="274320"/>
          </a:xfrm>
          <a:prstGeom prst="rect">
            <a:avLst/>
          </a:prstGeom>
          <a:noFill/>
          <a:ln/>
        </p:spPr>
        <p:txBody>
          <a:bodyPr wrap="square" rtlCol="0" anchor="ctr"/>
          <a:lstStyle/>
          <a:p>
            <a:pPr marL="0" indent="0">
              <a:buNone/>
            </a:pPr>
            <a:r>
              <a:rPr lang="en-US" sz="1200">
                <a:solidFill>
                  <a:srgbClr val="94A3B8"/>
                </a:solidFill>
                <a:latin typeface="Calibri" pitchFamily="34" charset="0"/>
                <a:ea typeface="Calibri" pitchFamily="34" charset="-122"/>
                <a:cs typeface="Calibri" pitchFamily="34" charset="-120"/>
              </a:rPr>
              <a:t>Drexel University  ·  CS Senior Design  ·  Spring 2026</a:t>
            </a:r>
            <a:endParaRPr lang="en-US" sz="1200"/>
          </a:p>
        </p:txBody>
      </p:sp>
      <p:sp>
        <p:nvSpPr>
          <p:cNvPr id="11" name="Shape 8"/>
          <p:cNvSpPr/>
          <p:nvPr/>
        </p:nvSpPr>
        <p:spPr>
          <a:xfrm>
            <a:off x="457200" y="3977640"/>
            <a:ext cx="1554480" cy="320040"/>
          </a:xfrm>
          <a:prstGeom prst="rect">
            <a:avLst/>
          </a:prstGeom>
          <a:solidFill>
            <a:srgbClr val="028090"/>
          </a:solidFill>
          <a:ln w="12700">
            <a:solidFill>
              <a:srgbClr val="00C2C7"/>
            </a:solidFill>
            <a:prstDash val="solid"/>
          </a:ln>
        </p:spPr>
        <p:txBody>
          <a:bodyPr/>
          <a:lstStyle/>
          <a:p>
            <a:endParaRPr lang="en-US"/>
          </a:p>
        </p:txBody>
      </p:sp>
      <p:sp>
        <p:nvSpPr>
          <p:cNvPr id="12" name="Text 9"/>
          <p:cNvSpPr/>
          <p:nvPr/>
        </p:nvSpPr>
        <p:spPr>
          <a:xfrm>
            <a:off x="457200" y="3977640"/>
            <a:ext cx="1554480" cy="320040"/>
          </a:xfrm>
          <a:prstGeom prst="rect">
            <a:avLst/>
          </a:prstGeom>
          <a:noFill/>
          <a:ln/>
        </p:spPr>
        <p:txBody>
          <a:bodyPr wrap="square" lIns="0" tIns="0" rIns="0" bIns="0" rtlCol="0" anchor="ctr"/>
          <a:lstStyle/>
          <a:p>
            <a:pPr marL="0" indent="0" algn="ctr">
              <a:buNone/>
            </a:pPr>
            <a:r>
              <a:rPr lang="en-US" sz="1000">
                <a:solidFill>
                  <a:srgbClr val="FFFFFF"/>
                </a:solidFill>
                <a:latin typeface="Calibri" pitchFamily="34" charset="0"/>
                <a:ea typeface="Calibri" pitchFamily="34" charset="-122"/>
                <a:cs typeface="Calibri" pitchFamily="34" charset="-120"/>
              </a:rPr>
              <a:t>Google ADK</a:t>
            </a:r>
            <a:endParaRPr lang="en-US" sz="1000"/>
          </a:p>
        </p:txBody>
      </p:sp>
      <p:sp>
        <p:nvSpPr>
          <p:cNvPr id="13" name="Shape 10"/>
          <p:cNvSpPr/>
          <p:nvPr/>
        </p:nvSpPr>
        <p:spPr>
          <a:xfrm>
            <a:off x="2148840" y="3977640"/>
            <a:ext cx="1554480" cy="320040"/>
          </a:xfrm>
          <a:prstGeom prst="rect">
            <a:avLst/>
          </a:prstGeom>
          <a:solidFill>
            <a:srgbClr val="028090"/>
          </a:solidFill>
          <a:ln w="12700">
            <a:solidFill>
              <a:srgbClr val="00C2C7"/>
            </a:solidFill>
            <a:prstDash val="solid"/>
          </a:ln>
        </p:spPr>
        <p:txBody>
          <a:bodyPr/>
          <a:lstStyle/>
          <a:p>
            <a:endParaRPr lang="en-US"/>
          </a:p>
        </p:txBody>
      </p:sp>
      <p:sp>
        <p:nvSpPr>
          <p:cNvPr id="14" name="Text 11"/>
          <p:cNvSpPr/>
          <p:nvPr/>
        </p:nvSpPr>
        <p:spPr>
          <a:xfrm>
            <a:off x="2148840" y="3977640"/>
            <a:ext cx="1554480" cy="320040"/>
          </a:xfrm>
          <a:prstGeom prst="rect">
            <a:avLst/>
          </a:prstGeom>
          <a:noFill/>
          <a:ln/>
        </p:spPr>
        <p:txBody>
          <a:bodyPr wrap="square" lIns="0" tIns="0" rIns="0" bIns="0" rtlCol="0" anchor="ctr"/>
          <a:lstStyle/>
          <a:p>
            <a:pPr marL="0" indent="0" algn="ctr">
              <a:buNone/>
            </a:pPr>
            <a:r>
              <a:rPr lang="en-US" sz="1000">
                <a:solidFill>
                  <a:srgbClr val="FFFFFF"/>
                </a:solidFill>
                <a:latin typeface="Calibri" pitchFamily="34" charset="0"/>
                <a:ea typeface="Calibri" pitchFamily="34" charset="-122"/>
                <a:cs typeface="Calibri" pitchFamily="34" charset="-120"/>
              </a:rPr>
              <a:t>Gemini Flash</a:t>
            </a:r>
            <a:endParaRPr lang="en-US" sz="1000"/>
          </a:p>
        </p:txBody>
      </p:sp>
      <p:sp>
        <p:nvSpPr>
          <p:cNvPr id="15" name="Shape 12"/>
          <p:cNvSpPr/>
          <p:nvPr/>
        </p:nvSpPr>
        <p:spPr>
          <a:xfrm>
            <a:off x="3840480" y="3977640"/>
            <a:ext cx="1554480" cy="320040"/>
          </a:xfrm>
          <a:prstGeom prst="rect">
            <a:avLst/>
          </a:prstGeom>
          <a:solidFill>
            <a:srgbClr val="028090"/>
          </a:solidFill>
          <a:ln w="12700">
            <a:solidFill>
              <a:srgbClr val="00C2C7"/>
            </a:solidFill>
            <a:prstDash val="solid"/>
          </a:ln>
        </p:spPr>
        <p:txBody>
          <a:bodyPr/>
          <a:lstStyle/>
          <a:p>
            <a:endParaRPr lang="en-US"/>
          </a:p>
        </p:txBody>
      </p:sp>
      <p:sp>
        <p:nvSpPr>
          <p:cNvPr id="16" name="Text 13"/>
          <p:cNvSpPr/>
          <p:nvPr/>
        </p:nvSpPr>
        <p:spPr>
          <a:xfrm>
            <a:off x="3840480" y="3977640"/>
            <a:ext cx="1554480" cy="320040"/>
          </a:xfrm>
          <a:prstGeom prst="rect">
            <a:avLst/>
          </a:prstGeom>
          <a:noFill/>
          <a:ln/>
        </p:spPr>
        <p:txBody>
          <a:bodyPr wrap="square" lIns="0" tIns="0" rIns="0" bIns="0" rtlCol="0" anchor="ctr"/>
          <a:lstStyle/>
          <a:p>
            <a:pPr marL="0" indent="0" algn="ctr">
              <a:buNone/>
            </a:pPr>
            <a:r>
              <a:rPr lang="en-US" sz="1000">
                <a:solidFill>
                  <a:srgbClr val="FFFFFF"/>
                </a:solidFill>
                <a:latin typeface="Calibri" pitchFamily="34" charset="0"/>
                <a:ea typeface="Calibri" pitchFamily="34" charset="-122"/>
                <a:cs typeface="Calibri" pitchFamily="34" charset="-120"/>
              </a:rPr>
              <a:t>FastAPI</a:t>
            </a:r>
            <a:endParaRPr lang="en-US" sz="1000"/>
          </a:p>
        </p:txBody>
      </p:sp>
      <p:sp>
        <p:nvSpPr>
          <p:cNvPr id="17" name="Shape 14"/>
          <p:cNvSpPr/>
          <p:nvPr/>
        </p:nvSpPr>
        <p:spPr>
          <a:xfrm>
            <a:off x="5532120" y="3977640"/>
            <a:ext cx="1554480" cy="320040"/>
          </a:xfrm>
          <a:prstGeom prst="rect">
            <a:avLst/>
          </a:prstGeom>
          <a:solidFill>
            <a:srgbClr val="028090"/>
          </a:solidFill>
          <a:ln w="12700">
            <a:solidFill>
              <a:srgbClr val="00C2C7"/>
            </a:solidFill>
            <a:prstDash val="solid"/>
          </a:ln>
        </p:spPr>
        <p:txBody>
          <a:bodyPr/>
          <a:lstStyle/>
          <a:p>
            <a:endParaRPr lang="en-US"/>
          </a:p>
        </p:txBody>
      </p:sp>
      <p:sp>
        <p:nvSpPr>
          <p:cNvPr id="18" name="Text 15"/>
          <p:cNvSpPr/>
          <p:nvPr/>
        </p:nvSpPr>
        <p:spPr>
          <a:xfrm>
            <a:off x="5532120" y="3977640"/>
            <a:ext cx="1554480" cy="320040"/>
          </a:xfrm>
          <a:prstGeom prst="rect">
            <a:avLst/>
          </a:prstGeom>
          <a:noFill/>
          <a:ln/>
        </p:spPr>
        <p:txBody>
          <a:bodyPr wrap="square" lIns="0" tIns="0" rIns="0" bIns="0" rtlCol="0" anchor="ctr"/>
          <a:lstStyle/>
          <a:p>
            <a:pPr marL="0" indent="0" algn="ctr">
              <a:buNone/>
            </a:pPr>
            <a:r>
              <a:rPr lang="en-US" sz="1000">
                <a:solidFill>
                  <a:srgbClr val="FFFFFF"/>
                </a:solidFill>
                <a:latin typeface="Calibri" pitchFamily="34" charset="0"/>
                <a:ea typeface="Calibri" pitchFamily="34" charset="-122"/>
                <a:cs typeface="Calibri" pitchFamily="34" charset="-120"/>
              </a:rPr>
              <a:t>React 19</a:t>
            </a:r>
            <a:endParaRPr lang="en-US" sz="1000"/>
          </a:p>
        </p:txBody>
      </p:sp>
      <p:sp>
        <p:nvSpPr>
          <p:cNvPr id="19" name="Shape 16"/>
          <p:cNvSpPr/>
          <p:nvPr/>
        </p:nvSpPr>
        <p:spPr>
          <a:xfrm>
            <a:off x="7223760" y="3977640"/>
            <a:ext cx="1554480" cy="320040"/>
          </a:xfrm>
          <a:prstGeom prst="rect">
            <a:avLst/>
          </a:prstGeom>
          <a:solidFill>
            <a:srgbClr val="028090"/>
          </a:solidFill>
          <a:ln w="12700">
            <a:solidFill>
              <a:srgbClr val="00C2C7"/>
            </a:solidFill>
            <a:prstDash val="solid"/>
          </a:ln>
        </p:spPr>
        <p:txBody>
          <a:bodyPr/>
          <a:lstStyle/>
          <a:p>
            <a:endParaRPr lang="en-US"/>
          </a:p>
        </p:txBody>
      </p:sp>
      <p:sp>
        <p:nvSpPr>
          <p:cNvPr id="20" name="Text 17"/>
          <p:cNvSpPr/>
          <p:nvPr/>
        </p:nvSpPr>
        <p:spPr>
          <a:xfrm>
            <a:off x="7223760" y="3977640"/>
            <a:ext cx="1554480" cy="320040"/>
          </a:xfrm>
          <a:prstGeom prst="rect">
            <a:avLst/>
          </a:prstGeom>
          <a:noFill/>
          <a:ln/>
        </p:spPr>
        <p:txBody>
          <a:bodyPr wrap="square" lIns="0" tIns="0" rIns="0" bIns="0" rtlCol="0" anchor="ctr"/>
          <a:lstStyle/>
          <a:p>
            <a:pPr marL="0" indent="0" algn="ctr">
              <a:buNone/>
            </a:pPr>
            <a:r>
              <a:rPr lang="en-US" sz="1000">
                <a:solidFill>
                  <a:srgbClr val="FFFFFF"/>
                </a:solidFill>
                <a:latin typeface="Calibri" pitchFamily="34" charset="0"/>
                <a:ea typeface="Calibri" pitchFamily="34" charset="-122"/>
                <a:cs typeface="Calibri" pitchFamily="34" charset="-120"/>
              </a:rPr>
              <a:t>Multi-Agent</a:t>
            </a:r>
            <a:endParaRPr lang="en-US" sz="1000"/>
          </a:p>
        </p:txBody>
      </p:sp>
      <p:pic>
        <p:nvPicPr>
          <p:cNvPr id="23" name="Image 0" descr="preencoded.png">
            <a:extLst>
              <a:ext uri="{FF2B5EF4-FFF2-40B4-BE49-F238E27FC236}">
                <a16:creationId xmlns:a16="http://schemas.microsoft.com/office/drawing/2014/main" id="{BF1EC147-BC7D-A749-9D27-9F2224F11F71}"/>
              </a:ext>
            </a:extLst>
          </p:cNvPr>
          <p:cNvPicPr>
            <a:picLocks noChangeAspect="1"/>
          </p:cNvPicPr>
          <p:nvPr/>
        </p:nvPicPr>
        <p:blipFill>
          <a:blip r:embed="rId4"/>
          <a:stretch>
            <a:fillRect/>
          </a:stretch>
        </p:blipFill>
        <p:spPr>
          <a:xfrm>
            <a:off x="535577" y="4558284"/>
            <a:ext cx="228600" cy="228600"/>
          </a:xfrm>
          <a:prstGeom prst="rect">
            <a:avLst/>
          </a:prstGeom>
        </p:spPr>
      </p:pic>
      <p:sp>
        <p:nvSpPr>
          <p:cNvPr id="24" name="Text 6">
            <a:hlinkClick r:id="rId5"/>
            <a:extLst>
              <a:ext uri="{FF2B5EF4-FFF2-40B4-BE49-F238E27FC236}">
                <a16:creationId xmlns:a16="http://schemas.microsoft.com/office/drawing/2014/main" id="{6E3DE909-E912-ED5C-817B-8C1C378E4D22}"/>
              </a:ext>
            </a:extLst>
          </p:cNvPr>
          <p:cNvSpPr/>
          <p:nvPr/>
        </p:nvSpPr>
        <p:spPr>
          <a:xfrm>
            <a:off x="855617" y="4558284"/>
            <a:ext cx="4572000" cy="228600"/>
          </a:xfrm>
          <a:prstGeom prst="rect">
            <a:avLst/>
          </a:prstGeom>
          <a:noFill/>
          <a:ln/>
        </p:spPr>
        <p:txBody>
          <a:bodyPr wrap="square" lIns="0" tIns="0" rIns="0" bIns="0" rtlCol="0" anchor="ctr"/>
          <a:lstStyle/>
          <a:p>
            <a:pPr marL="0" indent="0">
              <a:buNone/>
            </a:pPr>
            <a:r>
              <a:rPr lang="en-US" sz="1000" u="sng">
                <a:solidFill>
                  <a:srgbClr val="94A3B8"/>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github.com/</a:t>
            </a:r>
            <a:r>
              <a:rPr lang="en-US" sz="1000" u="sng" err="1">
                <a:solidFill>
                  <a:srgbClr val="94A3B8"/>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sudhamanc</a:t>
            </a:r>
            <a:r>
              <a:rPr lang="en-US" sz="1000" u="sng">
                <a:solidFill>
                  <a:srgbClr val="94A3B8"/>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a:t>
            </a:r>
            <a:r>
              <a:rPr lang="en-US" sz="1000" u="sng" err="1">
                <a:solidFill>
                  <a:srgbClr val="94A3B8"/>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ConversationalSalesAgent</a:t>
            </a:r>
            <a:endParaRPr lang="en-US" sz="1000"/>
          </a:p>
        </p:txBody>
      </p:sp>
      <p:pic>
        <p:nvPicPr>
          <p:cNvPr id="1026" name="Picture 2">
            <a:extLst>
              <a:ext uri="{FF2B5EF4-FFF2-40B4-BE49-F238E27FC236}">
                <a16:creationId xmlns:a16="http://schemas.microsoft.com/office/drawing/2014/main" id="{F1BE82D6-F6AC-1DFF-EC36-23EE5C75B2E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78624" y="27432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3E"/>
        </a:solidFill>
        <a:effectLst/>
      </p:bgPr>
    </p:bg>
    <p:spTree>
      <p:nvGrpSpPr>
        <p:cNvPr id="1" name=""/>
        <p:cNvGrpSpPr/>
        <p:nvPr/>
      </p:nvGrpSpPr>
      <p:grpSpPr>
        <a:xfrm>
          <a:off x="0" y="0"/>
          <a:ext cx="0" cy="0"/>
          <a:chOff x="0" y="0"/>
          <a:chExt cx="0" cy="0"/>
        </a:xfrm>
      </p:grpSpPr>
      <p:sp>
        <p:nvSpPr>
          <p:cNvPr id="2" name="Text 0"/>
          <p:cNvSpPr/>
          <p:nvPr/>
        </p:nvSpPr>
        <p:spPr>
          <a:xfrm>
            <a:off x="8686800" y="4800600"/>
            <a:ext cx="365760" cy="228600"/>
          </a:xfrm>
          <a:prstGeom prst="rect">
            <a:avLst/>
          </a:prstGeom>
          <a:noFill/>
          <a:ln/>
        </p:spPr>
        <p:txBody>
          <a:bodyPr wrap="square" rtlCol="0" anchor="ctr"/>
          <a:lstStyle/>
          <a:p>
            <a:pPr marL="0" indent="0" algn="r">
              <a:buNone/>
            </a:pPr>
            <a:r>
              <a:rPr lang="en-US" sz="900">
                <a:solidFill>
                  <a:srgbClr val="94A3B8"/>
                </a:solidFill>
              </a:rPr>
              <a:t>2</a:t>
            </a:r>
            <a:endParaRPr lang="en-US" sz="900"/>
          </a:p>
        </p:txBody>
      </p:sp>
      <p:sp>
        <p:nvSpPr>
          <p:cNvPr id="3" name="Text 1"/>
          <p:cNvSpPr/>
          <p:nvPr/>
        </p:nvSpPr>
        <p:spPr>
          <a:xfrm>
            <a:off x="457200" y="274320"/>
            <a:ext cx="8229600" cy="548640"/>
          </a:xfrm>
          <a:prstGeom prst="rect">
            <a:avLst/>
          </a:prstGeom>
          <a:noFill/>
          <a:ln/>
        </p:spPr>
        <p:txBody>
          <a:bodyPr wrap="square" rtlCol="0" anchor="ctr"/>
          <a:lstStyle/>
          <a:p>
            <a:pPr marL="0" indent="0">
              <a:buNone/>
            </a:pPr>
            <a:r>
              <a:rPr lang="en-US" sz="3000" b="1">
                <a:solidFill>
                  <a:srgbClr val="FFFFFF"/>
                </a:solidFill>
                <a:latin typeface="Calibri" pitchFamily="34" charset="0"/>
                <a:ea typeface="Calibri" pitchFamily="34" charset="-122"/>
                <a:cs typeface="Calibri" pitchFamily="34" charset="-120"/>
              </a:rPr>
              <a:t>What We'll Cover Today</a:t>
            </a:r>
            <a:endParaRPr lang="en-US" sz="3000"/>
          </a:p>
        </p:txBody>
      </p:sp>
      <p:sp>
        <p:nvSpPr>
          <p:cNvPr id="4" name="Shape 2"/>
          <p:cNvSpPr/>
          <p:nvPr/>
        </p:nvSpPr>
        <p:spPr>
          <a:xfrm>
            <a:off x="457200" y="868680"/>
            <a:ext cx="8229600" cy="13716"/>
          </a:xfrm>
          <a:prstGeom prst="rect">
            <a:avLst/>
          </a:prstGeom>
          <a:solidFill>
            <a:srgbClr val="00C2C7"/>
          </a:solidFill>
          <a:ln/>
        </p:spPr>
        <p:txBody>
          <a:bodyPr/>
          <a:lstStyle/>
          <a:p>
            <a:endParaRPr lang="en-US"/>
          </a:p>
        </p:txBody>
      </p:sp>
      <p:sp>
        <p:nvSpPr>
          <p:cNvPr id="5" name="Shape 3"/>
          <p:cNvSpPr/>
          <p:nvPr/>
        </p:nvSpPr>
        <p:spPr>
          <a:xfrm>
            <a:off x="457200" y="1051560"/>
            <a:ext cx="4114800" cy="1005840"/>
          </a:xfrm>
          <a:prstGeom prst="rect">
            <a:avLst/>
          </a:prstGeom>
          <a:solidFill>
            <a:srgbClr val="102B5A"/>
          </a:solidFill>
          <a:ln/>
          <a:effectLst>
            <a:outerShdw blurRad="76200" dist="25400" dir="8100000" algn="bl" rotWithShape="0">
              <a:srgbClr val="000000">
                <a:alpha val="30000"/>
              </a:srgbClr>
            </a:outerShdw>
          </a:effectLst>
        </p:spPr>
        <p:txBody>
          <a:bodyPr/>
          <a:lstStyle/>
          <a:p>
            <a:endParaRPr lang="en-US"/>
          </a:p>
        </p:txBody>
      </p:sp>
      <p:sp>
        <p:nvSpPr>
          <p:cNvPr id="6" name="Shape 4"/>
          <p:cNvSpPr/>
          <p:nvPr/>
        </p:nvSpPr>
        <p:spPr>
          <a:xfrm>
            <a:off x="457200" y="1051560"/>
            <a:ext cx="54864" cy="1005840"/>
          </a:xfrm>
          <a:prstGeom prst="rect">
            <a:avLst/>
          </a:prstGeom>
          <a:solidFill>
            <a:srgbClr val="00C2C7"/>
          </a:solidFill>
          <a:ln/>
        </p:spPr>
        <p:txBody>
          <a:bodyPr/>
          <a:lstStyle/>
          <a:p>
            <a:endParaRPr lang="en-US"/>
          </a:p>
        </p:txBody>
      </p:sp>
      <p:sp>
        <p:nvSpPr>
          <p:cNvPr id="7" name="Text 5"/>
          <p:cNvSpPr/>
          <p:nvPr/>
        </p:nvSpPr>
        <p:spPr>
          <a:xfrm>
            <a:off x="621792" y="1124712"/>
            <a:ext cx="548640" cy="320040"/>
          </a:xfrm>
          <a:prstGeom prst="rect">
            <a:avLst/>
          </a:prstGeom>
          <a:noFill/>
          <a:ln/>
        </p:spPr>
        <p:txBody>
          <a:bodyPr wrap="square" lIns="0" tIns="0" rIns="0" bIns="0" rtlCol="0" anchor="ctr"/>
          <a:lstStyle/>
          <a:p>
            <a:pPr marL="0" indent="0">
              <a:buNone/>
            </a:pPr>
            <a:r>
              <a:rPr lang="en-US" sz="1800" b="1">
                <a:solidFill>
                  <a:srgbClr val="00C2C7"/>
                </a:solidFill>
                <a:latin typeface="Calibri" pitchFamily="34" charset="0"/>
                <a:ea typeface="Calibri" pitchFamily="34" charset="-122"/>
                <a:cs typeface="Calibri" pitchFamily="34" charset="-120"/>
              </a:rPr>
              <a:t>01</a:t>
            </a:r>
            <a:endParaRPr lang="en-US" sz="1800"/>
          </a:p>
        </p:txBody>
      </p:sp>
      <p:sp>
        <p:nvSpPr>
          <p:cNvPr id="8" name="Text 6"/>
          <p:cNvSpPr/>
          <p:nvPr/>
        </p:nvSpPr>
        <p:spPr>
          <a:xfrm>
            <a:off x="621792" y="1435608"/>
            <a:ext cx="3657600" cy="320040"/>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The Problem</a:t>
            </a:r>
            <a:endParaRPr lang="en-US" sz="1400"/>
          </a:p>
        </p:txBody>
      </p:sp>
      <p:sp>
        <p:nvSpPr>
          <p:cNvPr id="9" name="Text 7"/>
          <p:cNvSpPr/>
          <p:nvPr/>
        </p:nvSpPr>
        <p:spPr>
          <a:xfrm>
            <a:off x="621792" y="1709928"/>
            <a:ext cx="3749040" cy="256032"/>
          </a:xfrm>
          <a:prstGeom prst="rect">
            <a:avLst/>
          </a:prstGeom>
          <a:noFill/>
          <a:ln/>
        </p:spPr>
        <p:txBody>
          <a:bodyPr wrap="square" lIns="0" tIns="0" rIns="0" bIns="0" rtlCol="0" anchor="ctr"/>
          <a:lstStyle/>
          <a:p>
            <a:pPr marL="0" indent="0">
              <a:buNone/>
            </a:pPr>
            <a:r>
              <a:rPr lang="en-US" sz="1000">
                <a:solidFill>
                  <a:srgbClr val="94A3B8"/>
                </a:solidFill>
                <a:latin typeface="Calibri" pitchFamily="34" charset="0"/>
                <a:ea typeface="Calibri" pitchFamily="34" charset="-122"/>
                <a:cs typeface="Calibri" pitchFamily="34" charset="-120"/>
              </a:rPr>
              <a:t>Why B2B Telco sales is broken</a:t>
            </a:r>
            <a:endParaRPr lang="en-US" sz="1000"/>
          </a:p>
        </p:txBody>
      </p:sp>
      <p:sp>
        <p:nvSpPr>
          <p:cNvPr id="10" name="Shape 8"/>
          <p:cNvSpPr/>
          <p:nvPr/>
        </p:nvSpPr>
        <p:spPr>
          <a:xfrm>
            <a:off x="457200" y="2286000"/>
            <a:ext cx="4114800" cy="1005840"/>
          </a:xfrm>
          <a:prstGeom prst="rect">
            <a:avLst/>
          </a:prstGeom>
          <a:solidFill>
            <a:srgbClr val="102B5A"/>
          </a:solidFill>
          <a:ln/>
          <a:effectLst>
            <a:outerShdw blurRad="76200" dist="25400" dir="8100000" algn="bl" rotWithShape="0">
              <a:srgbClr val="000000">
                <a:alpha val="30000"/>
              </a:srgbClr>
            </a:outerShdw>
          </a:effectLst>
        </p:spPr>
        <p:txBody>
          <a:bodyPr/>
          <a:lstStyle/>
          <a:p>
            <a:endParaRPr lang="en-US"/>
          </a:p>
        </p:txBody>
      </p:sp>
      <p:sp>
        <p:nvSpPr>
          <p:cNvPr id="11" name="Shape 9"/>
          <p:cNvSpPr/>
          <p:nvPr/>
        </p:nvSpPr>
        <p:spPr>
          <a:xfrm>
            <a:off x="457200" y="2286000"/>
            <a:ext cx="54864" cy="1005840"/>
          </a:xfrm>
          <a:prstGeom prst="rect">
            <a:avLst/>
          </a:prstGeom>
          <a:solidFill>
            <a:srgbClr val="00C2C7"/>
          </a:solidFill>
          <a:ln/>
        </p:spPr>
        <p:txBody>
          <a:bodyPr/>
          <a:lstStyle/>
          <a:p>
            <a:endParaRPr lang="en-US"/>
          </a:p>
        </p:txBody>
      </p:sp>
      <p:sp>
        <p:nvSpPr>
          <p:cNvPr id="12" name="Text 10"/>
          <p:cNvSpPr/>
          <p:nvPr/>
        </p:nvSpPr>
        <p:spPr>
          <a:xfrm>
            <a:off x="621792" y="2359152"/>
            <a:ext cx="548640" cy="320040"/>
          </a:xfrm>
          <a:prstGeom prst="rect">
            <a:avLst/>
          </a:prstGeom>
          <a:noFill/>
          <a:ln/>
        </p:spPr>
        <p:txBody>
          <a:bodyPr wrap="square" lIns="0" tIns="0" rIns="0" bIns="0" rtlCol="0" anchor="ctr"/>
          <a:lstStyle/>
          <a:p>
            <a:pPr marL="0" indent="0">
              <a:buNone/>
            </a:pPr>
            <a:r>
              <a:rPr lang="en-US" sz="1800" b="1">
                <a:solidFill>
                  <a:srgbClr val="00C2C7"/>
                </a:solidFill>
                <a:latin typeface="Calibri" pitchFamily="34" charset="0"/>
                <a:ea typeface="Calibri" pitchFamily="34" charset="-122"/>
                <a:cs typeface="Calibri" pitchFamily="34" charset="-120"/>
              </a:rPr>
              <a:t>02</a:t>
            </a:r>
            <a:endParaRPr lang="en-US" sz="1800"/>
          </a:p>
        </p:txBody>
      </p:sp>
      <p:sp>
        <p:nvSpPr>
          <p:cNvPr id="13" name="Text 11"/>
          <p:cNvSpPr/>
          <p:nvPr/>
        </p:nvSpPr>
        <p:spPr>
          <a:xfrm>
            <a:off x="621792" y="2670048"/>
            <a:ext cx="3657600" cy="320040"/>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The Solution &amp; Architecture</a:t>
            </a:r>
            <a:endParaRPr lang="en-US" sz="1400"/>
          </a:p>
        </p:txBody>
      </p:sp>
      <p:sp>
        <p:nvSpPr>
          <p:cNvPr id="14" name="Text 12"/>
          <p:cNvSpPr/>
          <p:nvPr/>
        </p:nvSpPr>
        <p:spPr>
          <a:xfrm>
            <a:off x="621792" y="2944368"/>
            <a:ext cx="3749040" cy="256032"/>
          </a:xfrm>
          <a:prstGeom prst="rect">
            <a:avLst/>
          </a:prstGeom>
          <a:noFill/>
          <a:ln/>
        </p:spPr>
        <p:txBody>
          <a:bodyPr wrap="square" lIns="0" tIns="0" rIns="0" bIns="0" rtlCol="0" anchor="ctr"/>
          <a:lstStyle/>
          <a:p>
            <a:pPr marL="0" indent="0">
              <a:buNone/>
            </a:pPr>
            <a:r>
              <a:rPr lang="en-US" sz="1000">
                <a:solidFill>
                  <a:srgbClr val="94A3B8"/>
                </a:solidFill>
                <a:latin typeface="Calibri" pitchFamily="34" charset="0"/>
                <a:ea typeface="Calibri" pitchFamily="34" charset="-122"/>
                <a:cs typeface="Calibri" pitchFamily="34" charset="-120"/>
              </a:rPr>
              <a:t>SuperAgent + 10 sub-agents</a:t>
            </a:r>
            <a:endParaRPr lang="en-US" sz="1000"/>
          </a:p>
        </p:txBody>
      </p:sp>
      <p:sp>
        <p:nvSpPr>
          <p:cNvPr id="15" name="Shape 13"/>
          <p:cNvSpPr/>
          <p:nvPr/>
        </p:nvSpPr>
        <p:spPr>
          <a:xfrm>
            <a:off x="457200" y="3520440"/>
            <a:ext cx="4114800" cy="1005840"/>
          </a:xfrm>
          <a:prstGeom prst="rect">
            <a:avLst/>
          </a:prstGeom>
          <a:solidFill>
            <a:srgbClr val="102B5A"/>
          </a:solidFill>
          <a:ln/>
          <a:effectLst>
            <a:outerShdw blurRad="76200" dist="25400" dir="8100000" algn="bl" rotWithShape="0">
              <a:srgbClr val="000000">
                <a:alpha val="30000"/>
              </a:srgbClr>
            </a:outerShdw>
          </a:effectLst>
        </p:spPr>
        <p:txBody>
          <a:bodyPr/>
          <a:lstStyle/>
          <a:p>
            <a:endParaRPr lang="en-US"/>
          </a:p>
        </p:txBody>
      </p:sp>
      <p:sp>
        <p:nvSpPr>
          <p:cNvPr id="16" name="Shape 14"/>
          <p:cNvSpPr/>
          <p:nvPr/>
        </p:nvSpPr>
        <p:spPr>
          <a:xfrm>
            <a:off x="457200" y="3520440"/>
            <a:ext cx="54864" cy="1005840"/>
          </a:xfrm>
          <a:prstGeom prst="rect">
            <a:avLst/>
          </a:prstGeom>
          <a:solidFill>
            <a:srgbClr val="00C2C7"/>
          </a:solidFill>
          <a:ln/>
        </p:spPr>
        <p:txBody>
          <a:bodyPr/>
          <a:lstStyle/>
          <a:p>
            <a:endParaRPr lang="en-US"/>
          </a:p>
        </p:txBody>
      </p:sp>
      <p:sp>
        <p:nvSpPr>
          <p:cNvPr id="17" name="Text 15"/>
          <p:cNvSpPr/>
          <p:nvPr/>
        </p:nvSpPr>
        <p:spPr>
          <a:xfrm>
            <a:off x="621792" y="3593592"/>
            <a:ext cx="548640" cy="320040"/>
          </a:xfrm>
          <a:prstGeom prst="rect">
            <a:avLst/>
          </a:prstGeom>
          <a:noFill/>
          <a:ln/>
        </p:spPr>
        <p:txBody>
          <a:bodyPr wrap="square" lIns="0" tIns="0" rIns="0" bIns="0" rtlCol="0" anchor="ctr"/>
          <a:lstStyle/>
          <a:p>
            <a:pPr marL="0" indent="0">
              <a:buNone/>
            </a:pPr>
            <a:r>
              <a:rPr lang="en-US" sz="1800" b="1">
                <a:solidFill>
                  <a:srgbClr val="00C2C7"/>
                </a:solidFill>
                <a:latin typeface="Calibri" pitchFamily="34" charset="0"/>
                <a:ea typeface="Calibri" pitchFamily="34" charset="-122"/>
                <a:cs typeface="Calibri" pitchFamily="34" charset="-120"/>
              </a:rPr>
              <a:t>03</a:t>
            </a:r>
            <a:endParaRPr lang="en-US" sz="1800"/>
          </a:p>
        </p:txBody>
      </p:sp>
      <p:sp>
        <p:nvSpPr>
          <p:cNvPr id="18" name="Text 16"/>
          <p:cNvSpPr/>
          <p:nvPr/>
        </p:nvSpPr>
        <p:spPr>
          <a:xfrm>
            <a:off x="621792" y="3904488"/>
            <a:ext cx="3657600" cy="320040"/>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Tech Stack &amp; Implementation</a:t>
            </a:r>
            <a:endParaRPr lang="en-US" sz="1400"/>
          </a:p>
        </p:txBody>
      </p:sp>
      <p:sp>
        <p:nvSpPr>
          <p:cNvPr id="19" name="Text 17"/>
          <p:cNvSpPr/>
          <p:nvPr/>
        </p:nvSpPr>
        <p:spPr>
          <a:xfrm>
            <a:off x="621792" y="4178808"/>
            <a:ext cx="3749040" cy="256032"/>
          </a:xfrm>
          <a:prstGeom prst="rect">
            <a:avLst/>
          </a:prstGeom>
          <a:noFill/>
          <a:ln/>
        </p:spPr>
        <p:txBody>
          <a:bodyPr wrap="square" lIns="0" tIns="0" rIns="0" bIns="0" rtlCol="0" anchor="ctr"/>
          <a:lstStyle/>
          <a:p>
            <a:pPr marL="0" indent="0">
              <a:buNone/>
            </a:pPr>
            <a:r>
              <a:rPr lang="en-US" sz="1000">
                <a:solidFill>
                  <a:srgbClr val="94A3B8"/>
                </a:solidFill>
                <a:latin typeface="Calibri" pitchFamily="34" charset="0"/>
                <a:ea typeface="Calibri" pitchFamily="34" charset="-122"/>
                <a:cs typeface="Calibri" pitchFamily="34" charset="-120"/>
              </a:rPr>
              <a:t>Stack, demo, and key decisions</a:t>
            </a:r>
            <a:endParaRPr lang="en-US" sz="1000"/>
          </a:p>
        </p:txBody>
      </p:sp>
      <p:sp>
        <p:nvSpPr>
          <p:cNvPr id="20" name="Shape 18"/>
          <p:cNvSpPr/>
          <p:nvPr/>
        </p:nvSpPr>
        <p:spPr>
          <a:xfrm>
            <a:off x="4846320" y="1051560"/>
            <a:ext cx="4114800" cy="1005840"/>
          </a:xfrm>
          <a:prstGeom prst="rect">
            <a:avLst/>
          </a:prstGeom>
          <a:solidFill>
            <a:srgbClr val="102B5A"/>
          </a:solidFill>
          <a:ln/>
          <a:effectLst>
            <a:outerShdw blurRad="76200" dist="25400" dir="8100000" algn="bl" rotWithShape="0">
              <a:srgbClr val="000000">
                <a:alpha val="30000"/>
              </a:srgbClr>
            </a:outerShdw>
          </a:effectLst>
        </p:spPr>
        <p:txBody>
          <a:bodyPr/>
          <a:lstStyle/>
          <a:p>
            <a:endParaRPr lang="en-US"/>
          </a:p>
        </p:txBody>
      </p:sp>
      <p:sp>
        <p:nvSpPr>
          <p:cNvPr id="21" name="Shape 19"/>
          <p:cNvSpPr/>
          <p:nvPr/>
        </p:nvSpPr>
        <p:spPr>
          <a:xfrm>
            <a:off x="4846320" y="1051560"/>
            <a:ext cx="54864" cy="1005840"/>
          </a:xfrm>
          <a:prstGeom prst="rect">
            <a:avLst/>
          </a:prstGeom>
          <a:solidFill>
            <a:srgbClr val="00C2C7"/>
          </a:solidFill>
          <a:ln/>
        </p:spPr>
        <p:txBody>
          <a:bodyPr/>
          <a:lstStyle/>
          <a:p>
            <a:endParaRPr lang="en-US"/>
          </a:p>
        </p:txBody>
      </p:sp>
      <p:sp>
        <p:nvSpPr>
          <p:cNvPr id="22" name="Text 20"/>
          <p:cNvSpPr/>
          <p:nvPr/>
        </p:nvSpPr>
        <p:spPr>
          <a:xfrm>
            <a:off x="5010912" y="1124712"/>
            <a:ext cx="548640" cy="320040"/>
          </a:xfrm>
          <a:prstGeom prst="rect">
            <a:avLst/>
          </a:prstGeom>
          <a:noFill/>
          <a:ln/>
        </p:spPr>
        <p:txBody>
          <a:bodyPr wrap="square" lIns="0" tIns="0" rIns="0" bIns="0" rtlCol="0" anchor="ctr"/>
          <a:lstStyle/>
          <a:p>
            <a:pPr marL="0" indent="0">
              <a:buNone/>
            </a:pPr>
            <a:r>
              <a:rPr lang="en-US" sz="1800" b="1">
                <a:solidFill>
                  <a:srgbClr val="00C2C7"/>
                </a:solidFill>
                <a:latin typeface="Calibri" pitchFamily="34" charset="0"/>
                <a:ea typeface="Calibri" pitchFamily="34" charset="-122"/>
                <a:cs typeface="Calibri" pitchFamily="34" charset="-120"/>
              </a:rPr>
              <a:t>04</a:t>
            </a:r>
            <a:endParaRPr lang="en-US" sz="1800"/>
          </a:p>
        </p:txBody>
      </p:sp>
      <p:sp>
        <p:nvSpPr>
          <p:cNvPr id="23" name="Text 21"/>
          <p:cNvSpPr/>
          <p:nvPr/>
        </p:nvSpPr>
        <p:spPr>
          <a:xfrm>
            <a:off x="5010912" y="1435608"/>
            <a:ext cx="3657600" cy="320040"/>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Research Foundation &amp; Dev Process</a:t>
            </a:r>
            <a:endParaRPr lang="en-US" sz="1400"/>
          </a:p>
        </p:txBody>
      </p:sp>
      <p:sp>
        <p:nvSpPr>
          <p:cNvPr id="24" name="Text 22"/>
          <p:cNvSpPr/>
          <p:nvPr/>
        </p:nvSpPr>
        <p:spPr>
          <a:xfrm>
            <a:off x="5010912" y="1709928"/>
            <a:ext cx="3749040" cy="256032"/>
          </a:xfrm>
          <a:prstGeom prst="rect">
            <a:avLst/>
          </a:prstGeom>
          <a:noFill/>
          <a:ln/>
        </p:spPr>
        <p:txBody>
          <a:bodyPr wrap="square" lIns="0" tIns="0" rIns="0" bIns="0" rtlCol="0" anchor="ctr"/>
          <a:lstStyle/>
          <a:p>
            <a:pPr marL="0" indent="0">
              <a:buNone/>
            </a:pPr>
            <a:r>
              <a:rPr lang="en-US" sz="1000">
                <a:solidFill>
                  <a:srgbClr val="94A3B8"/>
                </a:solidFill>
                <a:latin typeface="Calibri" pitchFamily="34" charset="0"/>
                <a:ea typeface="Calibri" pitchFamily="34" charset="-122"/>
                <a:cs typeface="Calibri" pitchFamily="34" charset="-120"/>
              </a:rPr>
              <a:t>ADK, academic grounding, AI-assisted coding</a:t>
            </a:r>
            <a:endParaRPr lang="en-US" sz="1000"/>
          </a:p>
        </p:txBody>
      </p:sp>
      <p:sp>
        <p:nvSpPr>
          <p:cNvPr id="25" name="Shape 23"/>
          <p:cNvSpPr/>
          <p:nvPr/>
        </p:nvSpPr>
        <p:spPr>
          <a:xfrm>
            <a:off x="4846320" y="2286000"/>
            <a:ext cx="4114800" cy="1005840"/>
          </a:xfrm>
          <a:prstGeom prst="rect">
            <a:avLst/>
          </a:prstGeom>
          <a:solidFill>
            <a:srgbClr val="102B5A"/>
          </a:solidFill>
          <a:ln/>
          <a:effectLst>
            <a:outerShdw blurRad="76200" dist="25400" dir="8100000" algn="bl" rotWithShape="0">
              <a:srgbClr val="000000">
                <a:alpha val="30000"/>
              </a:srgbClr>
            </a:outerShdw>
          </a:effectLst>
        </p:spPr>
        <p:txBody>
          <a:bodyPr/>
          <a:lstStyle/>
          <a:p>
            <a:endParaRPr lang="en-US"/>
          </a:p>
        </p:txBody>
      </p:sp>
      <p:sp>
        <p:nvSpPr>
          <p:cNvPr id="26" name="Shape 24"/>
          <p:cNvSpPr/>
          <p:nvPr/>
        </p:nvSpPr>
        <p:spPr>
          <a:xfrm>
            <a:off x="4846320" y="2286000"/>
            <a:ext cx="54864" cy="1005840"/>
          </a:xfrm>
          <a:prstGeom prst="rect">
            <a:avLst/>
          </a:prstGeom>
          <a:solidFill>
            <a:srgbClr val="00C2C7"/>
          </a:solidFill>
          <a:ln/>
        </p:spPr>
        <p:txBody>
          <a:bodyPr/>
          <a:lstStyle/>
          <a:p>
            <a:endParaRPr lang="en-US"/>
          </a:p>
        </p:txBody>
      </p:sp>
      <p:sp>
        <p:nvSpPr>
          <p:cNvPr id="27" name="Text 25"/>
          <p:cNvSpPr/>
          <p:nvPr/>
        </p:nvSpPr>
        <p:spPr>
          <a:xfrm>
            <a:off x="5010912" y="2359152"/>
            <a:ext cx="548640" cy="320040"/>
          </a:xfrm>
          <a:prstGeom prst="rect">
            <a:avLst/>
          </a:prstGeom>
          <a:noFill/>
          <a:ln/>
        </p:spPr>
        <p:txBody>
          <a:bodyPr wrap="square" lIns="0" tIns="0" rIns="0" bIns="0" rtlCol="0" anchor="ctr"/>
          <a:lstStyle/>
          <a:p>
            <a:pPr marL="0" indent="0">
              <a:buNone/>
            </a:pPr>
            <a:r>
              <a:rPr lang="en-US" sz="1800" b="1">
                <a:solidFill>
                  <a:srgbClr val="00C2C7"/>
                </a:solidFill>
                <a:latin typeface="Calibri" pitchFamily="34" charset="0"/>
                <a:ea typeface="Calibri" pitchFamily="34" charset="-122"/>
                <a:cs typeface="Calibri" pitchFamily="34" charset="-120"/>
              </a:rPr>
              <a:t>05</a:t>
            </a:r>
            <a:endParaRPr lang="en-US" sz="1800"/>
          </a:p>
        </p:txBody>
      </p:sp>
      <p:sp>
        <p:nvSpPr>
          <p:cNvPr id="28" name="Text 26"/>
          <p:cNvSpPr/>
          <p:nvPr/>
        </p:nvSpPr>
        <p:spPr>
          <a:xfrm>
            <a:off x="5010912" y="2670048"/>
            <a:ext cx="3657600" cy="320040"/>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Comcast Relevance</a:t>
            </a:r>
            <a:endParaRPr lang="en-US" sz="1400"/>
          </a:p>
        </p:txBody>
      </p:sp>
      <p:sp>
        <p:nvSpPr>
          <p:cNvPr id="29" name="Text 27"/>
          <p:cNvSpPr/>
          <p:nvPr/>
        </p:nvSpPr>
        <p:spPr>
          <a:xfrm>
            <a:off x="5010912" y="2944368"/>
            <a:ext cx="3749040" cy="256032"/>
          </a:xfrm>
          <a:prstGeom prst="rect">
            <a:avLst/>
          </a:prstGeom>
          <a:noFill/>
          <a:ln/>
        </p:spPr>
        <p:txBody>
          <a:bodyPr wrap="square" lIns="0" tIns="0" rIns="0" bIns="0" rtlCol="0" anchor="ctr"/>
          <a:lstStyle/>
          <a:p>
            <a:pPr marL="0" indent="0">
              <a:buNone/>
            </a:pPr>
            <a:r>
              <a:rPr lang="en-US" sz="1000">
                <a:solidFill>
                  <a:srgbClr val="94A3B8"/>
                </a:solidFill>
                <a:latin typeface="Calibri" pitchFamily="34" charset="0"/>
                <a:ea typeface="Calibri" pitchFamily="34" charset="-122"/>
                <a:cs typeface="Calibri" pitchFamily="34" charset="-120"/>
              </a:rPr>
              <a:t>SMB segment, Comcast Business opportunities</a:t>
            </a:r>
            <a:endParaRPr lang="en-US" sz="1000"/>
          </a:p>
        </p:txBody>
      </p:sp>
      <p:sp>
        <p:nvSpPr>
          <p:cNvPr id="30" name="Shape 28"/>
          <p:cNvSpPr/>
          <p:nvPr/>
        </p:nvSpPr>
        <p:spPr>
          <a:xfrm>
            <a:off x="4846320" y="3520440"/>
            <a:ext cx="4114800" cy="1005840"/>
          </a:xfrm>
          <a:prstGeom prst="rect">
            <a:avLst/>
          </a:prstGeom>
          <a:solidFill>
            <a:srgbClr val="102B5A"/>
          </a:solidFill>
          <a:ln/>
          <a:effectLst>
            <a:outerShdw blurRad="76200" dist="25400" dir="8100000" algn="bl" rotWithShape="0">
              <a:srgbClr val="000000">
                <a:alpha val="30000"/>
              </a:srgbClr>
            </a:outerShdw>
          </a:effectLst>
        </p:spPr>
        <p:txBody>
          <a:bodyPr/>
          <a:lstStyle/>
          <a:p>
            <a:endParaRPr lang="en-US"/>
          </a:p>
        </p:txBody>
      </p:sp>
      <p:sp>
        <p:nvSpPr>
          <p:cNvPr id="31" name="Shape 29"/>
          <p:cNvSpPr/>
          <p:nvPr/>
        </p:nvSpPr>
        <p:spPr>
          <a:xfrm>
            <a:off x="4846320" y="3520440"/>
            <a:ext cx="54864" cy="1005840"/>
          </a:xfrm>
          <a:prstGeom prst="rect">
            <a:avLst/>
          </a:prstGeom>
          <a:solidFill>
            <a:srgbClr val="00C2C7"/>
          </a:solidFill>
          <a:ln/>
        </p:spPr>
        <p:txBody>
          <a:bodyPr/>
          <a:lstStyle/>
          <a:p>
            <a:endParaRPr lang="en-US"/>
          </a:p>
        </p:txBody>
      </p:sp>
      <p:sp>
        <p:nvSpPr>
          <p:cNvPr id="32" name="Text 30"/>
          <p:cNvSpPr/>
          <p:nvPr/>
        </p:nvSpPr>
        <p:spPr>
          <a:xfrm>
            <a:off x="5010912" y="3593592"/>
            <a:ext cx="548640" cy="320040"/>
          </a:xfrm>
          <a:prstGeom prst="rect">
            <a:avLst/>
          </a:prstGeom>
          <a:noFill/>
          <a:ln/>
        </p:spPr>
        <p:txBody>
          <a:bodyPr wrap="square" lIns="0" tIns="0" rIns="0" bIns="0" rtlCol="0" anchor="ctr"/>
          <a:lstStyle/>
          <a:p>
            <a:pPr marL="0" indent="0">
              <a:buNone/>
            </a:pPr>
            <a:r>
              <a:rPr lang="en-US" sz="1800" b="1">
                <a:solidFill>
                  <a:srgbClr val="00C2C7"/>
                </a:solidFill>
                <a:latin typeface="Calibri" pitchFamily="34" charset="0"/>
                <a:ea typeface="Calibri" pitchFamily="34" charset="-122"/>
                <a:cs typeface="Calibri" pitchFamily="34" charset="-120"/>
              </a:rPr>
              <a:t>06</a:t>
            </a:r>
            <a:endParaRPr lang="en-US" sz="1800"/>
          </a:p>
        </p:txBody>
      </p:sp>
      <p:sp>
        <p:nvSpPr>
          <p:cNvPr id="33" name="Text 31"/>
          <p:cNvSpPr/>
          <p:nvPr/>
        </p:nvSpPr>
        <p:spPr>
          <a:xfrm>
            <a:off x="5010912" y="3904488"/>
            <a:ext cx="3657600" cy="320040"/>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Work Done</a:t>
            </a:r>
            <a:endParaRPr lang="en-US" sz="1400"/>
          </a:p>
        </p:txBody>
      </p:sp>
      <p:sp>
        <p:nvSpPr>
          <p:cNvPr id="34" name="Text 27">
            <a:extLst>
              <a:ext uri="{FF2B5EF4-FFF2-40B4-BE49-F238E27FC236}">
                <a16:creationId xmlns:a16="http://schemas.microsoft.com/office/drawing/2014/main" id="{809BBFCC-D392-4A11-61D8-B30CF5828F80}"/>
              </a:ext>
            </a:extLst>
          </p:cNvPr>
          <p:cNvSpPr/>
          <p:nvPr/>
        </p:nvSpPr>
        <p:spPr>
          <a:xfrm>
            <a:off x="5010912" y="4198212"/>
            <a:ext cx="3749040" cy="256032"/>
          </a:xfrm>
          <a:prstGeom prst="rect">
            <a:avLst/>
          </a:prstGeom>
          <a:noFill/>
          <a:ln/>
        </p:spPr>
        <p:txBody>
          <a:bodyPr wrap="square" lIns="0" tIns="0" rIns="0" bIns="0" rtlCol="0" anchor="ctr"/>
          <a:lstStyle/>
          <a:p>
            <a:pPr marL="0" indent="0">
              <a:buNone/>
            </a:pPr>
            <a:r>
              <a:rPr lang="en-US" sz="1000">
                <a:solidFill>
                  <a:srgbClr val="94A3B8"/>
                </a:solidFill>
                <a:latin typeface="Calibri" pitchFamily="34" charset="0"/>
                <a:ea typeface="Calibri" pitchFamily="34" charset="-122"/>
                <a:cs typeface="Calibri" pitchFamily="34" charset="-120"/>
              </a:rPr>
              <a:t>The team</a:t>
            </a:r>
            <a:endParaRPr lang="en-US" sz="1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3E"/>
        </a:solidFill>
        <a:effectLst/>
      </p:bgPr>
    </p:bg>
    <p:spTree>
      <p:nvGrpSpPr>
        <p:cNvPr id="1" name=""/>
        <p:cNvGrpSpPr/>
        <p:nvPr/>
      </p:nvGrpSpPr>
      <p:grpSpPr>
        <a:xfrm>
          <a:off x="0" y="0"/>
          <a:ext cx="0" cy="0"/>
          <a:chOff x="0" y="0"/>
          <a:chExt cx="0" cy="0"/>
        </a:xfrm>
      </p:grpSpPr>
      <p:sp>
        <p:nvSpPr>
          <p:cNvPr id="2" name="Text 0"/>
          <p:cNvSpPr/>
          <p:nvPr/>
        </p:nvSpPr>
        <p:spPr>
          <a:xfrm>
            <a:off x="8686800" y="4800600"/>
            <a:ext cx="365760" cy="228600"/>
          </a:xfrm>
          <a:prstGeom prst="rect">
            <a:avLst/>
          </a:prstGeom>
          <a:noFill/>
          <a:ln/>
        </p:spPr>
        <p:txBody>
          <a:bodyPr wrap="square" rtlCol="0" anchor="ctr"/>
          <a:lstStyle/>
          <a:p>
            <a:pPr marL="0" indent="0" algn="r">
              <a:buNone/>
            </a:pPr>
            <a:r>
              <a:rPr lang="en-US" sz="900">
                <a:solidFill>
                  <a:srgbClr val="94A3B8"/>
                </a:solidFill>
              </a:rPr>
              <a:t>3</a:t>
            </a:r>
            <a:endParaRPr lang="en-US" sz="900"/>
          </a:p>
        </p:txBody>
      </p:sp>
      <p:sp>
        <p:nvSpPr>
          <p:cNvPr id="3" name="Text 1"/>
          <p:cNvSpPr/>
          <p:nvPr/>
        </p:nvSpPr>
        <p:spPr>
          <a:xfrm>
            <a:off x="457200" y="228600"/>
            <a:ext cx="8229600" cy="457200"/>
          </a:xfrm>
          <a:prstGeom prst="rect">
            <a:avLst/>
          </a:prstGeom>
          <a:noFill/>
          <a:ln/>
        </p:spPr>
        <p:txBody>
          <a:bodyPr wrap="square" rtlCol="0" anchor="ctr"/>
          <a:lstStyle/>
          <a:p>
            <a:pPr marL="0" indent="0">
              <a:buNone/>
            </a:pPr>
            <a:r>
              <a:rPr lang="en-US" sz="3000" b="1">
                <a:solidFill>
                  <a:srgbClr val="FFFFFF"/>
                </a:solidFill>
                <a:latin typeface="Calibri" pitchFamily="34" charset="0"/>
                <a:ea typeface="Calibri" pitchFamily="34" charset="-122"/>
                <a:cs typeface="Calibri" pitchFamily="34" charset="-120"/>
              </a:rPr>
              <a:t>The Problem</a:t>
            </a:r>
            <a:endParaRPr lang="en-US" sz="3000"/>
          </a:p>
        </p:txBody>
      </p:sp>
      <p:sp>
        <p:nvSpPr>
          <p:cNvPr id="4" name="Shape 2"/>
          <p:cNvSpPr/>
          <p:nvPr/>
        </p:nvSpPr>
        <p:spPr>
          <a:xfrm>
            <a:off x="457200" y="777240"/>
            <a:ext cx="8229600" cy="1371600"/>
          </a:xfrm>
          <a:prstGeom prst="rect">
            <a:avLst/>
          </a:prstGeom>
          <a:solidFill>
            <a:srgbClr val="1A0A0A"/>
          </a:solidFill>
          <a:ln/>
          <a:effectLst>
            <a:outerShdw blurRad="127000" dist="38100" dir="8100000" algn="bl" rotWithShape="0">
              <a:srgbClr val="000000">
                <a:alpha val="50000"/>
              </a:srgbClr>
            </a:outerShdw>
          </a:effectLst>
        </p:spPr>
        <p:txBody>
          <a:bodyPr/>
          <a:lstStyle/>
          <a:p>
            <a:endParaRPr lang="en-US"/>
          </a:p>
        </p:txBody>
      </p:sp>
      <p:sp>
        <p:nvSpPr>
          <p:cNvPr id="5" name="Shape 3"/>
          <p:cNvSpPr/>
          <p:nvPr/>
        </p:nvSpPr>
        <p:spPr>
          <a:xfrm>
            <a:off x="457200" y="777240"/>
            <a:ext cx="91440" cy="1371600"/>
          </a:xfrm>
          <a:prstGeom prst="rect">
            <a:avLst/>
          </a:prstGeom>
          <a:solidFill>
            <a:srgbClr val="E84040"/>
          </a:solidFill>
          <a:ln/>
        </p:spPr>
        <p:txBody>
          <a:bodyPr/>
          <a:lstStyle/>
          <a:p>
            <a:endParaRPr lang="en-US"/>
          </a:p>
        </p:txBody>
      </p:sp>
      <p:sp>
        <p:nvSpPr>
          <p:cNvPr id="6" name="Text 4"/>
          <p:cNvSpPr/>
          <p:nvPr/>
        </p:nvSpPr>
        <p:spPr>
          <a:xfrm>
            <a:off x="685800" y="822960"/>
            <a:ext cx="7863840" cy="1280160"/>
          </a:xfrm>
          <a:prstGeom prst="rect">
            <a:avLst/>
          </a:prstGeom>
          <a:noFill/>
          <a:ln/>
        </p:spPr>
        <p:txBody>
          <a:bodyPr wrap="square" rtlCol="0" anchor="ctr"/>
          <a:lstStyle/>
          <a:p>
            <a:pPr marL="0" indent="0">
              <a:buNone/>
            </a:pPr>
            <a:r>
              <a:rPr lang="en-US" sz="1600" b="1">
                <a:solidFill>
                  <a:srgbClr val="FFFFFF"/>
                </a:solidFill>
                <a:latin typeface="Calibri" pitchFamily="34" charset="0"/>
                <a:ea typeface="Calibri" pitchFamily="34" charset="-122"/>
                <a:cs typeface="Calibri" pitchFamily="34" charset="-120"/>
              </a:rPr>
              <a:t>A sales rep walks into a call with a mid-market prospect.
</a:t>
            </a:r>
            <a:r>
              <a:rPr lang="en-US" sz="1400" i="1">
                <a:solidFill>
                  <a:srgbClr val="F0A0A0"/>
                </a:solidFill>
                <a:latin typeface="Calibri" pitchFamily="34" charset="0"/>
                <a:ea typeface="Calibri" pitchFamily="34" charset="-122"/>
                <a:cs typeface="Calibri" pitchFamily="34" charset="-120"/>
              </a:rPr>
              <a:t>The prospect asks: "Can you connect our 8 locations in the Southeast with guaranteed SLAs?"
</a:t>
            </a:r>
            <a:r>
              <a:rPr lang="en-US" sz="1300">
                <a:solidFill>
                  <a:srgbClr val="94A3B8"/>
                </a:solidFill>
                <a:latin typeface="Calibri" pitchFamily="34" charset="0"/>
                <a:ea typeface="Calibri" pitchFamily="34" charset="-122"/>
                <a:cs typeface="Calibri" pitchFamily="34" charset="-120"/>
              </a:rPr>
              <a:t>The rep opens 4 internal tools, 2 spreadsheets, and shoots a Slack to the solutions engineer.
</a:t>
            </a:r>
            <a:r>
              <a:rPr lang="en-US" sz="1300" b="1">
                <a:solidFill>
                  <a:srgbClr val="E84040"/>
                </a:solidFill>
                <a:latin typeface="Calibri" pitchFamily="34" charset="0"/>
                <a:ea typeface="Calibri" pitchFamily="34" charset="-122"/>
                <a:cs typeface="Calibri" pitchFamily="34" charset="-120"/>
              </a:rPr>
              <a:t>The prospect emails a competitor while waiting.</a:t>
            </a:r>
            <a:endParaRPr lang="en-US" sz="1600"/>
          </a:p>
        </p:txBody>
      </p:sp>
      <p:sp>
        <p:nvSpPr>
          <p:cNvPr id="7" name="Shape 5"/>
          <p:cNvSpPr/>
          <p:nvPr/>
        </p:nvSpPr>
        <p:spPr>
          <a:xfrm>
            <a:off x="457200" y="2331720"/>
            <a:ext cx="2743200" cy="2514600"/>
          </a:xfrm>
          <a:prstGeom prst="rect">
            <a:avLst/>
          </a:prstGeom>
          <a:solidFill>
            <a:srgbClr val="102B5A"/>
          </a:solidFill>
          <a:ln/>
          <a:effectLst>
            <a:outerShdw blurRad="101600" dist="25400" dir="8100000" algn="bl" rotWithShape="0">
              <a:srgbClr val="000000">
                <a:alpha val="35000"/>
              </a:srgbClr>
            </a:outerShdw>
          </a:effectLst>
        </p:spPr>
        <p:txBody>
          <a:bodyPr/>
          <a:lstStyle/>
          <a:p>
            <a:endParaRPr lang="en-US"/>
          </a:p>
        </p:txBody>
      </p:sp>
      <p:sp>
        <p:nvSpPr>
          <p:cNvPr id="8" name="Shape 6"/>
          <p:cNvSpPr/>
          <p:nvPr/>
        </p:nvSpPr>
        <p:spPr>
          <a:xfrm>
            <a:off x="457200" y="2331720"/>
            <a:ext cx="2743200" cy="54864"/>
          </a:xfrm>
          <a:prstGeom prst="rect">
            <a:avLst/>
          </a:prstGeom>
          <a:solidFill>
            <a:srgbClr val="E84040"/>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1554480" y="2514600"/>
            <a:ext cx="502920" cy="502920"/>
          </a:xfrm>
          <a:prstGeom prst="rect">
            <a:avLst/>
          </a:prstGeom>
        </p:spPr>
      </p:pic>
      <p:sp>
        <p:nvSpPr>
          <p:cNvPr id="10" name="Text 7"/>
          <p:cNvSpPr/>
          <p:nvPr/>
        </p:nvSpPr>
        <p:spPr>
          <a:xfrm>
            <a:off x="621792" y="3108960"/>
            <a:ext cx="2377440" cy="365760"/>
          </a:xfrm>
          <a:prstGeom prst="rect">
            <a:avLst/>
          </a:prstGeom>
          <a:noFill/>
          <a:ln/>
        </p:spPr>
        <p:txBody>
          <a:bodyPr wrap="square" lIns="0" tIns="0" rIns="0" bIns="0" rtlCol="0" anchor="ctr"/>
          <a:lstStyle/>
          <a:p>
            <a:pPr marL="0" indent="0">
              <a:buNone/>
            </a:pPr>
            <a:r>
              <a:rPr lang="en-US" sz="1500" b="1">
                <a:solidFill>
                  <a:srgbClr val="FFFFFF"/>
                </a:solidFill>
                <a:latin typeface="Calibri" pitchFamily="34" charset="0"/>
                <a:ea typeface="Calibri" pitchFamily="34" charset="-122"/>
                <a:cs typeface="Calibri" pitchFamily="34" charset="-120"/>
              </a:rPr>
              <a:t>RFP Hell</a:t>
            </a:r>
            <a:endParaRPr lang="en-US" sz="1500"/>
          </a:p>
        </p:txBody>
      </p:sp>
      <p:sp>
        <p:nvSpPr>
          <p:cNvPr id="11" name="Text 8"/>
          <p:cNvSpPr/>
          <p:nvPr/>
        </p:nvSpPr>
        <p:spPr>
          <a:xfrm>
            <a:off x="621792" y="3520440"/>
            <a:ext cx="2423160" cy="1188720"/>
          </a:xfrm>
          <a:prstGeom prst="rect">
            <a:avLst/>
          </a:prstGeom>
          <a:noFill/>
          <a:ln/>
        </p:spPr>
        <p:txBody>
          <a:bodyPr wrap="square" lIns="0" tIns="0" rIns="0" bIns="0" rtlCol="0" anchor="ctr"/>
          <a:lstStyle/>
          <a:p>
            <a:pPr marL="0" indent="0">
              <a:buNone/>
            </a:pPr>
            <a:r>
              <a:rPr lang="en-US" sz="1100">
                <a:solidFill>
                  <a:srgbClr val="E8F4F8"/>
                </a:solidFill>
                <a:latin typeface="Calibri" pitchFamily="34" charset="0"/>
                <a:ea typeface="Calibri" pitchFamily="34" charset="-122"/>
                <a:cs typeface="Calibri" pitchFamily="34" charset="-120"/>
              </a:rPr>
              <a:t>Avg B2B Telco RFP: 3–6 weeks. Reps manually stitch product specs, pricing, and eligibility — across siloed tools.</a:t>
            </a:r>
            <a:endParaRPr lang="en-US" sz="1100"/>
          </a:p>
        </p:txBody>
      </p:sp>
      <p:sp>
        <p:nvSpPr>
          <p:cNvPr id="12" name="Shape 9"/>
          <p:cNvSpPr/>
          <p:nvPr/>
        </p:nvSpPr>
        <p:spPr>
          <a:xfrm>
            <a:off x="3337560" y="2331720"/>
            <a:ext cx="2743200" cy="2514600"/>
          </a:xfrm>
          <a:prstGeom prst="rect">
            <a:avLst/>
          </a:prstGeom>
          <a:solidFill>
            <a:srgbClr val="102B5A"/>
          </a:solidFill>
          <a:ln/>
          <a:effectLst>
            <a:outerShdw blurRad="101600" dist="25400" dir="8100000" algn="bl" rotWithShape="0">
              <a:srgbClr val="000000">
                <a:alpha val="35000"/>
              </a:srgbClr>
            </a:outerShdw>
          </a:effectLst>
        </p:spPr>
        <p:txBody>
          <a:bodyPr/>
          <a:lstStyle/>
          <a:p>
            <a:endParaRPr lang="en-US"/>
          </a:p>
        </p:txBody>
      </p:sp>
      <p:sp>
        <p:nvSpPr>
          <p:cNvPr id="13" name="Shape 10"/>
          <p:cNvSpPr/>
          <p:nvPr/>
        </p:nvSpPr>
        <p:spPr>
          <a:xfrm>
            <a:off x="3337560" y="2331720"/>
            <a:ext cx="2743200" cy="54864"/>
          </a:xfrm>
          <a:prstGeom prst="rect">
            <a:avLst/>
          </a:prstGeom>
          <a:solidFill>
            <a:srgbClr val="F59E0B"/>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4434840" y="2514600"/>
            <a:ext cx="502920" cy="502920"/>
          </a:xfrm>
          <a:prstGeom prst="rect">
            <a:avLst/>
          </a:prstGeom>
        </p:spPr>
      </p:pic>
      <p:sp>
        <p:nvSpPr>
          <p:cNvPr id="15" name="Text 11"/>
          <p:cNvSpPr/>
          <p:nvPr/>
        </p:nvSpPr>
        <p:spPr>
          <a:xfrm>
            <a:off x="3502152" y="3108960"/>
            <a:ext cx="2377440" cy="365760"/>
          </a:xfrm>
          <a:prstGeom prst="rect">
            <a:avLst/>
          </a:prstGeom>
          <a:noFill/>
          <a:ln/>
        </p:spPr>
        <p:txBody>
          <a:bodyPr wrap="square" lIns="0" tIns="0" rIns="0" bIns="0" rtlCol="0" anchor="ctr"/>
          <a:lstStyle/>
          <a:p>
            <a:pPr marL="0" indent="0">
              <a:buNone/>
            </a:pPr>
            <a:r>
              <a:rPr lang="en-US" sz="1500" b="1">
                <a:solidFill>
                  <a:srgbClr val="FFFFFF"/>
                </a:solidFill>
                <a:latin typeface="Calibri" pitchFamily="34" charset="0"/>
                <a:ea typeface="Calibri" pitchFamily="34" charset="-122"/>
                <a:cs typeface="Calibri" pitchFamily="34" charset="-120"/>
              </a:rPr>
              <a:t>Product Complexity</a:t>
            </a:r>
            <a:endParaRPr lang="en-US" sz="1500"/>
          </a:p>
        </p:txBody>
      </p:sp>
      <p:sp>
        <p:nvSpPr>
          <p:cNvPr id="16" name="Text 12"/>
          <p:cNvSpPr/>
          <p:nvPr/>
        </p:nvSpPr>
        <p:spPr>
          <a:xfrm>
            <a:off x="3502152" y="3520440"/>
            <a:ext cx="2423160" cy="1188720"/>
          </a:xfrm>
          <a:prstGeom prst="rect">
            <a:avLst/>
          </a:prstGeom>
          <a:noFill/>
          <a:ln/>
        </p:spPr>
        <p:txBody>
          <a:bodyPr wrap="square" lIns="0" tIns="0" rIns="0" bIns="0" rtlCol="0" anchor="ctr"/>
          <a:lstStyle/>
          <a:p>
            <a:pPr marL="0" indent="0">
              <a:buNone/>
            </a:pPr>
            <a:r>
              <a:rPr lang="en-US" sz="1100">
                <a:solidFill>
                  <a:srgbClr val="E8F4F8"/>
                </a:solidFill>
                <a:latin typeface="Calibri" pitchFamily="34" charset="0"/>
                <a:ea typeface="Calibri" pitchFamily="34" charset="-122"/>
                <a:cs typeface="Calibri" pitchFamily="34" charset="-120"/>
              </a:rPr>
              <a:t>Hundreds of SKUs, bandwidth tiers, contract bundles. Reps can't hold it all. Customers wait. Deals slip.</a:t>
            </a:r>
            <a:endParaRPr lang="en-US" sz="1100"/>
          </a:p>
        </p:txBody>
      </p:sp>
      <p:sp>
        <p:nvSpPr>
          <p:cNvPr id="17" name="Shape 13"/>
          <p:cNvSpPr/>
          <p:nvPr/>
        </p:nvSpPr>
        <p:spPr>
          <a:xfrm>
            <a:off x="6217920" y="2331720"/>
            <a:ext cx="2743200" cy="2514600"/>
          </a:xfrm>
          <a:prstGeom prst="rect">
            <a:avLst/>
          </a:prstGeom>
          <a:solidFill>
            <a:srgbClr val="102B5A"/>
          </a:solidFill>
          <a:ln/>
          <a:effectLst>
            <a:outerShdw blurRad="101600" dist="25400" dir="8100000" algn="bl" rotWithShape="0">
              <a:srgbClr val="000000">
                <a:alpha val="35000"/>
              </a:srgbClr>
            </a:outerShdw>
          </a:effectLst>
        </p:spPr>
        <p:txBody>
          <a:bodyPr/>
          <a:lstStyle/>
          <a:p>
            <a:endParaRPr lang="en-US"/>
          </a:p>
        </p:txBody>
      </p:sp>
      <p:sp>
        <p:nvSpPr>
          <p:cNvPr id="18" name="Shape 14"/>
          <p:cNvSpPr/>
          <p:nvPr/>
        </p:nvSpPr>
        <p:spPr>
          <a:xfrm>
            <a:off x="6217920" y="2331720"/>
            <a:ext cx="2743200" cy="54864"/>
          </a:xfrm>
          <a:prstGeom prst="rect">
            <a:avLst/>
          </a:prstGeom>
          <a:solidFill>
            <a:srgbClr val="028090"/>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7315200" y="2514600"/>
            <a:ext cx="502920" cy="502920"/>
          </a:xfrm>
          <a:prstGeom prst="rect">
            <a:avLst/>
          </a:prstGeom>
        </p:spPr>
      </p:pic>
      <p:sp>
        <p:nvSpPr>
          <p:cNvPr id="20" name="Text 15"/>
          <p:cNvSpPr/>
          <p:nvPr/>
        </p:nvSpPr>
        <p:spPr>
          <a:xfrm>
            <a:off x="6382512" y="3108960"/>
            <a:ext cx="2377440" cy="365760"/>
          </a:xfrm>
          <a:prstGeom prst="rect">
            <a:avLst/>
          </a:prstGeom>
          <a:noFill/>
          <a:ln/>
        </p:spPr>
        <p:txBody>
          <a:bodyPr wrap="square" lIns="0" tIns="0" rIns="0" bIns="0" rtlCol="0" anchor="ctr"/>
          <a:lstStyle/>
          <a:p>
            <a:pPr marL="0" indent="0">
              <a:buNone/>
            </a:pPr>
            <a:r>
              <a:rPr lang="en-US" sz="1500" b="1">
                <a:solidFill>
                  <a:srgbClr val="FFFFFF"/>
                </a:solidFill>
                <a:latin typeface="Calibri" pitchFamily="34" charset="0"/>
                <a:ea typeface="Calibri" pitchFamily="34" charset="-122"/>
                <a:cs typeface="Calibri" pitchFamily="34" charset="-120"/>
              </a:rPr>
              <a:t>Broken Handoffs</a:t>
            </a:r>
            <a:endParaRPr lang="en-US" sz="1500"/>
          </a:p>
        </p:txBody>
      </p:sp>
      <p:sp>
        <p:nvSpPr>
          <p:cNvPr id="21" name="Text 16"/>
          <p:cNvSpPr/>
          <p:nvPr/>
        </p:nvSpPr>
        <p:spPr>
          <a:xfrm>
            <a:off x="6382512" y="3520440"/>
            <a:ext cx="2423160" cy="1188720"/>
          </a:xfrm>
          <a:prstGeom prst="rect">
            <a:avLst/>
          </a:prstGeom>
          <a:noFill/>
          <a:ln/>
        </p:spPr>
        <p:txBody>
          <a:bodyPr wrap="square" lIns="0" tIns="0" rIns="0" bIns="0" rtlCol="0" anchor="ctr"/>
          <a:lstStyle/>
          <a:p>
            <a:pPr marL="0" indent="0">
              <a:buNone/>
            </a:pPr>
            <a:r>
              <a:rPr lang="en-US" sz="1100">
                <a:solidFill>
                  <a:srgbClr val="E8F4F8"/>
                </a:solidFill>
                <a:latin typeface="Calibri" pitchFamily="34" charset="0"/>
                <a:ea typeface="Calibri" pitchFamily="34" charset="-122"/>
                <a:cs typeface="Calibri" pitchFamily="34" charset="-120"/>
              </a:rPr>
              <a:t>Discovery → Quoting → Order → Fulfillment — each step a different team, different system. Nothing talks to anything.</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6FA"/>
        </a:solidFill>
        <a:effectLst/>
      </p:bgPr>
    </p:bg>
    <p:spTree>
      <p:nvGrpSpPr>
        <p:cNvPr id="1" name=""/>
        <p:cNvGrpSpPr/>
        <p:nvPr/>
      </p:nvGrpSpPr>
      <p:grpSpPr>
        <a:xfrm>
          <a:off x="0" y="0"/>
          <a:ext cx="0" cy="0"/>
          <a:chOff x="0" y="0"/>
          <a:chExt cx="0" cy="0"/>
        </a:xfrm>
      </p:grpSpPr>
      <p:sp>
        <p:nvSpPr>
          <p:cNvPr id="2" name="Text 0"/>
          <p:cNvSpPr/>
          <p:nvPr/>
        </p:nvSpPr>
        <p:spPr>
          <a:xfrm>
            <a:off x="8686800" y="4800600"/>
            <a:ext cx="365760" cy="228600"/>
          </a:xfrm>
          <a:prstGeom prst="rect">
            <a:avLst/>
          </a:prstGeom>
          <a:noFill/>
          <a:ln/>
        </p:spPr>
        <p:txBody>
          <a:bodyPr wrap="square" rtlCol="0" anchor="ctr"/>
          <a:lstStyle/>
          <a:p>
            <a:pPr marL="0" indent="0" algn="r">
              <a:buNone/>
            </a:pPr>
            <a:r>
              <a:rPr lang="en-US" sz="900">
                <a:solidFill>
                  <a:srgbClr val="94A3B8"/>
                </a:solidFill>
              </a:rPr>
              <a:t>4</a:t>
            </a:r>
            <a:endParaRPr lang="en-US" sz="900"/>
          </a:p>
        </p:txBody>
      </p:sp>
      <p:sp>
        <p:nvSpPr>
          <p:cNvPr id="3" name="Text 1"/>
          <p:cNvSpPr/>
          <p:nvPr/>
        </p:nvSpPr>
        <p:spPr>
          <a:xfrm>
            <a:off x="457200" y="228600"/>
            <a:ext cx="8229600" cy="457200"/>
          </a:xfrm>
          <a:prstGeom prst="rect">
            <a:avLst/>
          </a:prstGeom>
          <a:noFill/>
          <a:ln/>
        </p:spPr>
        <p:txBody>
          <a:bodyPr wrap="square" rtlCol="0" anchor="ctr"/>
          <a:lstStyle/>
          <a:p>
            <a:pPr marL="0" indent="0">
              <a:buNone/>
            </a:pPr>
            <a:r>
              <a:rPr lang="en-US" sz="3000" b="1">
                <a:solidFill>
                  <a:srgbClr val="1E293B"/>
                </a:solidFill>
                <a:latin typeface="Calibri" pitchFamily="34" charset="0"/>
                <a:ea typeface="Calibri" pitchFamily="34" charset="-122"/>
                <a:cs typeface="Calibri" pitchFamily="34" charset="-120"/>
              </a:rPr>
              <a:t>The Solution</a:t>
            </a:r>
            <a:endParaRPr lang="en-US" sz="3000"/>
          </a:p>
        </p:txBody>
      </p:sp>
      <p:sp>
        <p:nvSpPr>
          <p:cNvPr id="4" name="Shape 2"/>
          <p:cNvSpPr/>
          <p:nvPr/>
        </p:nvSpPr>
        <p:spPr>
          <a:xfrm>
            <a:off x="457200" y="731520"/>
            <a:ext cx="8229600" cy="54864"/>
          </a:xfrm>
          <a:prstGeom prst="rect">
            <a:avLst/>
          </a:prstGeom>
          <a:solidFill>
            <a:srgbClr val="00C2C7"/>
          </a:solidFill>
          <a:ln/>
        </p:spPr>
        <p:txBody>
          <a:bodyPr/>
          <a:lstStyle/>
          <a:p>
            <a:endParaRPr lang="en-US"/>
          </a:p>
        </p:txBody>
      </p:sp>
      <p:sp>
        <p:nvSpPr>
          <p:cNvPr id="5" name="Text 3"/>
          <p:cNvSpPr/>
          <p:nvPr/>
        </p:nvSpPr>
        <p:spPr>
          <a:xfrm>
            <a:off x="457200" y="868680"/>
            <a:ext cx="8229600" cy="365760"/>
          </a:xfrm>
          <a:prstGeom prst="rect">
            <a:avLst/>
          </a:prstGeom>
          <a:noFill/>
          <a:ln/>
        </p:spPr>
        <p:txBody>
          <a:bodyPr wrap="square" rtlCol="0" anchor="ctr"/>
          <a:lstStyle/>
          <a:p>
            <a:pPr marL="0" indent="0">
              <a:buNone/>
            </a:pPr>
            <a:r>
              <a:rPr lang="en-US" sz="1500" i="1">
                <a:solidFill>
                  <a:srgbClr val="028090"/>
                </a:solidFill>
                <a:latin typeface="Calibri" pitchFamily="34" charset="0"/>
                <a:ea typeface="Calibri" pitchFamily="34" charset="-122"/>
                <a:cs typeface="Calibri" pitchFamily="34" charset="-120"/>
              </a:rPr>
              <a:t>One conversation. End-to-end. No human switching tools.</a:t>
            </a:r>
            <a:endParaRPr lang="en-US" sz="1500"/>
          </a:p>
        </p:txBody>
      </p:sp>
      <p:sp>
        <p:nvSpPr>
          <p:cNvPr id="6" name="Shape 4"/>
          <p:cNvSpPr/>
          <p:nvPr/>
        </p:nvSpPr>
        <p:spPr>
          <a:xfrm>
            <a:off x="457200" y="1325880"/>
            <a:ext cx="8229600" cy="1234440"/>
          </a:xfrm>
          <a:prstGeom prst="rect">
            <a:avLst/>
          </a:prstGeom>
          <a:solidFill>
            <a:srgbClr val="0D1B3E"/>
          </a:solidFill>
          <a:ln/>
          <a:effectLst>
            <a:outerShdw blurRad="127000" dist="38100" dir="8100000" algn="bl" rotWithShape="0">
              <a:srgbClr val="000000">
                <a:alpha val="15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685800" y="1417320"/>
            <a:ext cx="822960" cy="822960"/>
          </a:xfrm>
          <a:prstGeom prst="rect">
            <a:avLst/>
          </a:prstGeom>
        </p:spPr>
      </p:pic>
      <p:sp>
        <p:nvSpPr>
          <p:cNvPr id="8" name="Text 5"/>
          <p:cNvSpPr/>
          <p:nvPr/>
        </p:nvSpPr>
        <p:spPr>
          <a:xfrm>
            <a:off x="1691640" y="1371600"/>
            <a:ext cx="6858000" cy="1143000"/>
          </a:xfrm>
          <a:prstGeom prst="rect">
            <a:avLst/>
          </a:prstGeom>
          <a:noFill/>
          <a:ln/>
        </p:spPr>
        <p:txBody>
          <a:bodyPr wrap="square" rtlCol="0" anchor="ctr"/>
          <a:lstStyle/>
          <a:p>
            <a:pPr marL="0" indent="0">
              <a:buNone/>
            </a:pPr>
            <a:r>
              <a:rPr lang="en-US" sz="1600" b="1">
                <a:solidFill>
                  <a:srgbClr val="00C2C7"/>
                </a:solidFill>
                <a:latin typeface="Calibri" pitchFamily="34" charset="0"/>
                <a:ea typeface="Calibri" pitchFamily="34" charset="-122"/>
                <a:cs typeface="Calibri" pitchFamily="34" charset="-120"/>
              </a:rPr>
              <a:t>SuperAgent Orchestrator
</a:t>
            </a:r>
            <a:r>
              <a:rPr lang="en-US" sz="1200">
                <a:solidFill>
                  <a:srgbClr val="E8F4F8"/>
                </a:solidFill>
                <a:latin typeface="Calibri" pitchFamily="34" charset="0"/>
                <a:ea typeface="Calibri" pitchFamily="34" charset="-122"/>
                <a:cs typeface="Calibri" pitchFamily="34" charset="-120"/>
              </a:rPr>
              <a:t>A hierarchical multi-agent system where a central SuperAgent routes every user message to the right specialist sub-agent — instantly, with full session context preserved. No human handoffs. No tool switching. One conversation thread drives the entire sales lifecycle.</a:t>
            </a:r>
            <a:endParaRPr lang="en-US" sz="1600"/>
          </a:p>
        </p:txBody>
      </p:sp>
      <p:sp>
        <p:nvSpPr>
          <p:cNvPr id="9" name="Shape 6"/>
          <p:cNvSpPr/>
          <p:nvPr/>
        </p:nvSpPr>
        <p:spPr>
          <a:xfrm>
            <a:off x="320040" y="2743200"/>
            <a:ext cx="1325880" cy="1234440"/>
          </a:xfrm>
          <a:prstGeom prst="rect">
            <a:avLst/>
          </a:prstGeom>
          <a:solidFill>
            <a:srgbClr val="00C2C7"/>
          </a:solidFill>
          <a:ln/>
          <a:effectLst>
            <a:outerShdw blurRad="63500" dist="25400" dir="8100000" algn="bl" rotWithShape="0">
              <a:srgbClr val="000000">
                <a:alpha val="20000"/>
              </a:srgbClr>
            </a:outerShdw>
          </a:effectLst>
        </p:spPr>
        <p:txBody>
          <a:bodyPr/>
          <a:lstStyle/>
          <a:p>
            <a:endParaRPr lang="en-US"/>
          </a:p>
        </p:txBody>
      </p:sp>
      <p:sp>
        <p:nvSpPr>
          <p:cNvPr id="10" name="Text 7"/>
          <p:cNvSpPr/>
          <p:nvPr/>
        </p:nvSpPr>
        <p:spPr>
          <a:xfrm>
            <a:off x="320040" y="3063240"/>
            <a:ext cx="1325880" cy="640080"/>
          </a:xfrm>
          <a:prstGeom prst="rect">
            <a:avLst/>
          </a:prstGeom>
          <a:noFill/>
          <a:ln/>
        </p:spPr>
        <p:txBody>
          <a:bodyPr wrap="square" lIns="0" tIns="0" rIns="0" bIns="0" rtlCol="0" anchor="ctr"/>
          <a:lstStyle/>
          <a:p>
            <a:pPr marL="0" indent="0" algn="ctr">
              <a:buNone/>
            </a:pPr>
            <a:r>
              <a:rPr lang="en-US" sz="1100" b="1">
                <a:solidFill>
                  <a:srgbClr val="0D1B3E"/>
                </a:solidFill>
                <a:latin typeface="Calibri" pitchFamily="34" charset="0"/>
                <a:ea typeface="Calibri" pitchFamily="34" charset="-122"/>
                <a:cs typeface="Calibri" pitchFamily="34" charset="-120"/>
              </a:rPr>
              <a:t>Prospect</a:t>
            </a:r>
            <a:endParaRPr lang="en-US" sz="1100"/>
          </a:p>
          <a:p>
            <a:pPr marL="0" indent="0" algn="ctr">
              <a:buNone/>
            </a:pPr>
            <a:r>
              <a:rPr lang="en-US" sz="1100" b="1">
                <a:solidFill>
                  <a:srgbClr val="0D1B3E"/>
                </a:solidFill>
                <a:latin typeface="Calibri" pitchFamily="34" charset="0"/>
                <a:ea typeface="Calibri" pitchFamily="34" charset="-122"/>
                <a:cs typeface="Calibri" pitchFamily="34" charset="-120"/>
              </a:rPr>
              <a:t>Discovery</a:t>
            </a:r>
            <a:endParaRPr lang="en-US" sz="1100"/>
          </a:p>
        </p:txBody>
      </p:sp>
      <p:sp>
        <p:nvSpPr>
          <p:cNvPr id="11" name="Text 8"/>
          <p:cNvSpPr/>
          <p:nvPr/>
        </p:nvSpPr>
        <p:spPr>
          <a:xfrm>
            <a:off x="320040" y="2807208"/>
            <a:ext cx="1325880" cy="274320"/>
          </a:xfrm>
          <a:prstGeom prst="rect">
            <a:avLst/>
          </a:prstGeom>
          <a:noFill/>
          <a:ln/>
        </p:spPr>
        <p:txBody>
          <a:bodyPr wrap="square" lIns="0" tIns="0" rIns="0" bIns="0" rtlCol="0" anchor="ctr"/>
          <a:lstStyle/>
          <a:p>
            <a:pPr marL="0" indent="0" algn="ctr">
              <a:buNone/>
            </a:pPr>
            <a:r>
              <a:rPr lang="en-US" sz="1000">
                <a:solidFill>
                  <a:srgbClr val="0D4A5A"/>
                </a:solidFill>
                <a:latin typeface="Calibri" pitchFamily="34" charset="0"/>
                <a:ea typeface="Calibri" pitchFamily="34" charset="-122"/>
                <a:cs typeface="Calibri" pitchFamily="34" charset="-120"/>
              </a:rPr>
              <a:t>1</a:t>
            </a:r>
            <a:endParaRPr lang="en-US" sz="1000"/>
          </a:p>
        </p:txBody>
      </p:sp>
      <p:sp>
        <p:nvSpPr>
          <p:cNvPr id="12" name="Shape 9"/>
          <p:cNvSpPr/>
          <p:nvPr/>
        </p:nvSpPr>
        <p:spPr>
          <a:xfrm>
            <a:off x="1645920" y="3246120"/>
            <a:ext cx="164592" cy="73152"/>
          </a:xfrm>
          <a:prstGeom prst="rect">
            <a:avLst/>
          </a:prstGeom>
          <a:solidFill>
            <a:srgbClr val="00C2C7"/>
          </a:solidFill>
          <a:ln/>
        </p:spPr>
        <p:txBody>
          <a:bodyPr/>
          <a:lstStyle/>
          <a:p>
            <a:endParaRPr lang="en-US"/>
          </a:p>
        </p:txBody>
      </p:sp>
      <p:sp>
        <p:nvSpPr>
          <p:cNvPr id="13" name="Text 10"/>
          <p:cNvSpPr/>
          <p:nvPr/>
        </p:nvSpPr>
        <p:spPr>
          <a:xfrm>
            <a:off x="1682496" y="3127248"/>
            <a:ext cx="182880" cy="274320"/>
          </a:xfrm>
          <a:prstGeom prst="rect">
            <a:avLst/>
          </a:prstGeom>
          <a:noFill/>
          <a:ln/>
        </p:spPr>
        <p:txBody>
          <a:bodyPr wrap="square" lIns="0" tIns="0" rIns="0" bIns="0" rtlCol="0" anchor="ctr"/>
          <a:lstStyle/>
          <a:p>
            <a:pPr marL="0" indent="0" algn="ctr">
              <a:buNone/>
            </a:pPr>
            <a:r>
              <a:rPr lang="en-US" sz="1400">
                <a:solidFill>
                  <a:srgbClr val="00C2C7"/>
                </a:solidFill>
                <a:latin typeface="Calibri" pitchFamily="34" charset="0"/>
                <a:ea typeface="Calibri" pitchFamily="34" charset="-122"/>
                <a:cs typeface="Calibri" pitchFamily="34" charset="-120"/>
              </a:rPr>
              <a:t>›</a:t>
            </a:r>
            <a:endParaRPr lang="en-US" sz="1400"/>
          </a:p>
        </p:txBody>
      </p:sp>
      <p:sp>
        <p:nvSpPr>
          <p:cNvPr id="14" name="Shape 11"/>
          <p:cNvSpPr/>
          <p:nvPr/>
        </p:nvSpPr>
        <p:spPr>
          <a:xfrm>
            <a:off x="1810512" y="2743200"/>
            <a:ext cx="1325880" cy="1234440"/>
          </a:xfrm>
          <a:prstGeom prst="rect">
            <a:avLst/>
          </a:prstGeom>
          <a:solidFill>
            <a:srgbClr val="102B5A"/>
          </a:solidFill>
          <a:ln/>
          <a:effectLst>
            <a:outerShdw blurRad="63500" dist="25400" dir="8100000" algn="bl" rotWithShape="0">
              <a:srgbClr val="000000">
                <a:alpha val="20000"/>
              </a:srgbClr>
            </a:outerShdw>
          </a:effectLst>
        </p:spPr>
        <p:txBody>
          <a:bodyPr/>
          <a:lstStyle/>
          <a:p>
            <a:endParaRPr lang="en-US"/>
          </a:p>
        </p:txBody>
      </p:sp>
      <p:sp>
        <p:nvSpPr>
          <p:cNvPr id="15" name="Text 12"/>
          <p:cNvSpPr/>
          <p:nvPr/>
        </p:nvSpPr>
        <p:spPr>
          <a:xfrm>
            <a:off x="1810512" y="3063240"/>
            <a:ext cx="1325880" cy="640080"/>
          </a:xfrm>
          <a:prstGeom prst="rect">
            <a:avLst/>
          </a:prstGeom>
          <a:noFill/>
          <a:ln/>
        </p:spPr>
        <p:txBody>
          <a:bodyPr wrap="square" lIns="0" tIns="0" rIns="0" bIns="0" rtlCol="0" anchor="ctr"/>
          <a:lstStyle/>
          <a:p>
            <a:pPr marL="0" indent="0" algn="ctr">
              <a:buNone/>
            </a:pPr>
            <a:r>
              <a:rPr lang="en-US" sz="1100" b="1">
                <a:solidFill>
                  <a:srgbClr val="E8F4F8"/>
                </a:solidFill>
                <a:latin typeface="Calibri" pitchFamily="34" charset="0"/>
                <a:ea typeface="Calibri" pitchFamily="34" charset="-122"/>
                <a:cs typeface="Calibri" pitchFamily="34" charset="-120"/>
              </a:rPr>
              <a:t>Address</a:t>
            </a:r>
            <a:endParaRPr lang="en-US" sz="1100"/>
          </a:p>
          <a:p>
            <a:pPr marL="0" indent="0" algn="ctr">
              <a:buNone/>
            </a:pPr>
            <a:r>
              <a:rPr lang="en-US" sz="1100" b="1">
                <a:solidFill>
                  <a:srgbClr val="E8F4F8"/>
                </a:solidFill>
                <a:latin typeface="Calibri" pitchFamily="34" charset="0"/>
                <a:ea typeface="Calibri" pitchFamily="34" charset="-122"/>
                <a:cs typeface="Calibri" pitchFamily="34" charset="-120"/>
              </a:rPr>
              <a:t>Serviceability</a:t>
            </a:r>
            <a:endParaRPr lang="en-US" sz="1100"/>
          </a:p>
        </p:txBody>
      </p:sp>
      <p:sp>
        <p:nvSpPr>
          <p:cNvPr id="16" name="Text 13"/>
          <p:cNvSpPr/>
          <p:nvPr/>
        </p:nvSpPr>
        <p:spPr>
          <a:xfrm>
            <a:off x="1810512" y="2807208"/>
            <a:ext cx="1325880" cy="274320"/>
          </a:xfrm>
          <a:prstGeom prst="rect">
            <a:avLst/>
          </a:prstGeom>
          <a:noFill/>
          <a:ln/>
        </p:spPr>
        <p:txBody>
          <a:bodyPr wrap="square" lIns="0" tIns="0" rIns="0" bIns="0" rtlCol="0" anchor="ctr"/>
          <a:lstStyle/>
          <a:p>
            <a:pPr marL="0" indent="0" algn="ctr">
              <a:buNone/>
            </a:pPr>
            <a:r>
              <a:rPr lang="en-US" sz="1000">
                <a:solidFill>
                  <a:srgbClr val="00C2C7"/>
                </a:solidFill>
                <a:latin typeface="Calibri" pitchFamily="34" charset="0"/>
                <a:ea typeface="Calibri" pitchFamily="34" charset="-122"/>
                <a:cs typeface="Calibri" pitchFamily="34" charset="-120"/>
              </a:rPr>
              <a:t>2</a:t>
            </a:r>
            <a:endParaRPr lang="en-US" sz="1000"/>
          </a:p>
        </p:txBody>
      </p:sp>
      <p:sp>
        <p:nvSpPr>
          <p:cNvPr id="17" name="Shape 14"/>
          <p:cNvSpPr/>
          <p:nvPr/>
        </p:nvSpPr>
        <p:spPr>
          <a:xfrm>
            <a:off x="3136392" y="3246120"/>
            <a:ext cx="164592" cy="73152"/>
          </a:xfrm>
          <a:prstGeom prst="rect">
            <a:avLst/>
          </a:prstGeom>
          <a:solidFill>
            <a:srgbClr val="00C2C7"/>
          </a:solidFill>
          <a:ln/>
        </p:spPr>
        <p:txBody>
          <a:bodyPr/>
          <a:lstStyle/>
          <a:p>
            <a:endParaRPr lang="en-US"/>
          </a:p>
        </p:txBody>
      </p:sp>
      <p:sp>
        <p:nvSpPr>
          <p:cNvPr id="18" name="Text 15"/>
          <p:cNvSpPr/>
          <p:nvPr/>
        </p:nvSpPr>
        <p:spPr>
          <a:xfrm>
            <a:off x="3172968" y="3127248"/>
            <a:ext cx="182880" cy="274320"/>
          </a:xfrm>
          <a:prstGeom prst="rect">
            <a:avLst/>
          </a:prstGeom>
          <a:noFill/>
          <a:ln/>
        </p:spPr>
        <p:txBody>
          <a:bodyPr wrap="square" lIns="0" tIns="0" rIns="0" bIns="0" rtlCol="0" anchor="ctr"/>
          <a:lstStyle/>
          <a:p>
            <a:pPr marL="0" indent="0" algn="ctr">
              <a:buNone/>
            </a:pPr>
            <a:r>
              <a:rPr lang="en-US" sz="1400">
                <a:solidFill>
                  <a:srgbClr val="00C2C7"/>
                </a:solidFill>
                <a:latin typeface="Calibri" pitchFamily="34" charset="0"/>
                <a:ea typeface="Calibri" pitchFamily="34" charset="-122"/>
                <a:cs typeface="Calibri" pitchFamily="34" charset="-120"/>
              </a:rPr>
              <a:t>›</a:t>
            </a:r>
            <a:endParaRPr lang="en-US" sz="1400"/>
          </a:p>
        </p:txBody>
      </p:sp>
      <p:sp>
        <p:nvSpPr>
          <p:cNvPr id="19" name="Shape 16"/>
          <p:cNvSpPr/>
          <p:nvPr/>
        </p:nvSpPr>
        <p:spPr>
          <a:xfrm>
            <a:off x="3300984" y="2743200"/>
            <a:ext cx="1325880" cy="1234440"/>
          </a:xfrm>
          <a:prstGeom prst="rect">
            <a:avLst/>
          </a:prstGeom>
          <a:solidFill>
            <a:srgbClr val="102B5A"/>
          </a:solidFill>
          <a:ln/>
          <a:effectLst>
            <a:outerShdw blurRad="63500" dist="25400" dir="8100000" algn="bl" rotWithShape="0">
              <a:srgbClr val="000000">
                <a:alpha val="20000"/>
              </a:srgbClr>
            </a:outerShdw>
          </a:effectLst>
        </p:spPr>
        <p:txBody>
          <a:bodyPr/>
          <a:lstStyle/>
          <a:p>
            <a:endParaRPr lang="en-US"/>
          </a:p>
        </p:txBody>
      </p:sp>
      <p:sp>
        <p:nvSpPr>
          <p:cNvPr id="20" name="Text 17"/>
          <p:cNvSpPr/>
          <p:nvPr/>
        </p:nvSpPr>
        <p:spPr>
          <a:xfrm>
            <a:off x="3300984" y="3063240"/>
            <a:ext cx="1325880" cy="640080"/>
          </a:xfrm>
          <a:prstGeom prst="rect">
            <a:avLst/>
          </a:prstGeom>
          <a:noFill/>
          <a:ln/>
        </p:spPr>
        <p:txBody>
          <a:bodyPr wrap="square" lIns="0" tIns="0" rIns="0" bIns="0" rtlCol="0" anchor="ctr"/>
          <a:lstStyle/>
          <a:p>
            <a:pPr marL="0" indent="0" algn="ctr">
              <a:buNone/>
            </a:pPr>
            <a:r>
              <a:rPr lang="en-US" sz="1100" b="1">
                <a:solidFill>
                  <a:srgbClr val="E8F4F8"/>
                </a:solidFill>
                <a:latin typeface="Calibri" pitchFamily="34" charset="0"/>
                <a:ea typeface="Calibri" pitchFamily="34" charset="-122"/>
                <a:cs typeface="Calibri" pitchFamily="34" charset="-120"/>
              </a:rPr>
              <a:t>Product</a:t>
            </a:r>
            <a:endParaRPr lang="en-US" sz="1100"/>
          </a:p>
          <a:p>
            <a:pPr marL="0" indent="0" algn="ctr">
              <a:buNone/>
            </a:pPr>
            <a:r>
              <a:rPr lang="en-US" sz="1100" b="1">
                <a:solidFill>
                  <a:srgbClr val="E8F4F8"/>
                </a:solidFill>
                <a:latin typeface="Calibri" pitchFamily="34" charset="0"/>
                <a:ea typeface="Calibri" pitchFamily="34" charset="-122"/>
                <a:cs typeface="Calibri" pitchFamily="34" charset="-120"/>
              </a:rPr>
              <a:t>Recommendation</a:t>
            </a:r>
            <a:endParaRPr lang="en-US" sz="1100"/>
          </a:p>
        </p:txBody>
      </p:sp>
      <p:sp>
        <p:nvSpPr>
          <p:cNvPr id="21" name="Text 18"/>
          <p:cNvSpPr/>
          <p:nvPr/>
        </p:nvSpPr>
        <p:spPr>
          <a:xfrm>
            <a:off x="3300984" y="2807208"/>
            <a:ext cx="1325880" cy="274320"/>
          </a:xfrm>
          <a:prstGeom prst="rect">
            <a:avLst/>
          </a:prstGeom>
          <a:noFill/>
          <a:ln/>
        </p:spPr>
        <p:txBody>
          <a:bodyPr wrap="square" lIns="0" tIns="0" rIns="0" bIns="0" rtlCol="0" anchor="ctr"/>
          <a:lstStyle/>
          <a:p>
            <a:pPr marL="0" indent="0" algn="ctr">
              <a:buNone/>
            </a:pPr>
            <a:r>
              <a:rPr lang="en-US" sz="1000">
                <a:solidFill>
                  <a:srgbClr val="00C2C7"/>
                </a:solidFill>
                <a:latin typeface="Calibri" pitchFamily="34" charset="0"/>
                <a:ea typeface="Calibri" pitchFamily="34" charset="-122"/>
                <a:cs typeface="Calibri" pitchFamily="34" charset="-120"/>
              </a:rPr>
              <a:t>3</a:t>
            </a:r>
            <a:endParaRPr lang="en-US" sz="1000"/>
          </a:p>
        </p:txBody>
      </p:sp>
      <p:sp>
        <p:nvSpPr>
          <p:cNvPr id="22" name="Shape 19"/>
          <p:cNvSpPr/>
          <p:nvPr/>
        </p:nvSpPr>
        <p:spPr>
          <a:xfrm>
            <a:off x="4626864" y="3246120"/>
            <a:ext cx="164592" cy="73152"/>
          </a:xfrm>
          <a:prstGeom prst="rect">
            <a:avLst/>
          </a:prstGeom>
          <a:solidFill>
            <a:srgbClr val="00C2C7"/>
          </a:solidFill>
          <a:ln/>
        </p:spPr>
        <p:txBody>
          <a:bodyPr/>
          <a:lstStyle/>
          <a:p>
            <a:endParaRPr lang="en-US"/>
          </a:p>
        </p:txBody>
      </p:sp>
      <p:sp>
        <p:nvSpPr>
          <p:cNvPr id="23" name="Text 20"/>
          <p:cNvSpPr/>
          <p:nvPr/>
        </p:nvSpPr>
        <p:spPr>
          <a:xfrm>
            <a:off x="4663440" y="3127248"/>
            <a:ext cx="182880" cy="274320"/>
          </a:xfrm>
          <a:prstGeom prst="rect">
            <a:avLst/>
          </a:prstGeom>
          <a:noFill/>
          <a:ln/>
        </p:spPr>
        <p:txBody>
          <a:bodyPr wrap="square" lIns="0" tIns="0" rIns="0" bIns="0" rtlCol="0" anchor="ctr"/>
          <a:lstStyle/>
          <a:p>
            <a:pPr marL="0" indent="0" algn="ctr">
              <a:buNone/>
            </a:pPr>
            <a:r>
              <a:rPr lang="en-US" sz="1400">
                <a:solidFill>
                  <a:srgbClr val="00C2C7"/>
                </a:solidFill>
                <a:latin typeface="Calibri" pitchFamily="34" charset="0"/>
                <a:ea typeface="Calibri" pitchFamily="34" charset="-122"/>
                <a:cs typeface="Calibri" pitchFamily="34" charset="-120"/>
              </a:rPr>
              <a:t>›</a:t>
            </a:r>
            <a:endParaRPr lang="en-US" sz="1400"/>
          </a:p>
        </p:txBody>
      </p:sp>
      <p:sp>
        <p:nvSpPr>
          <p:cNvPr id="24" name="Shape 21"/>
          <p:cNvSpPr/>
          <p:nvPr/>
        </p:nvSpPr>
        <p:spPr>
          <a:xfrm>
            <a:off x="4791456" y="2743200"/>
            <a:ext cx="1325880" cy="1234440"/>
          </a:xfrm>
          <a:prstGeom prst="rect">
            <a:avLst/>
          </a:prstGeom>
          <a:solidFill>
            <a:srgbClr val="102B5A"/>
          </a:solidFill>
          <a:ln/>
          <a:effectLst>
            <a:outerShdw blurRad="63500" dist="25400" dir="8100000" algn="bl" rotWithShape="0">
              <a:srgbClr val="000000">
                <a:alpha val="20000"/>
              </a:srgbClr>
            </a:outerShdw>
          </a:effectLst>
        </p:spPr>
        <p:txBody>
          <a:bodyPr/>
          <a:lstStyle/>
          <a:p>
            <a:endParaRPr lang="en-US"/>
          </a:p>
        </p:txBody>
      </p:sp>
      <p:sp>
        <p:nvSpPr>
          <p:cNvPr id="25" name="Text 22"/>
          <p:cNvSpPr/>
          <p:nvPr/>
        </p:nvSpPr>
        <p:spPr>
          <a:xfrm>
            <a:off x="4791456" y="3063240"/>
            <a:ext cx="1325880" cy="640080"/>
          </a:xfrm>
          <a:prstGeom prst="rect">
            <a:avLst/>
          </a:prstGeom>
          <a:noFill/>
          <a:ln/>
        </p:spPr>
        <p:txBody>
          <a:bodyPr wrap="square" lIns="0" tIns="0" rIns="0" bIns="0" rtlCol="0" anchor="ctr"/>
          <a:lstStyle/>
          <a:p>
            <a:pPr marL="0" indent="0" algn="ctr">
              <a:buNone/>
            </a:pPr>
            <a:r>
              <a:rPr lang="en-US" sz="1100" b="1">
                <a:solidFill>
                  <a:srgbClr val="E8F4F8"/>
                </a:solidFill>
                <a:latin typeface="Calibri" pitchFamily="34" charset="0"/>
                <a:ea typeface="Calibri" pitchFamily="34" charset="-122"/>
                <a:cs typeface="Calibri" pitchFamily="34" charset="-120"/>
              </a:rPr>
              <a:t>Quote &amp;</a:t>
            </a:r>
            <a:endParaRPr lang="en-US" sz="1100"/>
          </a:p>
          <a:p>
            <a:pPr marL="0" indent="0" algn="ctr">
              <a:buNone/>
            </a:pPr>
            <a:r>
              <a:rPr lang="en-US" sz="1100" b="1">
                <a:solidFill>
                  <a:srgbClr val="E8F4F8"/>
                </a:solidFill>
                <a:latin typeface="Calibri" pitchFamily="34" charset="0"/>
                <a:ea typeface="Calibri" pitchFamily="34" charset="-122"/>
                <a:cs typeface="Calibri" pitchFamily="34" charset="-120"/>
              </a:rPr>
              <a:t>Pricing</a:t>
            </a:r>
            <a:endParaRPr lang="en-US" sz="1100"/>
          </a:p>
        </p:txBody>
      </p:sp>
      <p:sp>
        <p:nvSpPr>
          <p:cNvPr id="26" name="Text 23"/>
          <p:cNvSpPr/>
          <p:nvPr/>
        </p:nvSpPr>
        <p:spPr>
          <a:xfrm>
            <a:off x="4791456" y="2807208"/>
            <a:ext cx="1325880" cy="274320"/>
          </a:xfrm>
          <a:prstGeom prst="rect">
            <a:avLst/>
          </a:prstGeom>
          <a:noFill/>
          <a:ln/>
        </p:spPr>
        <p:txBody>
          <a:bodyPr wrap="square" lIns="0" tIns="0" rIns="0" bIns="0" rtlCol="0" anchor="ctr"/>
          <a:lstStyle/>
          <a:p>
            <a:pPr marL="0" indent="0" algn="ctr">
              <a:buNone/>
            </a:pPr>
            <a:r>
              <a:rPr lang="en-US" sz="1000">
                <a:solidFill>
                  <a:srgbClr val="00C2C7"/>
                </a:solidFill>
                <a:latin typeface="Calibri" pitchFamily="34" charset="0"/>
                <a:ea typeface="Calibri" pitchFamily="34" charset="-122"/>
                <a:cs typeface="Calibri" pitchFamily="34" charset="-120"/>
              </a:rPr>
              <a:t>4</a:t>
            </a:r>
            <a:endParaRPr lang="en-US" sz="1000"/>
          </a:p>
        </p:txBody>
      </p:sp>
      <p:sp>
        <p:nvSpPr>
          <p:cNvPr id="27" name="Shape 24"/>
          <p:cNvSpPr/>
          <p:nvPr/>
        </p:nvSpPr>
        <p:spPr>
          <a:xfrm>
            <a:off x="6117336" y="3246120"/>
            <a:ext cx="164592" cy="73152"/>
          </a:xfrm>
          <a:prstGeom prst="rect">
            <a:avLst/>
          </a:prstGeom>
          <a:solidFill>
            <a:srgbClr val="00C2C7"/>
          </a:solidFill>
          <a:ln/>
        </p:spPr>
        <p:txBody>
          <a:bodyPr/>
          <a:lstStyle/>
          <a:p>
            <a:endParaRPr lang="en-US"/>
          </a:p>
        </p:txBody>
      </p:sp>
      <p:sp>
        <p:nvSpPr>
          <p:cNvPr id="28" name="Text 25"/>
          <p:cNvSpPr/>
          <p:nvPr/>
        </p:nvSpPr>
        <p:spPr>
          <a:xfrm>
            <a:off x="6153912" y="3127248"/>
            <a:ext cx="182880" cy="274320"/>
          </a:xfrm>
          <a:prstGeom prst="rect">
            <a:avLst/>
          </a:prstGeom>
          <a:noFill/>
          <a:ln/>
        </p:spPr>
        <p:txBody>
          <a:bodyPr wrap="square" lIns="0" tIns="0" rIns="0" bIns="0" rtlCol="0" anchor="ctr"/>
          <a:lstStyle/>
          <a:p>
            <a:pPr marL="0" indent="0" algn="ctr">
              <a:buNone/>
            </a:pPr>
            <a:r>
              <a:rPr lang="en-US" sz="1400">
                <a:solidFill>
                  <a:srgbClr val="00C2C7"/>
                </a:solidFill>
                <a:latin typeface="Calibri" pitchFamily="34" charset="0"/>
                <a:ea typeface="Calibri" pitchFamily="34" charset="-122"/>
                <a:cs typeface="Calibri" pitchFamily="34" charset="-120"/>
              </a:rPr>
              <a:t>›</a:t>
            </a:r>
            <a:endParaRPr lang="en-US" sz="1400"/>
          </a:p>
        </p:txBody>
      </p:sp>
      <p:sp>
        <p:nvSpPr>
          <p:cNvPr id="29" name="Shape 26"/>
          <p:cNvSpPr/>
          <p:nvPr/>
        </p:nvSpPr>
        <p:spPr>
          <a:xfrm>
            <a:off x="6281928" y="2743200"/>
            <a:ext cx="1325880" cy="1234440"/>
          </a:xfrm>
          <a:prstGeom prst="rect">
            <a:avLst/>
          </a:prstGeom>
          <a:solidFill>
            <a:srgbClr val="102B5A"/>
          </a:solidFill>
          <a:ln/>
          <a:effectLst>
            <a:outerShdw blurRad="63500" dist="25400" dir="8100000" algn="bl" rotWithShape="0">
              <a:srgbClr val="000000">
                <a:alpha val="20000"/>
              </a:srgbClr>
            </a:outerShdw>
          </a:effectLst>
        </p:spPr>
        <p:txBody>
          <a:bodyPr/>
          <a:lstStyle/>
          <a:p>
            <a:endParaRPr lang="en-US"/>
          </a:p>
        </p:txBody>
      </p:sp>
      <p:sp>
        <p:nvSpPr>
          <p:cNvPr id="30" name="Text 27"/>
          <p:cNvSpPr/>
          <p:nvPr/>
        </p:nvSpPr>
        <p:spPr>
          <a:xfrm>
            <a:off x="6281928" y="3063240"/>
            <a:ext cx="1325880" cy="640080"/>
          </a:xfrm>
          <a:prstGeom prst="rect">
            <a:avLst/>
          </a:prstGeom>
          <a:noFill/>
          <a:ln/>
        </p:spPr>
        <p:txBody>
          <a:bodyPr wrap="square" lIns="0" tIns="0" rIns="0" bIns="0" rtlCol="0" anchor="ctr"/>
          <a:lstStyle/>
          <a:p>
            <a:pPr marL="0" indent="0" algn="ctr">
              <a:buNone/>
            </a:pPr>
            <a:r>
              <a:rPr lang="en-US" sz="1100" b="1">
                <a:solidFill>
                  <a:srgbClr val="E8F4F8"/>
                </a:solidFill>
                <a:latin typeface="Calibri" pitchFamily="34" charset="0"/>
                <a:ea typeface="Calibri" pitchFamily="34" charset="-122"/>
                <a:cs typeface="Calibri" pitchFamily="34" charset="-120"/>
              </a:rPr>
              <a:t>Order &amp;</a:t>
            </a:r>
            <a:endParaRPr lang="en-US" sz="1100"/>
          </a:p>
          <a:p>
            <a:pPr marL="0" indent="0" algn="ctr">
              <a:buNone/>
            </a:pPr>
            <a:r>
              <a:rPr lang="en-US" sz="1100" b="1">
                <a:solidFill>
                  <a:srgbClr val="E8F4F8"/>
                </a:solidFill>
                <a:latin typeface="Calibri" pitchFamily="34" charset="0"/>
                <a:ea typeface="Calibri" pitchFamily="34" charset="-122"/>
                <a:cs typeface="Calibri" pitchFamily="34" charset="-120"/>
              </a:rPr>
              <a:t>Contract</a:t>
            </a:r>
            <a:endParaRPr lang="en-US" sz="1100"/>
          </a:p>
        </p:txBody>
      </p:sp>
      <p:sp>
        <p:nvSpPr>
          <p:cNvPr id="31" name="Text 28"/>
          <p:cNvSpPr/>
          <p:nvPr/>
        </p:nvSpPr>
        <p:spPr>
          <a:xfrm>
            <a:off x="6281928" y="2807208"/>
            <a:ext cx="1325880" cy="274320"/>
          </a:xfrm>
          <a:prstGeom prst="rect">
            <a:avLst/>
          </a:prstGeom>
          <a:noFill/>
          <a:ln/>
        </p:spPr>
        <p:txBody>
          <a:bodyPr wrap="square" lIns="0" tIns="0" rIns="0" bIns="0" rtlCol="0" anchor="ctr"/>
          <a:lstStyle/>
          <a:p>
            <a:pPr marL="0" indent="0" algn="ctr">
              <a:buNone/>
            </a:pPr>
            <a:r>
              <a:rPr lang="en-US" sz="1000">
                <a:solidFill>
                  <a:srgbClr val="00C2C7"/>
                </a:solidFill>
                <a:latin typeface="Calibri" pitchFamily="34" charset="0"/>
                <a:ea typeface="Calibri" pitchFamily="34" charset="-122"/>
                <a:cs typeface="Calibri" pitchFamily="34" charset="-120"/>
              </a:rPr>
              <a:t>5</a:t>
            </a:r>
            <a:endParaRPr lang="en-US" sz="1000"/>
          </a:p>
        </p:txBody>
      </p:sp>
      <p:sp>
        <p:nvSpPr>
          <p:cNvPr id="32" name="Shape 29"/>
          <p:cNvSpPr/>
          <p:nvPr/>
        </p:nvSpPr>
        <p:spPr>
          <a:xfrm>
            <a:off x="7607808" y="3246120"/>
            <a:ext cx="164592" cy="73152"/>
          </a:xfrm>
          <a:prstGeom prst="rect">
            <a:avLst/>
          </a:prstGeom>
          <a:solidFill>
            <a:srgbClr val="00C2C7"/>
          </a:solidFill>
          <a:ln/>
        </p:spPr>
        <p:txBody>
          <a:bodyPr/>
          <a:lstStyle/>
          <a:p>
            <a:endParaRPr lang="en-US"/>
          </a:p>
        </p:txBody>
      </p:sp>
      <p:sp>
        <p:nvSpPr>
          <p:cNvPr id="33" name="Text 30"/>
          <p:cNvSpPr/>
          <p:nvPr/>
        </p:nvSpPr>
        <p:spPr>
          <a:xfrm>
            <a:off x="7644384" y="3127248"/>
            <a:ext cx="182880" cy="274320"/>
          </a:xfrm>
          <a:prstGeom prst="rect">
            <a:avLst/>
          </a:prstGeom>
          <a:noFill/>
          <a:ln/>
        </p:spPr>
        <p:txBody>
          <a:bodyPr wrap="square" lIns="0" tIns="0" rIns="0" bIns="0" rtlCol="0" anchor="ctr"/>
          <a:lstStyle/>
          <a:p>
            <a:pPr marL="0" indent="0" algn="ctr">
              <a:buNone/>
            </a:pPr>
            <a:r>
              <a:rPr lang="en-US" sz="1400">
                <a:solidFill>
                  <a:srgbClr val="00C2C7"/>
                </a:solidFill>
                <a:latin typeface="Calibri" pitchFamily="34" charset="0"/>
                <a:ea typeface="Calibri" pitchFamily="34" charset="-122"/>
                <a:cs typeface="Calibri" pitchFamily="34" charset="-120"/>
              </a:rPr>
              <a:t>›</a:t>
            </a:r>
            <a:endParaRPr lang="en-US" sz="1400"/>
          </a:p>
        </p:txBody>
      </p:sp>
      <p:sp>
        <p:nvSpPr>
          <p:cNvPr id="34" name="Shape 31"/>
          <p:cNvSpPr/>
          <p:nvPr/>
        </p:nvSpPr>
        <p:spPr>
          <a:xfrm>
            <a:off x="7772400" y="2743200"/>
            <a:ext cx="1325880" cy="1234440"/>
          </a:xfrm>
          <a:prstGeom prst="rect">
            <a:avLst/>
          </a:prstGeom>
          <a:solidFill>
            <a:srgbClr val="22D3A5"/>
          </a:solidFill>
          <a:ln/>
          <a:effectLst>
            <a:outerShdw blurRad="63500" dist="25400" dir="8100000" algn="bl" rotWithShape="0">
              <a:srgbClr val="000000">
                <a:alpha val="20000"/>
              </a:srgbClr>
            </a:outerShdw>
          </a:effectLst>
        </p:spPr>
        <p:txBody>
          <a:bodyPr/>
          <a:lstStyle/>
          <a:p>
            <a:endParaRPr lang="en-US"/>
          </a:p>
        </p:txBody>
      </p:sp>
      <p:sp>
        <p:nvSpPr>
          <p:cNvPr id="35" name="Text 32"/>
          <p:cNvSpPr/>
          <p:nvPr/>
        </p:nvSpPr>
        <p:spPr>
          <a:xfrm>
            <a:off x="7772400" y="3063240"/>
            <a:ext cx="1325880" cy="640080"/>
          </a:xfrm>
          <a:prstGeom prst="rect">
            <a:avLst/>
          </a:prstGeom>
          <a:noFill/>
          <a:ln/>
        </p:spPr>
        <p:txBody>
          <a:bodyPr wrap="square" lIns="0" tIns="0" rIns="0" bIns="0" rtlCol="0" anchor="ctr"/>
          <a:lstStyle/>
          <a:p>
            <a:pPr marL="0" indent="0" algn="ctr">
              <a:buNone/>
            </a:pPr>
            <a:r>
              <a:rPr lang="en-US" sz="1100" b="1">
                <a:solidFill>
                  <a:srgbClr val="0D1B3E"/>
                </a:solidFill>
                <a:latin typeface="Calibri" pitchFamily="34" charset="0"/>
                <a:ea typeface="Calibri" pitchFamily="34" charset="-122"/>
                <a:cs typeface="Calibri" pitchFamily="34" charset="-120"/>
              </a:rPr>
              <a:t>Fulfillment</a:t>
            </a:r>
            <a:endParaRPr lang="en-US" sz="1100"/>
          </a:p>
          <a:p>
            <a:pPr marL="0" indent="0" algn="ctr">
              <a:buNone/>
            </a:pPr>
            <a:r>
              <a:rPr lang="en-US" sz="1100" b="1">
                <a:solidFill>
                  <a:srgbClr val="0D1B3E"/>
                </a:solidFill>
                <a:latin typeface="Calibri" pitchFamily="34" charset="0"/>
                <a:ea typeface="Calibri" pitchFamily="34" charset="-122"/>
                <a:cs typeface="Calibri" pitchFamily="34" charset="-120"/>
              </a:rPr>
              <a:t>&amp; Activation</a:t>
            </a:r>
            <a:endParaRPr lang="en-US" sz="1100"/>
          </a:p>
        </p:txBody>
      </p:sp>
      <p:sp>
        <p:nvSpPr>
          <p:cNvPr id="36" name="Text 33"/>
          <p:cNvSpPr/>
          <p:nvPr/>
        </p:nvSpPr>
        <p:spPr>
          <a:xfrm>
            <a:off x="7772400" y="2807208"/>
            <a:ext cx="1325880" cy="274320"/>
          </a:xfrm>
          <a:prstGeom prst="rect">
            <a:avLst/>
          </a:prstGeom>
          <a:noFill/>
          <a:ln/>
        </p:spPr>
        <p:txBody>
          <a:bodyPr wrap="square" lIns="0" tIns="0" rIns="0" bIns="0" rtlCol="0" anchor="ctr"/>
          <a:lstStyle/>
          <a:p>
            <a:pPr marL="0" indent="0" algn="ctr">
              <a:buNone/>
            </a:pPr>
            <a:r>
              <a:rPr lang="en-US" sz="1000">
                <a:solidFill>
                  <a:srgbClr val="0D4A5A"/>
                </a:solidFill>
                <a:latin typeface="Calibri" pitchFamily="34" charset="0"/>
                <a:ea typeface="Calibri" pitchFamily="34" charset="-122"/>
                <a:cs typeface="Calibri" pitchFamily="34" charset="-120"/>
              </a:rPr>
              <a:t>6</a:t>
            </a:r>
            <a:endParaRPr lang="en-US" sz="1000"/>
          </a:p>
        </p:txBody>
      </p:sp>
      <p:sp>
        <p:nvSpPr>
          <p:cNvPr id="37" name="Text 34"/>
          <p:cNvSpPr/>
          <p:nvPr/>
        </p:nvSpPr>
        <p:spPr>
          <a:xfrm>
            <a:off x="457200" y="4206240"/>
            <a:ext cx="8229600" cy="274320"/>
          </a:xfrm>
          <a:prstGeom prst="rect">
            <a:avLst/>
          </a:prstGeom>
          <a:noFill/>
          <a:ln/>
        </p:spPr>
        <p:txBody>
          <a:bodyPr wrap="square" rtlCol="0" anchor="ctr"/>
          <a:lstStyle/>
          <a:p>
            <a:pPr marL="0" indent="0" algn="ctr">
              <a:buNone/>
            </a:pPr>
            <a:r>
              <a:rPr lang="en-US" sz="1100" i="1">
                <a:solidFill>
                  <a:srgbClr val="94A3B8"/>
                </a:solidFill>
                <a:latin typeface="Calibri" pitchFamily="34" charset="0"/>
                <a:ea typeface="Calibri" pitchFamily="34" charset="-122"/>
                <a:cs typeface="Calibri" pitchFamily="34" charset="-120"/>
              </a:rPr>
              <a:t>Powered by Google ADK · Gemini Flash · FastAPI · React 19</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3E"/>
        </a:solidFill>
        <a:effectLst/>
      </p:bgPr>
    </p:bg>
    <p:spTree>
      <p:nvGrpSpPr>
        <p:cNvPr id="1" name=""/>
        <p:cNvGrpSpPr/>
        <p:nvPr/>
      </p:nvGrpSpPr>
      <p:grpSpPr>
        <a:xfrm>
          <a:off x="0" y="0"/>
          <a:ext cx="0" cy="0"/>
          <a:chOff x="0" y="0"/>
          <a:chExt cx="0" cy="0"/>
        </a:xfrm>
      </p:grpSpPr>
      <p:sp>
        <p:nvSpPr>
          <p:cNvPr id="2" name="Text 0"/>
          <p:cNvSpPr/>
          <p:nvPr/>
        </p:nvSpPr>
        <p:spPr>
          <a:xfrm>
            <a:off x="8686800" y="4800600"/>
            <a:ext cx="365760" cy="228600"/>
          </a:xfrm>
          <a:prstGeom prst="rect">
            <a:avLst/>
          </a:prstGeom>
          <a:noFill/>
          <a:ln/>
        </p:spPr>
        <p:txBody>
          <a:bodyPr wrap="square" rtlCol="0" anchor="ctr"/>
          <a:lstStyle/>
          <a:p>
            <a:pPr marL="0" indent="0" algn="r">
              <a:buNone/>
            </a:pPr>
            <a:r>
              <a:rPr lang="en-US" sz="900">
                <a:solidFill>
                  <a:srgbClr val="94A3B8"/>
                </a:solidFill>
              </a:rPr>
              <a:t>5</a:t>
            </a:r>
            <a:endParaRPr lang="en-US" sz="900"/>
          </a:p>
        </p:txBody>
      </p:sp>
      <p:sp>
        <p:nvSpPr>
          <p:cNvPr id="3" name="Text 1"/>
          <p:cNvSpPr/>
          <p:nvPr/>
        </p:nvSpPr>
        <p:spPr>
          <a:xfrm>
            <a:off x="457200" y="182880"/>
            <a:ext cx="8229600" cy="457200"/>
          </a:xfrm>
          <a:prstGeom prst="rect">
            <a:avLst/>
          </a:prstGeom>
          <a:noFill/>
          <a:ln/>
        </p:spPr>
        <p:txBody>
          <a:bodyPr wrap="square" rtlCol="0" anchor="ctr"/>
          <a:lstStyle/>
          <a:p>
            <a:pPr marL="0" indent="0">
              <a:buNone/>
            </a:pPr>
            <a:r>
              <a:rPr lang="en-US" sz="2600" b="1">
                <a:solidFill>
                  <a:srgbClr val="FFFFFF"/>
                </a:solidFill>
                <a:latin typeface="Calibri" pitchFamily="34" charset="0"/>
                <a:ea typeface="Calibri" pitchFamily="34" charset="-122"/>
                <a:cs typeface="Calibri" pitchFamily="34" charset="-120"/>
              </a:rPr>
              <a:t>Architecture: SuperAgent + 10 Specialist Agents</a:t>
            </a:r>
            <a:endParaRPr lang="en-US" sz="2600"/>
          </a:p>
        </p:txBody>
      </p:sp>
      <p:sp>
        <p:nvSpPr>
          <p:cNvPr id="4" name="Shape 2"/>
          <p:cNvSpPr/>
          <p:nvPr/>
        </p:nvSpPr>
        <p:spPr>
          <a:xfrm>
            <a:off x="457200" y="685800"/>
            <a:ext cx="8229600" cy="45720"/>
          </a:xfrm>
          <a:prstGeom prst="rect">
            <a:avLst/>
          </a:prstGeom>
          <a:solidFill>
            <a:srgbClr val="00C2C7"/>
          </a:solidFill>
          <a:ln/>
        </p:spPr>
        <p:txBody>
          <a:bodyPr/>
          <a:lstStyle/>
          <a:p>
            <a:endParaRPr lang="en-US"/>
          </a:p>
        </p:txBody>
      </p:sp>
      <p:sp>
        <p:nvSpPr>
          <p:cNvPr id="5" name="Shape 3"/>
          <p:cNvSpPr/>
          <p:nvPr/>
        </p:nvSpPr>
        <p:spPr>
          <a:xfrm>
            <a:off x="3200400" y="822960"/>
            <a:ext cx="2743200" cy="755063"/>
          </a:xfrm>
          <a:prstGeom prst="rect">
            <a:avLst/>
          </a:prstGeom>
          <a:solidFill>
            <a:srgbClr val="00C2C7"/>
          </a:solidFill>
          <a:ln/>
          <a:effectLst>
            <a:outerShdw blurRad="152400" dist="38100" dir="8100000" algn="bl" rotWithShape="0">
              <a:srgbClr val="000000">
                <a:alpha val="50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3337560" y="886968"/>
            <a:ext cx="457200" cy="457200"/>
          </a:xfrm>
          <a:prstGeom prst="rect">
            <a:avLst/>
          </a:prstGeom>
        </p:spPr>
      </p:pic>
      <p:sp>
        <p:nvSpPr>
          <p:cNvPr id="7" name="Text 4"/>
          <p:cNvSpPr/>
          <p:nvPr/>
        </p:nvSpPr>
        <p:spPr>
          <a:xfrm>
            <a:off x="3840480" y="886968"/>
            <a:ext cx="2011680" cy="685800"/>
          </a:xfrm>
          <a:prstGeom prst="rect">
            <a:avLst/>
          </a:prstGeom>
          <a:noFill/>
          <a:ln/>
        </p:spPr>
        <p:txBody>
          <a:bodyPr wrap="square" lIns="0" tIns="0" rIns="0" bIns="0" rtlCol="0" anchor="ctr"/>
          <a:lstStyle/>
          <a:p>
            <a:pPr marL="0" indent="0">
              <a:buNone/>
            </a:pPr>
            <a:r>
              <a:rPr lang="en-US" sz="1400" b="1">
                <a:solidFill>
                  <a:srgbClr val="0D1B3E"/>
                </a:solidFill>
                <a:latin typeface="Calibri" pitchFamily="34" charset="0"/>
                <a:ea typeface="Calibri" pitchFamily="34" charset="-122"/>
                <a:cs typeface="Calibri" pitchFamily="34" charset="-120"/>
              </a:rPr>
              <a:t>SuperAgent</a:t>
            </a:r>
            <a:endParaRPr lang="en-US" sz="1400"/>
          </a:p>
          <a:p>
            <a:pPr marL="0" indent="0">
              <a:buNone/>
            </a:pPr>
            <a:r>
              <a:rPr lang="en-US" sz="1400" b="1">
                <a:solidFill>
                  <a:srgbClr val="0D1B3E"/>
                </a:solidFill>
                <a:latin typeface="Calibri" pitchFamily="34" charset="0"/>
                <a:ea typeface="Calibri" pitchFamily="34" charset="-122"/>
                <a:cs typeface="Calibri" pitchFamily="34" charset="-120"/>
              </a:rPr>
              <a:t>Orchestrator</a:t>
            </a:r>
            <a:endParaRPr lang="en-US" sz="1400"/>
          </a:p>
        </p:txBody>
      </p:sp>
      <p:sp>
        <p:nvSpPr>
          <p:cNvPr id="8" name="Shape 5"/>
          <p:cNvSpPr/>
          <p:nvPr/>
        </p:nvSpPr>
        <p:spPr>
          <a:xfrm>
            <a:off x="274320" y="1920240"/>
            <a:ext cx="1572768" cy="676656"/>
          </a:xfrm>
          <a:prstGeom prst="rect">
            <a:avLst/>
          </a:prstGeom>
          <a:solidFill>
            <a:srgbClr val="102B5A"/>
          </a:solidFill>
          <a:ln/>
          <a:effectLst>
            <a:outerShdw blurRad="76200" dist="25400" dir="8100000" algn="bl" rotWithShape="0">
              <a:srgbClr val="000000">
                <a:alpha val="30000"/>
              </a:srgbClr>
            </a:outerShdw>
          </a:effectLst>
        </p:spPr>
        <p:txBody>
          <a:bodyPr/>
          <a:lstStyle/>
          <a:p>
            <a:endParaRPr lang="en-US"/>
          </a:p>
        </p:txBody>
      </p:sp>
      <p:sp>
        <p:nvSpPr>
          <p:cNvPr id="9" name="Shape 6"/>
          <p:cNvSpPr/>
          <p:nvPr/>
        </p:nvSpPr>
        <p:spPr>
          <a:xfrm>
            <a:off x="274320" y="1920240"/>
            <a:ext cx="1572768" cy="64008"/>
          </a:xfrm>
          <a:prstGeom prst="rect">
            <a:avLst/>
          </a:prstGeom>
          <a:solidFill>
            <a:srgbClr val="5B8DB8"/>
          </a:solidFill>
          <a:ln/>
        </p:spPr>
        <p:txBody>
          <a:bodyPr/>
          <a:lstStyle/>
          <a:p>
            <a:endParaRPr lang="en-US"/>
          </a:p>
        </p:txBody>
      </p:sp>
      <p:sp>
        <p:nvSpPr>
          <p:cNvPr id="10" name="Text 7"/>
          <p:cNvSpPr/>
          <p:nvPr/>
        </p:nvSpPr>
        <p:spPr>
          <a:xfrm>
            <a:off x="347472" y="2103120"/>
            <a:ext cx="1426464" cy="50292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Greeting</a:t>
            </a:r>
            <a:endParaRPr lang="en-US" sz="1200"/>
          </a:p>
        </p:txBody>
      </p:sp>
      <p:sp>
        <p:nvSpPr>
          <p:cNvPr id="11" name="Shape 8"/>
          <p:cNvSpPr/>
          <p:nvPr/>
        </p:nvSpPr>
        <p:spPr>
          <a:xfrm>
            <a:off x="969264" y="1691640"/>
            <a:ext cx="18288" cy="228600"/>
          </a:xfrm>
          <a:prstGeom prst="rect">
            <a:avLst/>
          </a:prstGeom>
          <a:solidFill>
            <a:srgbClr val="94A3B8"/>
          </a:solidFill>
          <a:ln/>
        </p:spPr>
        <p:txBody>
          <a:bodyPr/>
          <a:lstStyle/>
          <a:p>
            <a:endParaRPr lang="en-US"/>
          </a:p>
        </p:txBody>
      </p:sp>
      <p:sp>
        <p:nvSpPr>
          <p:cNvPr id="12" name="Shape 9"/>
          <p:cNvSpPr/>
          <p:nvPr/>
        </p:nvSpPr>
        <p:spPr>
          <a:xfrm>
            <a:off x="1993392" y="1920240"/>
            <a:ext cx="1572768" cy="676656"/>
          </a:xfrm>
          <a:prstGeom prst="rect">
            <a:avLst/>
          </a:prstGeom>
          <a:solidFill>
            <a:srgbClr val="102B5A"/>
          </a:solidFill>
          <a:ln/>
          <a:effectLst>
            <a:outerShdw blurRad="76200" dist="25400" dir="8100000" algn="bl" rotWithShape="0">
              <a:srgbClr val="000000">
                <a:alpha val="30000"/>
              </a:srgbClr>
            </a:outerShdw>
          </a:effectLst>
        </p:spPr>
        <p:txBody>
          <a:bodyPr/>
          <a:lstStyle/>
          <a:p>
            <a:endParaRPr lang="en-US"/>
          </a:p>
        </p:txBody>
      </p:sp>
      <p:sp>
        <p:nvSpPr>
          <p:cNvPr id="13" name="Shape 10"/>
          <p:cNvSpPr/>
          <p:nvPr/>
        </p:nvSpPr>
        <p:spPr>
          <a:xfrm>
            <a:off x="1993392" y="1920240"/>
            <a:ext cx="1572768" cy="64008"/>
          </a:xfrm>
          <a:prstGeom prst="rect">
            <a:avLst/>
          </a:prstGeom>
          <a:solidFill>
            <a:srgbClr val="28A745"/>
          </a:solidFill>
          <a:ln/>
        </p:spPr>
        <p:txBody>
          <a:bodyPr/>
          <a:lstStyle/>
          <a:p>
            <a:endParaRPr lang="en-US"/>
          </a:p>
        </p:txBody>
      </p:sp>
      <p:sp>
        <p:nvSpPr>
          <p:cNvPr id="14" name="Text 11"/>
          <p:cNvSpPr/>
          <p:nvPr/>
        </p:nvSpPr>
        <p:spPr>
          <a:xfrm>
            <a:off x="2066544" y="2103120"/>
            <a:ext cx="1426464" cy="50292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Discovery</a:t>
            </a:r>
            <a:endParaRPr lang="en-US" sz="1200"/>
          </a:p>
        </p:txBody>
      </p:sp>
      <p:sp>
        <p:nvSpPr>
          <p:cNvPr id="15" name="Shape 12"/>
          <p:cNvSpPr/>
          <p:nvPr/>
        </p:nvSpPr>
        <p:spPr>
          <a:xfrm>
            <a:off x="2688336" y="1691640"/>
            <a:ext cx="18288" cy="228600"/>
          </a:xfrm>
          <a:prstGeom prst="rect">
            <a:avLst/>
          </a:prstGeom>
          <a:solidFill>
            <a:srgbClr val="94A3B8"/>
          </a:solidFill>
          <a:ln/>
        </p:spPr>
        <p:txBody>
          <a:bodyPr/>
          <a:lstStyle/>
          <a:p>
            <a:endParaRPr lang="en-US"/>
          </a:p>
        </p:txBody>
      </p:sp>
      <p:sp>
        <p:nvSpPr>
          <p:cNvPr id="16" name="Shape 13"/>
          <p:cNvSpPr/>
          <p:nvPr/>
        </p:nvSpPr>
        <p:spPr>
          <a:xfrm>
            <a:off x="3712464" y="1920240"/>
            <a:ext cx="1572768" cy="676656"/>
          </a:xfrm>
          <a:prstGeom prst="rect">
            <a:avLst/>
          </a:prstGeom>
          <a:solidFill>
            <a:srgbClr val="102B5A"/>
          </a:solidFill>
          <a:ln/>
          <a:effectLst>
            <a:outerShdw blurRad="76200" dist="25400" dir="8100000" algn="bl" rotWithShape="0">
              <a:srgbClr val="000000">
                <a:alpha val="30000"/>
              </a:srgbClr>
            </a:outerShdw>
          </a:effectLst>
        </p:spPr>
        <p:txBody>
          <a:bodyPr/>
          <a:lstStyle/>
          <a:p>
            <a:endParaRPr lang="en-US"/>
          </a:p>
        </p:txBody>
      </p:sp>
      <p:sp>
        <p:nvSpPr>
          <p:cNvPr id="17" name="Shape 14"/>
          <p:cNvSpPr/>
          <p:nvPr/>
        </p:nvSpPr>
        <p:spPr>
          <a:xfrm>
            <a:off x="3712464" y="1920240"/>
            <a:ext cx="1572768" cy="64008"/>
          </a:xfrm>
          <a:prstGeom prst="rect">
            <a:avLst/>
          </a:prstGeom>
          <a:solidFill>
            <a:srgbClr val="6F42C1"/>
          </a:solidFill>
          <a:ln/>
        </p:spPr>
        <p:txBody>
          <a:bodyPr/>
          <a:lstStyle/>
          <a:p>
            <a:endParaRPr lang="en-US"/>
          </a:p>
        </p:txBody>
      </p:sp>
      <p:sp>
        <p:nvSpPr>
          <p:cNvPr id="18" name="Text 15"/>
          <p:cNvSpPr/>
          <p:nvPr/>
        </p:nvSpPr>
        <p:spPr>
          <a:xfrm>
            <a:off x="3785616" y="2103120"/>
            <a:ext cx="1426464" cy="50292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Serviceability</a:t>
            </a:r>
            <a:endParaRPr lang="en-US" sz="1200"/>
          </a:p>
        </p:txBody>
      </p:sp>
      <p:sp>
        <p:nvSpPr>
          <p:cNvPr id="19" name="Shape 16"/>
          <p:cNvSpPr/>
          <p:nvPr/>
        </p:nvSpPr>
        <p:spPr>
          <a:xfrm>
            <a:off x="4407408" y="1691640"/>
            <a:ext cx="18288" cy="228600"/>
          </a:xfrm>
          <a:prstGeom prst="rect">
            <a:avLst/>
          </a:prstGeom>
          <a:solidFill>
            <a:srgbClr val="94A3B8"/>
          </a:solidFill>
          <a:ln/>
        </p:spPr>
        <p:txBody>
          <a:bodyPr/>
          <a:lstStyle/>
          <a:p>
            <a:endParaRPr lang="en-US"/>
          </a:p>
        </p:txBody>
      </p:sp>
      <p:sp>
        <p:nvSpPr>
          <p:cNvPr id="20" name="Shape 17"/>
          <p:cNvSpPr/>
          <p:nvPr/>
        </p:nvSpPr>
        <p:spPr>
          <a:xfrm>
            <a:off x="5431536" y="1920240"/>
            <a:ext cx="1572768" cy="676656"/>
          </a:xfrm>
          <a:prstGeom prst="rect">
            <a:avLst/>
          </a:prstGeom>
          <a:solidFill>
            <a:srgbClr val="102B5A"/>
          </a:solidFill>
          <a:ln/>
          <a:effectLst>
            <a:outerShdw blurRad="76200" dist="25400" dir="8100000" algn="bl" rotWithShape="0">
              <a:srgbClr val="000000">
                <a:alpha val="30000"/>
              </a:srgbClr>
            </a:outerShdw>
          </a:effectLst>
        </p:spPr>
        <p:txBody>
          <a:bodyPr/>
          <a:lstStyle/>
          <a:p>
            <a:endParaRPr lang="en-US"/>
          </a:p>
        </p:txBody>
      </p:sp>
      <p:sp>
        <p:nvSpPr>
          <p:cNvPr id="21" name="Shape 18"/>
          <p:cNvSpPr/>
          <p:nvPr/>
        </p:nvSpPr>
        <p:spPr>
          <a:xfrm>
            <a:off x="5431536" y="1920240"/>
            <a:ext cx="1572768" cy="64008"/>
          </a:xfrm>
          <a:prstGeom prst="rect">
            <a:avLst/>
          </a:prstGeom>
          <a:solidFill>
            <a:srgbClr val="FD7E14"/>
          </a:solidFill>
          <a:ln/>
        </p:spPr>
        <p:txBody>
          <a:bodyPr/>
          <a:lstStyle/>
          <a:p>
            <a:endParaRPr lang="en-US"/>
          </a:p>
        </p:txBody>
      </p:sp>
      <p:sp>
        <p:nvSpPr>
          <p:cNvPr id="22" name="Text 19"/>
          <p:cNvSpPr/>
          <p:nvPr/>
        </p:nvSpPr>
        <p:spPr>
          <a:xfrm>
            <a:off x="5504688" y="2103120"/>
            <a:ext cx="1426464" cy="50292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Product</a:t>
            </a:r>
            <a:endParaRPr lang="en-US" sz="1200"/>
          </a:p>
        </p:txBody>
      </p:sp>
      <p:sp>
        <p:nvSpPr>
          <p:cNvPr id="23" name="Shape 20"/>
          <p:cNvSpPr/>
          <p:nvPr/>
        </p:nvSpPr>
        <p:spPr>
          <a:xfrm>
            <a:off x="6126480" y="1691640"/>
            <a:ext cx="18288" cy="228600"/>
          </a:xfrm>
          <a:prstGeom prst="rect">
            <a:avLst/>
          </a:prstGeom>
          <a:solidFill>
            <a:srgbClr val="94A3B8"/>
          </a:solidFill>
          <a:ln/>
        </p:spPr>
        <p:txBody>
          <a:bodyPr/>
          <a:lstStyle/>
          <a:p>
            <a:endParaRPr lang="en-US"/>
          </a:p>
        </p:txBody>
      </p:sp>
      <p:sp>
        <p:nvSpPr>
          <p:cNvPr id="24" name="Shape 21"/>
          <p:cNvSpPr/>
          <p:nvPr/>
        </p:nvSpPr>
        <p:spPr>
          <a:xfrm>
            <a:off x="7150608" y="1920240"/>
            <a:ext cx="1572768" cy="676656"/>
          </a:xfrm>
          <a:prstGeom prst="rect">
            <a:avLst/>
          </a:prstGeom>
          <a:solidFill>
            <a:srgbClr val="102B5A"/>
          </a:solidFill>
          <a:ln/>
          <a:effectLst>
            <a:outerShdw blurRad="76200" dist="25400" dir="8100000" algn="bl" rotWithShape="0">
              <a:srgbClr val="000000">
                <a:alpha val="30000"/>
              </a:srgbClr>
            </a:outerShdw>
          </a:effectLst>
        </p:spPr>
        <p:txBody>
          <a:bodyPr/>
          <a:lstStyle/>
          <a:p>
            <a:endParaRPr lang="en-US"/>
          </a:p>
        </p:txBody>
      </p:sp>
      <p:sp>
        <p:nvSpPr>
          <p:cNvPr id="25" name="Shape 22"/>
          <p:cNvSpPr/>
          <p:nvPr/>
        </p:nvSpPr>
        <p:spPr>
          <a:xfrm>
            <a:off x="7150608" y="1920240"/>
            <a:ext cx="1572768" cy="64008"/>
          </a:xfrm>
          <a:prstGeom prst="rect">
            <a:avLst/>
          </a:prstGeom>
          <a:solidFill>
            <a:srgbClr val="20C997"/>
          </a:solidFill>
          <a:ln/>
        </p:spPr>
        <p:txBody>
          <a:bodyPr/>
          <a:lstStyle/>
          <a:p>
            <a:endParaRPr lang="en-US"/>
          </a:p>
        </p:txBody>
      </p:sp>
      <p:sp>
        <p:nvSpPr>
          <p:cNvPr id="26" name="Text 23"/>
          <p:cNvSpPr/>
          <p:nvPr/>
        </p:nvSpPr>
        <p:spPr>
          <a:xfrm>
            <a:off x="7223760" y="2103120"/>
            <a:ext cx="1426464" cy="50292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Offer Mgmt</a:t>
            </a:r>
            <a:endParaRPr lang="en-US" sz="1200"/>
          </a:p>
        </p:txBody>
      </p:sp>
      <p:sp>
        <p:nvSpPr>
          <p:cNvPr id="27" name="Shape 24"/>
          <p:cNvSpPr/>
          <p:nvPr/>
        </p:nvSpPr>
        <p:spPr>
          <a:xfrm>
            <a:off x="7845552" y="1691640"/>
            <a:ext cx="18288" cy="228600"/>
          </a:xfrm>
          <a:prstGeom prst="rect">
            <a:avLst/>
          </a:prstGeom>
          <a:solidFill>
            <a:srgbClr val="94A3B8"/>
          </a:solidFill>
          <a:ln/>
        </p:spPr>
        <p:txBody>
          <a:bodyPr/>
          <a:lstStyle/>
          <a:p>
            <a:endParaRPr lang="en-US"/>
          </a:p>
        </p:txBody>
      </p:sp>
      <p:sp>
        <p:nvSpPr>
          <p:cNvPr id="28" name="Shape 25"/>
          <p:cNvSpPr/>
          <p:nvPr/>
        </p:nvSpPr>
        <p:spPr>
          <a:xfrm>
            <a:off x="274320" y="3291840"/>
            <a:ext cx="1572768" cy="868680"/>
          </a:xfrm>
          <a:prstGeom prst="rect">
            <a:avLst/>
          </a:prstGeom>
          <a:solidFill>
            <a:srgbClr val="102B5A"/>
          </a:solidFill>
          <a:ln/>
          <a:effectLst>
            <a:outerShdw blurRad="76200" dist="25400" dir="8100000" algn="bl" rotWithShape="0">
              <a:srgbClr val="000000">
                <a:alpha val="30000"/>
              </a:srgbClr>
            </a:outerShdw>
          </a:effectLst>
        </p:spPr>
        <p:txBody>
          <a:bodyPr/>
          <a:lstStyle/>
          <a:p>
            <a:endParaRPr lang="en-US"/>
          </a:p>
        </p:txBody>
      </p:sp>
      <p:sp>
        <p:nvSpPr>
          <p:cNvPr id="29" name="Shape 26"/>
          <p:cNvSpPr/>
          <p:nvPr/>
        </p:nvSpPr>
        <p:spPr>
          <a:xfrm>
            <a:off x="274320" y="3291840"/>
            <a:ext cx="1572768" cy="64008"/>
          </a:xfrm>
          <a:prstGeom prst="rect">
            <a:avLst/>
          </a:prstGeom>
          <a:solidFill>
            <a:srgbClr val="DC3545"/>
          </a:solidFill>
          <a:ln/>
        </p:spPr>
        <p:txBody>
          <a:bodyPr/>
          <a:lstStyle/>
          <a:p>
            <a:endParaRPr lang="en-US"/>
          </a:p>
        </p:txBody>
      </p:sp>
      <p:sp>
        <p:nvSpPr>
          <p:cNvPr id="30" name="Text 27"/>
          <p:cNvSpPr/>
          <p:nvPr/>
        </p:nvSpPr>
        <p:spPr>
          <a:xfrm>
            <a:off x="347472" y="3474720"/>
            <a:ext cx="1426464" cy="50292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Order</a:t>
            </a:r>
            <a:endParaRPr lang="en-US" sz="1200"/>
          </a:p>
        </p:txBody>
      </p:sp>
      <p:sp>
        <p:nvSpPr>
          <p:cNvPr id="31" name="Shape 28"/>
          <p:cNvSpPr/>
          <p:nvPr/>
        </p:nvSpPr>
        <p:spPr>
          <a:xfrm>
            <a:off x="969264" y="2779776"/>
            <a:ext cx="18288" cy="512064"/>
          </a:xfrm>
          <a:prstGeom prst="rect">
            <a:avLst/>
          </a:prstGeom>
          <a:solidFill>
            <a:srgbClr val="94A3B8"/>
          </a:solidFill>
          <a:ln/>
        </p:spPr>
        <p:txBody>
          <a:bodyPr/>
          <a:lstStyle/>
          <a:p>
            <a:endParaRPr lang="en-US"/>
          </a:p>
        </p:txBody>
      </p:sp>
      <p:sp>
        <p:nvSpPr>
          <p:cNvPr id="32" name="Shape 29"/>
          <p:cNvSpPr/>
          <p:nvPr/>
        </p:nvSpPr>
        <p:spPr>
          <a:xfrm>
            <a:off x="1993392" y="3291840"/>
            <a:ext cx="1572768" cy="868680"/>
          </a:xfrm>
          <a:prstGeom prst="rect">
            <a:avLst/>
          </a:prstGeom>
          <a:solidFill>
            <a:srgbClr val="102B5A"/>
          </a:solidFill>
          <a:ln/>
          <a:effectLst>
            <a:outerShdw blurRad="76200" dist="25400" dir="8100000" algn="bl" rotWithShape="0">
              <a:srgbClr val="000000">
                <a:alpha val="30000"/>
              </a:srgbClr>
            </a:outerShdw>
          </a:effectLst>
        </p:spPr>
        <p:txBody>
          <a:bodyPr/>
          <a:lstStyle/>
          <a:p>
            <a:endParaRPr lang="en-US"/>
          </a:p>
        </p:txBody>
      </p:sp>
      <p:sp>
        <p:nvSpPr>
          <p:cNvPr id="33" name="Shape 30"/>
          <p:cNvSpPr/>
          <p:nvPr/>
        </p:nvSpPr>
        <p:spPr>
          <a:xfrm>
            <a:off x="1993392" y="3291840"/>
            <a:ext cx="1572768" cy="64008"/>
          </a:xfrm>
          <a:prstGeom prst="rect">
            <a:avLst/>
          </a:prstGeom>
          <a:solidFill>
            <a:srgbClr val="E83E8C"/>
          </a:solidFill>
          <a:ln/>
        </p:spPr>
        <p:txBody>
          <a:bodyPr/>
          <a:lstStyle/>
          <a:p>
            <a:endParaRPr lang="en-US"/>
          </a:p>
        </p:txBody>
      </p:sp>
      <p:sp>
        <p:nvSpPr>
          <p:cNvPr id="34" name="Text 31"/>
          <p:cNvSpPr/>
          <p:nvPr/>
        </p:nvSpPr>
        <p:spPr>
          <a:xfrm>
            <a:off x="2066544" y="3474720"/>
            <a:ext cx="1426464" cy="50292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Payment</a:t>
            </a:r>
            <a:endParaRPr lang="en-US" sz="1200"/>
          </a:p>
        </p:txBody>
      </p:sp>
      <p:sp>
        <p:nvSpPr>
          <p:cNvPr id="35" name="Shape 32"/>
          <p:cNvSpPr/>
          <p:nvPr/>
        </p:nvSpPr>
        <p:spPr>
          <a:xfrm>
            <a:off x="2688336" y="2779776"/>
            <a:ext cx="18288" cy="512064"/>
          </a:xfrm>
          <a:prstGeom prst="rect">
            <a:avLst/>
          </a:prstGeom>
          <a:solidFill>
            <a:srgbClr val="94A3B8"/>
          </a:solidFill>
          <a:ln/>
        </p:spPr>
        <p:txBody>
          <a:bodyPr/>
          <a:lstStyle/>
          <a:p>
            <a:endParaRPr lang="en-US"/>
          </a:p>
        </p:txBody>
      </p:sp>
      <p:sp>
        <p:nvSpPr>
          <p:cNvPr id="36" name="Shape 33"/>
          <p:cNvSpPr/>
          <p:nvPr/>
        </p:nvSpPr>
        <p:spPr>
          <a:xfrm>
            <a:off x="3712464" y="3291840"/>
            <a:ext cx="1572768" cy="868680"/>
          </a:xfrm>
          <a:prstGeom prst="rect">
            <a:avLst/>
          </a:prstGeom>
          <a:solidFill>
            <a:srgbClr val="102B5A"/>
          </a:solidFill>
          <a:ln/>
          <a:effectLst>
            <a:outerShdw blurRad="76200" dist="25400" dir="8100000" algn="bl" rotWithShape="0">
              <a:srgbClr val="000000">
                <a:alpha val="30000"/>
              </a:srgbClr>
            </a:outerShdw>
          </a:effectLst>
        </p:spPr>
        <p:txBody>
          <a:bodyPr/>
          <a:lstStyle/>
          <a:p>
            <a:endParaRPr lang="en-US"/>
          </a:p>
        </p:txBody>
      </p:sp>
      <p:sp>
        <p:nvSpPr>
          <p:cNvPr id="37" name="Shape 34"/>
          <p:cNvSpPr/>
          <p:nvPr/>
        </p:nvSpPr>
        <p:spPr>
          <a:xfrm>
            <a:off x="3712464" y="3291840"/>
            <a:ext cx="1572768" cy="64008"/>
          </a:xfrm>
          <a:prstGeom prst="rect">
            <a:avLst/>
          </a:prstGeom>
          <a:solidFill>
            <a:srgbClr val="17A2B8"/>
          </a:solidFill>
          <a:ln/>
        </p:spPr>
        <p:txBody>
          <a:bodyPr/>
          <a:lstStyle/>
          <a:p>
            <a:endParaRPr lang="en-US"/>
          </a:p>
        </p:txBody>
      </p:sp>
      <p:sp>
        <p:nvSpPr>
          <p:cNvPr id="38" name="Text 35"/>
          <p:cNvSpPr/>
          <p:nvPr/>
        </p:nvSpPr>
        <p:spPr>
          <a:xfrm>
            <a:off x="3785616" y="3474720"/>
            <a:ext cx="1426464" cy="50292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Fulfillment</a:t>
            </a:r>
            <a:endParaRPr lang="en-US" sz="1200"/>
          </a:p>
        </p:txBody>
      </p:sp>
      <p:sp>
        <p:nvSpPr>
          <p:cNvPr id="39" name="Shape 36"/>
          <p:cNvSpPr/>
          <p:nvPr/>
        </p:nvSpPr>
        <p:spPr>
          <a:xfrm>
            <a:off x="4407408" y="2779776"/>
            <a:ext cx="18288" cy="512064"/>
          </a:xfrm>
          <a:prstGeom prst="rect">
            <a:avLst/>
          </a:prstGeom>
          <a:solidFill>
            <a:srgbClr val="94A3B8"/>
          </a:solidFill>
          <a:ln/>
        </p:spPr>
        <p:txBody>
          <a:bodyPr/>
          <a:lstStyle/>
          <a:p>
            <a:endParaRPr lang="en-US"/>
          </a:p>
        </p:txBody>
      </p:sp>
      <p:sp>
        <p:nvSpPr>
          <p:cNvPr id="40" name="Shape 37"/>
          <p:cNvSpPr/>
          <p:nvPr/>
        </p:nvSpPr>
        <p:spPr>
          <a:xfrm>
            <a:off x="5431536" y="3291840"/>
            <a:ext cx="1572768" cy="868680"/>
          </a:xfrm>
          <a:prstGeom prst="rect">
            <a:avLst/>
          </a:prstGeom>
          <a:solidFill>
            <a:srgbClr val="102B5A"/>
          </a:solidFill>
          <a:ln/>
          <a:effectLst>
            <a:outerShdw blurRad="76200" dist="25400" dir="8100000" algn="bl" rotWithShape="0">
              <a:srgbClr val="000000">
                <a:alpha val="30000"/>
              </a:srgbClr>
            </a:outerShdw>
          </a:effectLst>
        </p:spPr>
        <p:txBody>
          <a:bodyPr/>
          <a:lstStyle/>
          <a:p>
            <a:endParaRPr lang="en-US"/>
          </a:p>
        </p:txBody>
      </p:sp>
      <p:sp>
        <p:nvSpPr>
          <p:cNvPr id="41" name="Shape 38"/>
          <p:cNvSpPr/>
          <p:nvPr/>
        </p:nvSpPr>
        <p:spPr>
          <a:xfrm>
            <a:off x="5431536" y="3291840"/>
            <a:ext cx="1572768" cy="64008"/>
          </a:xfrm>
          <a:prstGeom prst="rect">
            <a:avLst/>
          </a:prstGeom>
          <a:solidFill>
            <a:srgbClr val="868E96"/>
          </a:solidFill>
          <a:ln/>
        </p:spPr>
        <p:txBody>
          <a:bodyPr/>
          <a:lstStyle/>
          <a:p>
            <a:endParaRPr lang="en-US"/>
          </a:p>
        </p:txBody>
      </p:sp>
      <p:sp>
        <p:nvSpPr>
          <p:cNvPr id="42" name="Text 39"/>
          <p:cNvSpPr/>
          <p:nvPr/>
        </p:nvSpPr>
        <p:spPr>
          <a:xfrm>
            <a:off x="5504688" y="3474720"/>
            <a:ext cx="1426464" cy="50292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Comms</a:t>
            </a:r>
            <a:endParaRPr lang="en-US" sz="1200"/>
          </a:p>
        </p:txBody>
      </p:sp>
      <p:sp>
        <p:nvSpPr>
          <p:cNvPr id="43" name="Shape 40"/>
          <p:cNvSpPr/>
          <p:nvPr/>
        </p:nvSpPr>
        <p:spPr>
          <a:xfrm>
            <a:off x="6126480" y="2779776"/>
            <a:ext cx="18288" cy="512064"/>
          </a:xfrm>
          <a:prstGeom prst="rect">
            <a:avLst/>
          </a:prstGeom>
          <a:solidFill>
            <a:srgbClr val="94A3B8"/>
          </a:solidFill>
          <a:ln/>
        </p:spPr>
        <p:txBody>
          <a:bodyPr/>
          <a:lstStyle/>
          <a:p>
            <a:endParaRPr lang="en-US"/>
          </a:p>
        </p:txBody>
      </p:sp>
      <p:sp>
        <p:nvSpPr>
          <p:cNvPr id="44" name="Shape 41"/>
          <p:cNvSpPr/>
          <p:nvPr/>
        </p:nvSpPr>
        <p:spPr>
          <a:xfrm>
            <a:off x="7150608" y="3291840"/>
            <a:ext cx="1572768" cy="868680"/>
          </a:xfrm>
          <a:prstGeom prst="rect">
            <a:avLst/>
          </a:prstGeom>
          <a:solidFill>
            <a:srgbClr val="102B5A"/>
          </a:solidFill>
          <a:ln/>
          <a:effectLst>
            <a:outerShdw blurRad="76200" dist="25400" dir="8100000" algn="bl" rotWithShape="0">
              <a:srgbClr val="000000">
                <a:alpha val="30000"/>
              </a:srgbClr>
            </a:outerShdw>
          </a:effectLst>
        </p:spPr>
        <p:txBody>
          <a:bodyPr/>
          <a:lstStyle/>
          <a:p>
            <a:endParaRPr lang="en-US"/>
          </a:p>
        </p:txBody>
      </p:sp>
      <p:sp>
        <p:nvSpPr>
          <p:cNvPr id="45" name="Shape 42"/>
          <p:cNvSpPr/>
          <p:nvPr/>
        </p:nvSpPr>
        <p:spPr>
          <a:xfrm>
            <a:off x="7150608" y="3291840"/>
            <a:ext cx="1572768" cy="64008"/>
          </a:xfrm>
          <a:prstGeom prst="rect">
            <a:avLst/>
          </a:prstGeom>
          <a:solidFill>
            <a:srgbClr val="F0AD4E"/>
          </a:solidFill>
          <a:ln/>
        </p:spPr>
        <p:txBody>
          <a:bodyPr/>
          <a:lstStyle/>
          <a:p>
            <a:endParaRPr lang="en-US"/>
          </a:p>
        </p:txBody>
      </p:sp>
      <p:sp>
        <p:nvSpPr>
          <p:cNvPr id="46" name="Text 43"/>
          <p:cNvSpPr/>
          <p:nvPr/>
        </p:nvSpPr>
        <p:spPr>
          <a:xfrm>
            <a:off x="7223760" y="3474720"/>
            <a:ext cx="1426464" cy="50292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FAQ</a:t>
            </a:r>
            <a:endParaRPr lang="en-US" sz="1200"/>
          </a:p>
        </p:txBody>
      </p:sp>
      <p:sp>
        <p:nvSpPr>
          <p:cNvPr id="47" name="Shape 44"/>
          <p:cNvSpPr/>
          <p:nvPr/>
        </p:nvSpPr>
        <p:spPr>
          <a:xfrm>
            <a:off x="7845552" y="2779776"/>
            <a:ext cx="18288" cy="512064"/>
          </a:xfrm>
          <a:prstGeom prst="rect">
            <a:avLst/>
          </a:prstGeom>
          <a:solidFill>
            <a:srgbClr val="94A3B8"/>
          </a:solidFill>
          <a:ln/>
        </p:spPr>
        <p:txBody>
          <a:bodyPr/>
          <a:lstStyle/>
          <a:p>
            <a:endParaRPr lang="en-US"/>
          </a:p>
        </p:txBody>
      </p:sp>
      <p:sp>
        <p:nvSpPr>
          <p:cNvPr id="48" name="Shape 45"/>
          <p:cNvSpPr/>
          <p:nvPr/>
        </p:nvSpPr>
        <p:spPr>
          <a:xfrm>
            <a:off x="457200" y="4315968"/>
            <a:ext cx="8229600" cy="658368"/>
          </a:xfrm>
          <a:prstGeom prst="rect">
            <a:avLst/>
          </a:prstGeom>
          <a:solidFill>
            <a:srgbClr val="102B5A"/>
          </a:solidFill>
          <a:ln/>
        </p:spPr>
        <p:txBody>
          <a:bodyPr/>
          <a:lstStyle/>
          <a:p>
            <a:endParaRPr lang="en-US"/>
          </a:p>
        </p:txBody>
      </p:sp>
      <p:sp>
        <p:nvSpPr>
          <p:cNvPr id="49" name="Text 46"/>
          <p:cNvSpPr/>
          <p:nvPr/>
        </p:nvSpPr>
        <p:spPr>
          <a:xfrm>
            <a:off x="640080" y="4361688"/>
            <a:ext cx="7863840" cy="548640"/>
          </a:xfrm>
          <a:prstGeom prst="rect">
            <a:avLst/>
          </a:prstGeom>
          <a:noFill/>
          <a:ln/>
        </p:spPr>
        <p:txBody>
          <a:bodyPr wrap="square" rtlCol="0" anchor="ctr"/>
          <a:lstStyle/>
          <a:p>
            <a:pPr marL="0" indent="0">
              <a:buNone/>
            </a:pPr>
            <a:r>
              <a:rPr lang="en-US" sz="1100" b="1">
                <a:solidFill>
                  <a:srgbClr val="00C2C7"/>
                </a:solidFill>
                <a:latin typeface="Calibri" pitchFamily="34" charset="0"/>
                <a:ea typeface="Calibri" pitchFamily="34" charset="-122"/>
                <a:cs typeface="Calibri" pitchFamily="34" charset="-120"/>
              </a:rPr>
              <a:t>Key Design Principles:  </a:t>
            </a:r>
            <a:r>
              <a:rPr lang="en-US" sz="1100">
                <a:solidFill>
                  <a:srgbClr val="E8F4F8"/>
                </a:solidFill>
                <a:latin typeface="Calibri" pitchFamily="34" charset="0"/>
                <a:ea typeface="Calibri" pitchFamily="34" charset="-122"/>
                <a:cs typeface="Calibri" pitchFamily="34" charset="-120"/>
              </a:rPr>
              <a:t>Zero hallucination on critical data  ·  Temperature-stratified agents (0.0 for deterministic, 0.7 for conversational)  ·  Router-only SuperAgent (never generates user-facing text)</a:t>
            </a:r>
            <a:endParaRPr lang="en-US" sz="1100"/>
          </a:p>
        </p:txBody>
      </p:sp>
      <p:sp>
        <p:nvSpPr>
          <p:cNvPr id="50" name="Shape 8">
            <a:extLst>
              <a:ext uri="{FF2B5EF4-FFF2-40B4-BE49-F238E27FC236}">
                <a16:creationId xmlns:a16="http://schemas.microsoft.com/office/drawing/2014/main" id="{351429CD-C9FB-EE35-CE8C-7EEA3D6CD067}"/>
              </a:ext>
            </a:extLst>
          </p:cNvPr>
          <p:cNvSpPr/>
          <p:nvPr/>
        </p:nvSpPr>
        <p:spPr>
          <a:xfrm rot="5400000">
            <a:off x="4384549" y="-1728898"/>
            <a:ext cx="45719" cy="6876290"/>
          </a:xfrm>
          <a:prstGeom prst="rect">
            <a:avLst/>
          </a:prstGeom>
          <a:solidFill>
            <a:srgbClr val="94A3B8"/>
          </a:solidFill>
          <a:ln/>
        </p:spPr>
        <p:txBody>
          <a:bodyPr/>
          <a:lstStyle/>
          <a:p>
            <a:endParaRPr lang="en-US"/>
          </a:p>
        </p:txBody>
      </p:sp>
      <p:sp>
        <p:nvSpPr>
          <p:cNvPr id="51" name="Shape 8">
            <a:extLst>
              <a:ext uri="{FF2B5EF4-FFF2-40B4-BE49-F238E27FC236}">
                <a16:creationId xmlns:a16="http://schemas.microsoft.com/office/drawing/2014/main" id="{DEF6A486-C3ED-A7EE-B037-8C05E917179F}"/>
              </a:ext>
            </a:extLst>
          </p:cNvPr>
          <p:cNvSpPr/>
          <p:nvPr/>
        </p:nvSpPr>
        <p:spPr>
          <a:xfrm rot="5400000">
            <a:off x="4384548" y="-649225"/>
            <a:ext cx="45719" cy="6876290"/>
          </a:xfrm>
          <a:prstGeom prst="rect">
            <a:avLst/>
          </a:prstGeom>
          <a:solidFill>
            <a:srgbClr val="94A3B8"/>
          </a:solidFill>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B3E"/>
        </a:solidFill>
        <a:effectLst/>
      </p:bgPr>
    </p:bg>
    <p:spTree>
      <p:nvGrpSpPr>
        <p:cNvPr id="1" name=""/>
        <p:cNvGrpSpPr/>
        <p:nvPr/>
      </p:nvGrpSpPr>
      <p:grpSpPr>
        <a:xfrm>
          <a:off x="0" y="0"/>
          <a:ext cx="0" cy="0"/>
          <a:chOff x="0" y="0"/>
          <a:chExt cx="0" cy="0"/>
        </a:xfrm>
      </p:grpSpPr>
      <p:sp>
        <p:nvSpPr>
          <p:cNvPr id="75" name="Shape 57"/>
          <p:cNvSpPr/>
          <p:nvPr/>
        </p:nvSpPr>
        <p:spPr>
          <a:xfrm>
            <a:off x="3657600" y="1389888"/>
            <a:ext cx="4315968" cy="1101852"/>
          </a:xfrm>
          <a:prstGeom prst="line">
            <a:avLst/>
          </a:prstGeom>
          <a:noFill/>
          <a:ln w="12700">
            <a:solidFill>
              <a:schemeClr val="bg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Shape 49"/>
          <p:cNvSpPr/>
          <p:nvPr/>
        </p:nvSpPr>
        <p:spPr>
          <a:xfrm>
            <a:off x="3657600" y="1389888"/>
            <a:ext cx="2249424" cy="1101852"/>
          </a:xfrm>
          <a:prstGeom prst="line">
            <a:avLst/>
          </a:prstGeom>
          <a:noFill/>
          <a:ln w="12700">
            <a:solidFill>
              <a:schemeClr val="bg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Shape 43"/>
          <p:cNvSpPr/>
          <p:nvPr/>
        </p:nvSpPr>
        <p:spPr>
          <a:xfrm>
            <a:off x="3657600" y="1389888"/>
            <a:ext cx="1216152" cy="1101852"/>
          </a:xfrm>
          <a:prstGeom prst="line">
            <a:avLst/>
          </a:prstGeom>
          <a:noFill/>
          <a:ln w="12700">
            <a:solidFill>
              <a:schemeClr val="bg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Shape 53"/>
          <p:cNvSpPr/>
          <p:nvPr/>
        </p:nvSpPr>
        <p:spPr>
          <a:xfrm>
            <a:off x="3657600" y="1389888"/>
            <a:ext cx="3282696" cy="1101852"/>
          </a:xfrm>
          <a:prstGeom prst="line">
            <a:avLst/>
          </a:prstGeom>
          <a:noFill/>
          <a:ln w="12700">
            <a:solidFill>
              <a:schemeClr val="bg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ext 0"/>
          <p:cNvSpPr/>
          <p:nvPr/>
        </p:nvSpPr>
        <p:spPr>
          <a:xfrm>
            <a:off x="411480" y="128016"/>
            <a:ext cx="786384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a:ln>
                  <a:noFill/>
                </a:ln>
                <a:solidFill>
                  <a:srgbClr val="E2E8F0"/>
                </a:solidFill>
                <a:effectLst/>
                <a:uLnTx/>
                <a:uFillTx/>
                <a:ea typeface="Trebuchet MS" pitchFamily="34" charset="-122"/>
                <a:cs typeface="Trebuchet MS" pitchFamily="34" charset="-120"/>
              </a:rPr>
              <a:t>Agent –Workflows - Architecture Diagram</a:t>
            </a:r>
            <a:endParaRPr kumimoji="0" lang="en-US" sz="2600" b="0" i="0" u="none" strike="noStrike" kern="1200" cap="none" spc="0" normalizeH="0" baseline="0" noProof="0">
              <a:ln>
                <a:noFill/>
              </a:ln>
              <a:solidFill>
                <a:prstClr val="black"/>
              </a:solidFill>
              <a:effectLst/>
              <a:uLnTx/>
              <a:uFillTx/>
              <a:ea typeface="+mn-ea"/>
              <a:cs typeface="+mn-cs"/>
            </a:endParaRPr>
          </a:p>
        </p:txBody>
      </p:sp>
      <p:sp>
        <p:nvSpPr>
          <p:cNvPr id="3" name="Text 1"/>
          <p:cNvSpPr/>
          <p:nvPr/>
        </p:nvSpPr>
        <p:spPr>
          <a:xfrm>
            <a:off x="7772400" y="4754880"/>
            <a:ext cx="109728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94A3B8"/>
                </a:solidFill>
                <a:effectLst/>
                <a:uLnTx/>
                <a:uFillTx/>
                <a:latin typeface="Calibri" pitchFamily="34" charset="0"/>
                <a:ea typeface="Calibri" pitchFamily="34" charset="-122"/>
                <a:cs typeface="Calibri" pitchFamily="34" charset="-120"/>
              </a:rPr>
              <a:t>8 / 21</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365760" y="1097280"/>
            <a:ext cx="1371600" cy="594360"/>
          </a:xfrm>
          <a:prstGeom prst="rect">
            <a:avLst/>
          </a:prstGeom>
          <a:solidFill>
            <a:srgbClr val="3B82F6"/>
          </a:solidFill>
          <a:ln>
            <a:solidFill>
              <a:schemeClr val="bg1"/>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365760" y="1097280"/>
            <a:ext cx="137160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React + </a:t>
            </a:r>
            <a:r>
              <a:rPr kumimoji="0" lang="en-US" sz="900" b="1" i="0" u="none" strike="noStrike" kern="1200" cap="none" spc="0" normalizeH="0" baseline="0" noProof="0" err="1">
                <a:ln>
                  <a:noFill/>
                </a:ln>
                <a:solidFill>
                  <a:srgbClr val="FFFFFF"/>
                </a:solidFill>
                <a:effectLst/>
                <a:uLnTx/>
                <a:uFillTx/>
                <a:latin typeface="Calibri" pitchFamily="34" charset="0"/>
                <a:ea typeface="Calibri" pitchFamily="34" charset="-122"/>
                <a:cs typeface="Calibri" pitchFamily="34" charset="-120"/>
              </a:rPr>
              <a:t>FastAPI</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1737360" y="1389888"/>
            <a:ext cx="457200" cy="0"/>
          </a:xfrm>
          <a:prstGeom prst="line">
            <a:avLst/>
          </a:prstGeom>
          <a:noFill/>
          <a:ln w="25400">
            <a:solidFill>
              <a:srgbClr val="06B6D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2194560" y="868680"/>
            <a:ext cx="1463040" cy="1097280"/>
          </a:xfrm>
          <a:prstGeom prst="rect">
            <a:avLst/>
          </a:prstGeom>
          <a:solidFill>
            <a:srgbClr val="1E293B"/>
          </a:solidFill>
          <a:ln>
            <a:solidFill>
              <a:schemeClr val="bg1"/>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2194560" y="868680"/>
            <a:ext cx="1463040" cy="36576"/>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2194560" y="1371600"/>
            <a:ext cx="146304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err="1">
                <a:ln>
                  <a:noFill/>
                </a:ln>
                <a:solidFill>
                  <a:srgbClr val="E2E8F0"/>
                </a:solidFill>
                <a:effectLst/>
                <a:uLnTx/>
                <a:uFillTx/>
                <a:latin typeface="Trebuchet MS" pitchFamily="34" charset="0"/>
                <a:ea typeface="Trebuchet MS" pitchFamily="34" charset="-122"/>
                <a:cs typeface="Trebuchet MS" pitchFamily="34" charset="-120"/>
              </a:rPr>
              <a:t>SuperAgent</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8"/>
          <p:cNvSpPr/>
          <p:nvPr/>
        </p:nvSpPr>
        <p:spPr>
          <a:xfrm>
            <a:off x="2194560" y="1600200"/>
            <a:ext cx="1463040" cy="2286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94A3B8"/>
                </a:solidFill>
                <a:effectLst/>
                <a:uLnTx/>
                <a:uFillTx/>
                <a:latin typeface="Calibri" pitchFamily="34" charset="0"/>
                <a:ea typeface="Calibri" pitchFamily="34" charset="-122"/>
                <a:cs typeface="Calibri" pitchFamily="34" charset="-120"/>
              </a:rPr>
              <a:t>Orchestrator</a:t>
            </a:r>
            <a:endParaRPr kumimoji="0" lang="en-US"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9"/>
          <p:cNvSpPr/>
          <p:nvPr/>
        </p:nvSpPr>
        <p:spPr>
          <a:xfrm>
            <a:off x="3657600" y="1389888"/>
            <a:ext cx="182880" cy="0"/>
          </a:xfrm>
          <a:prstGeom prst="line">
            <a:avLst/>
          </a:prstGeom>
          <a:noFill/>
          <a:ln w="12700">
            <a:solidFill>
              <a:srgbClr val="33415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0"/>
          <p:cNvSpPr/>
          <p:nvPr/>
        </p:nvSpPr>
        <p:spPr>
          <a:xfrm>
            <a:off x="3840480" y="914400"/>
            <a:ext cx="960120" cy="502920"/>
          </a:xfrm>
          <a:prstGeom prst="rect">
            <a:avLst/>
          </a:prstGeom>
          <a:solidFill>
            <a:srgbClr val="1E293B"/>
          </a:solidFill>
          <a:ln>
            <a:solidFill>
              <a:schemeClr val="bg1"/>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1"/>
          <p:cNvSpPr/>
          <p:nvPr/>
        </p:nvSpPr>
        <p:spPr>
          <a:xfrm>
            <a:off x="3840480" y="914400"/>
            <a:ext cx="960120" cy="27432"/>
          </a:xfrm>
          <a:prstGeom prst="rect">
            <a:avLst/>
          </a:prstGeom>
          <a:solidFill>
            <a:srgbClr val="10B98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5" name="Image 1" descr="preencoded.png"/>
          <p:cNvPicPr>
            <a:picLocks noChangeAspect="1"/>
          </p:cNvPicPr>
          <p:nvPr/>
        </p:nvPicPr>
        <p:blipFill>
          <a:blip r:embed="rId3"/>
          <a:stretch>
            <a:fillRect/>
          </a:stretch>
        </p:blipFill>
        <p:spPr>
          <a:xfrm>
            <a:off x="3913632" y="1033272"/>
            <a:ext cx="201168" cy="201168"/>
          </a:xfrm>
          <a:prstGeom prst="rect">
            <a:avLst/>
          </a:prstGeom>
        </p:spPr>
      </p:pic>
      <p:sp>
        <p:nvSpPr>
          <p:cNvPr id="16" name="Text 12"/>
          <p:cNvSpPr/>
          <p:nvPr/>
        </p:nvSpPr>
        <p:spPr>
          <a:xfrm>
            <a:off x="4142232" y="960120"/>
            <a:ext cx="59436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E2E8F0"/>
                </a:solidFill>
                <a:effectLst/>
                <a:uLnTx/>
                <a:uFillTx/>
                <a:latin typeface="Calibri" pitchFamily="34" charset="0"/>
                <a:ea typeface="Calibri" pitchFamily="34" charset="-122"/>
                <a:cs typeface="Calibri" pitchFamily="34" charset="-120"/>
              </a:rPr>
              <a:t>Discovery</a:t>
            </a:r>
            <a:endParaRPr kumimoji="0" lang="en-US"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3"/>
          <p:cNvSpPr/>
          <p:nvPr/>
        </p:nvSpPr>
        <p:spPr>
          <a:xfrm>
            <a:off x="3977640" y="1490472"/>
            <a:ext cx="685800" cy="320040"/>
          </a:xfrm>
          <a:prstGeom prst="rect">
            <a:avLst/>
          </a:prstGeom>
          <a:solidFill>
            <a:srgbClr val="0F172A"/>
          </a:solidFill>
          <a:ln w="6350">
            <a:solidFill>
              <a:schemeClr val="bg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8" name="Image 2" descr="preencoded.png"/>
          <p:cNvPicPr>
            <a:picLocks noChangeAspect="1"/>
          </p:cNvPicPr>
          <p:nvPr/>
        </p:nvPicPr>
        <p:blipFill>
          <a:blip r:embed="rId4"/>
          <a:stretch>
            <a:fillRect/>
          </a:stretch>
        </p:blipFill>
        <p:spPr>
          <a:xfrm>
            <a:off x="4041648" y="1554480"/>
            <a:ext cx="146304" cy="146304"/>
          </a:xfrm>
          <a:prstGeom prst="rect">
            <a:avLst/>
          </a:prstGeom>
        </p:spPr>
      </p:pic>
      <p:sp>
        <p:nvSpPr>
          <p:cNvPr id="19" name="Text 14"/>
          <p:cNvSpPr/>
          <p:nvPr/>
        </p:nvSpPr>
        <p:spPr>
          <a:xfrm>
            <a:off x="4206240" y="1490472"/>
            <a:ext cx="457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94A3B8"/>
                </a:solidFill>
                <a:effectLst/>
                <a:uLnTx/>
                <a:uFillTx/>
                <a:latin typeface="Calibri" pitchFamily="34" charset="0"/>
                <a:ea typeface="Calibri" pitchFamily="34" charset="-122"/>
                <a:cs typeface="Calibri" pitchFamily="34" charset="-120"/>
              </a:rPr>
              <a:t>SQLite DB</a:t>
            </a:r>
            <a:endParaRPr kumimoji="0" lang="en-US" sz="7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5"/>
          <p:cNvSpPr/>
          <p:nvPr/>
        </p:nvSpPr>
        <p:spPr>
          <a:xfrm>
            <a:off x="3657600" y="1389888"/>
            <a:ext cx="1216152" cy="0"/>
          </a:xfrm>
          <a:prstGeom prst="line">
            <a:avLst/>
          </a:prstGeom>
          <a:noFill/>
          <a:ln w="12700">
            <a:solidFill>
              <a:srgbClr val="33415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6"/>
          <p:cNvSpPr/>
          <p:nvPr/>
        </p:nvSpPr>
        <p:spPr>
          <a:xfrm>
            <a:off x="4873752" y="914400"/>
            <a:ext cx="960120" cy="502920"/>
          </a:xfrm>
          <a:prstGeom prst="rect">
            <a:avLst/>
          </a:prstGeom>
          <a:solidFill>
            <a:srgbClr val="1E293B"/>
          </a:solidFill>
          <a:ln>
            <a:solidFill>
              <a:schemeClr val="bg1"/>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17"/>
          <p:cNvSpPr/>
          <p:nvPr/>
        </p:nvSpPr>
        <p:spPr>
          <a:xfrm>
            <a:off x="4873752" y="914400"/>
            <a:ext cx="960120" cy="27432"/>
          </a:xfrm>
          <a:prstGeom prst="rect">
            <a:avLst/>
          </a:prstGeom>
          <a:solidFill>
            <a:srgbClr val="3B82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3" descr="preencoded.png"/>
          <p:cNvPicPr>
            <a:picLocks noChangeAspect="1"/>
          </p:cNvPicPr>
          <p:nvPr/>
        </p:nvPicPr>
        <p:blipFill>
          <a:blip r:embed="rId5"/>
          <a:stretch>
            <a:fillRect/>
          </a:stretch>
        </p:blipFill>
        <p:spPr>
          <a:xfrm>
            <a:off x="4946904" y="1033272"/>
            <a:ext cx="201168" cy="201168"/>
          </a:xfrm>
          <a:prstGeom prst="rect">
            <a:avLst/>
          </a:prstGeom>
        </p:spPr>
      </p:pic>
      <p:sp>
        <p:nvSpPr>
          <p:cNvPr id="24" name="Text 18"/>
          <p:cNvSpPr/>
          <p:nvPr/>
        </p:nvSpPr>
        <p:spPr>
          <a:xfrm>
            <a:off x="5175504" y="960120"/>
            <a:ext cx="59436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E2E8F0"/>
                </a:solidFill>
                <a:effectLst/>
                <a:uLnTx/>
                <a:uFillTx/>
                <a:latin typeface="Calibri" pitchFamily="34" charset="0"/>
                <a:ea typeface="Calibri" pitchFamily="34" charset="-122"/>
                <a:cs typeface="Calibri" pitchFamily="34" charset="-120"/>
              </a:rPr>
              <a:t>Serviceability</a:t>
            </a:r>
            <a:endParaRPr kumimoji="0" lang="en-US"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19"/>
          <p:cNvSpPr/>
          <p:nvPr/>
        </p:nvSpPr>
        <p:spPr>
          <a:xfrm>
            <a:off x="5010912" y="1490472"/>
            <a:ext cx="685800" cy="320040"/>
          </a:xfrm>
          <a:prstGeom prst="rect">
            <a:avLst/>
          </a:prstGeom>
          <a:solidFill>
            <a:srgbClr val="0F172A"/>
          </a:solidFill>
          <a:ln w="6350">
            <a:solidFill>
              <a:schemeClr val="bg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0"/>
          <p:cNvSpPr/>
          <p:nvPr/>
        </p:nvSpPr>
        <p:spPr>
          <a:xfrm>
            <a:off x="5239512" y="1490472"/>
            <a:ext cx="457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94A3B8"/>
                </a:solidFill>
                <a:effectLst/>
                <a:uLnTx/>
                <a:uFillTx/>
                <a:latin typeface="Calibri" pitchFamily="34" charset="0"/>
                <a:ea typeface="Calibri" pitchFamily="34" charset="-122"/>
                <a:cs typeface="Calibri" pitchFamily="34" charset="-120"/>
              </a:rPr>
              <a:t>GIS API</a:t>
            </a:r>
            <a:endParaRPr kumimoji="0" lang="en-US" sz="7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1"/>
          <p:cNvSpPr/>
          <p:nvPr/>
        </p:nvSpPr>
        <p:spPr>
          <a:xfrm>
            <a:off x="3657600" y="1389888"/>
            <a:ext cx="2249424" cy="0"/>
          </a:xfrm>
          <a:prstGeom prst="line">
            <a:avLst/>
          </a:prstGeom>
          <a:noFill/>
          <a:ln w="12700">
            <a:solidFill>
              <a:srgbClr val="33415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2"/>
          <p:cNvSpPr/>
          <p:nvPr/>
        </p:nvSpPr>
        <p:spPr>
          <a:xfrm>
            <a:off x="5907024" y="914400"/>
            <a:ext cx="960120" cy="502920"/>
          </a:xfrm>
          <a:prstGeom prst="rect">
            <a:avLst/>
          </a:prstGeom>
          <a:solidFill>
            <a:srgbClr val="1E293B"/>
          </a:solidFill>
          <a:ln>
            <a:solidFill>
              <a:schemeClr val="bg1"/>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3"/>
          <p:cNvSpPr/>
          <p:nvPr/>
        </p:nvSpPr>
        <p:spPr>
          <a:xfrm>
            <a:off x="5907024" y="914400"/>
            <a:ext cx="960120" cy="27432"/>
          </a:xfrm>
          <a:prstGeom prst="rect">
            <a:avLst/>
          </a:prstGeom>
          <a:solidFill>
            <a:srgbClr val="8B5C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1" name="Image 5" descr="preencoded.png"/>
          <p:cNvPicPr>
            <a:picLocks noChangeAspect="1"/>
          </p:cNvPicPr>
          <p:nvPr/>
        </p:nvPicPr>
        <p:blipFill>
          <a:blip r:embed="rId6"/>
          <a:stretch>
            <a:fillRect/>
          </a:stretch>
        </p:blipFill>
        <p:spPr>
          <a:xfrm>
            <a:off x="5980176" y="1033272"/>
            <a:ext cx="201168" cy="201168"/>
          </a:xfrm>
          <a:prstGeom prst="rect">
            <a:avLst/>
          </a:prstGeom>
        </p:spPr>
      </p:pic>
      <p:sp>
        <p:nvSpPr>
          <p:cNvPr id="32" name="Text 24"/>
          <p:cNvSpPr/>
          <p:nvPr/>
        </p:nvSpPr>
        <p:spPr>
          <a:xfrm>
            <a:off x="6208776" y="960120"/>
            <a:ext cx="59436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E2E8F0"/>
                </a:solidFill>
                <a:effectLst/>
                <a:uLnTx/>
                <a:uFillTx/>
                <a:latin typeface="Calibri" pitchFamily="34" charset="0"/>
                <a:ea typeface="Calibri" pitchFamily="34" charset="-122"/>
                <a:cs typeface="Calibri" pitchFamily="34" charset="-120"/>
              </a:rPr>
              <a:t>Product</a:t>
            </a:r>
            <a:endParaRPr kumimoji="0" lang="en-US"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25"/>
          <p:cNvSpPr/>
          <p:nvPr/>
        </p:nvSpPr>
        <p:spPr>
          <a:xfrm>
            <a:off x="6044184" y="1490472"/>
            <a:ext cx="685800" cy="320040"/>
          </a:xfrm>
          <a:prstGeom prst="rect">
            <a:avLst/>
          </a:prstGeom>
          <a:solidFill>
            <a:srgbClr val="0F172A"/>
          </a:solidFill>
          <a:ln w="6350">
            <a:solidFill>
              <a:schemeClr val="bg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4" name="Image 6" descr="preencoded.png"/>
          <p:cNvPicPr>
            <a:picLocks noChangeAspect="1"/>
          </p:cNvPicPr>
          <p:nvPr/>
        </p:nvPicPr>
        <p:blipFill>
          <a:blip r:embed="rId4"/>
          <a:stretch>
            <a:fillRect/>
          </a:stretch>
        </p:blipFill>
        <p:spPr>
          <a:xfrm>
            <a:off x="6108192" y="1554480"/>
            <a:ext cx="146304" cy="146304"/>
          </a:xfrm>
          <a:prstGeom prst="rect">
            <a:avLst/>
          </a:prstGeom>
        </p:spPr>
      </p:pic>
      <p:sp>
        <p:nvSpPr>
          <p:cNvPr id="35" name="Text 26"/>
          <p:cNvSpPr/>
          <p:nvPr/>
        </p:nvSpPr>
        <p:spPr>
          <a:xfrm>
            <a:off x="6272784" y="1490472"/>
            <a:ext cx="457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94A3B8"/>
                </a:solidFill>
                <a:effectLst/>
                <a:uLnTx/>
                <a:uFillTx/>
                <a:latin typeface="Calibri" pitchFamily="34" charset="0"/>
                <a:ea typeface="Calibri" pitchFamily="34" charset="-122"/>
                <a:cs typeface="Calibri" pitchFamily="34" charset="-120"/>
              </a:rPr>
              <a:t>Chroma RAG</a:t>
            </a:r>
            <a:endParaRPr kumimoji="0" lang="en-US" sz="7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27"/>
          <p:cNvSpPr/>
          <p:nvPr/>
        </p:nvSpPr>
        <p:spPr>
          <a:xfrm>
            <a:off x="3657600" y="1389888"/>
            <a:ext cx="3282696" cy="0"/>
          </a:xfrm>
          <a:prstGeom prst="line">
            <a:avLst/>
          </a:prstGeom>
          <a:noFill/>
          <a:ln w="12700">
            <a:solidFill>
              <a:srgbClr val="33415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28"/>
          <p:cNvSpPr/>
          <p:nvPr/>
        </p:nvSpPr>
        <p:spPr>
          <a:xfrm>
            <a:off x="6940296" y="914400"/>
            <a:ext cx="960120" cy="502920"/>
          </a:xfrm>
          <a:prstGeom prst="rect">
            <a:avLst/>
          </a:prstGeom>
          <a:solidFill>
            <a:srgbClr val="1E293B"/>
          </a:solidFill>
          <a:ln>
            <a:solidFill>
              <a:schemeClr val="bg1"/>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29"/>
          <p:cNvSpPr/>
          <p:nvPr/>
        </p:nvSpPr>
        <p:spPr>
          <a:xfrm>
            <a:off x="6940296" y="914400"/>
            <a:ext cx="960120" cy="27432"/>
          </a:xfrm>
          <a:prstGeom prst="rect">
            <a:avLst/>
          </a:prstGeom>
          <a:solidFill>
            <a:srgbClr val="F59E0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9" name="Image 7" descr="preencoded.png"/>
          <p:cNvPicPr>
            <a:picLocks noChangeAspect="1"/>
          </p:cNvPicPr>
          <p:nvPr/>
        </p:nvPicPr>
        <p:blipFill>
          <a:blip r:embed="rId7"/>
          <a:stretch>
            <a:fillRect/>
          </a:stretch>
        </p:blipFill>
        <p:spPr>
          <a:xfrm>
            <a:off x="7013448" y="1033272"/>
            <a:ext cx="201168" cy="201168"/>
          </a:xfrm>
          <a:prstGeom prst="rect">
            <a:avLst/>
          </a:prstGeom>
        </p:spPr>
      </p:pic>
      <p:sp>
        <p:nvSpPr>
          <p:cNvPr id="40" name="Text 30"/>
          <p:cNvSpPr/>
          <p:nvPr/>
        </p:nvSpPr>
        <p:spPr>
          <a:xfrm>
            <a:off x="7242048" y="960120"/>
            <a:ext cx="59436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E2E8F0"/>
                </a:solidFill>
                <a:effectLst/>
                <a:uLnTx/>
                <a:uFillTx/>
                <a:latin typeface="Calibri" pitchFamily="34" charset="0"/>
                <a:ea typeface="Calibri" pitchFamily="34" charset="-122"/>
                <a:cs typeface="Calibri" pitchFamily="34" charset="-120"/>
              </a:rPr>
              <a:t>Offer Mgmt</a:t>
            </a:r>
            <a:endParaRPr kumimoji="0" lang="en-US"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Shape 33"/>
          <p:cNvSpPr/>
          <p:nvPr/>
        </p:nvSpPr>
        <p:spPr>
          <a:xfrm>
            <a:off x="3657600" y="1389888"/>
            <a:ext cx="4315968" cy="0"/>
          </a:xfrm>
          <a:prstGeom prst="line">
            <a:avLst/>
          </a:prstGeom>
          <a:noFill/>
          <a:ln w="12700">
            <a:solidFill>
              <a:srgbClr val="33415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34"/>
          <p:cNvSpPr/>
          <p:nvPr/>
        </p:nvSpPr>
        <p:spPr>
          <a:xfrm>
            <a:off x="7973568" y="914400"/>
            <a:ext cx="960120" cy="502920"/>
          </a:xfrm>
          <a:prstGeom prst="rect">
            <a:avLst/>
          </a:prstGeom>
          <a:solidFill>
            <a:srgbClr val="1E293B"/>
          </a:solidFill>
          <a:ln>
            <a:solidFill>
              <a:schemeClr val="bg1"/>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Shape 35"/>
          <p:cNvSpPr/>
          <p:nvPr/>
        </p:nvSpPr>
        <p:spPr>
          <a:xfrm>
            <a:off x="7973568" y="914400"/>
            <a:ext cx="960120" cy="27432"/>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7" name="Image 9" descr="preencoded.png"/>
          <p:cNvPicPr>
            <a:picLocks noChangeAspect="1"/>
          </p:cNvPicPr>
          <p:nvPr/>
        </p:nvPicPr>
        <p:blipFill>
          <a:blip r:embed="rId8"/>
          <a:stretch>
            <a:fillRect/>
          </a:stretch>
        </p:blipFill>
        <p:spPr>
          <a:xfrm>
            <a:off x="8046720" y="1033272"/>
            <a:ext cx="201168" cy="201168"/>
          </a:xfrm>
          <a:prstGeom prst="rect">
            <a:avLst/>
          </a:prstGeom>
        </p:spPr>
      </p:pic>
      <p:sp>
        <p:nvSpPr>
          <p:cNvPr id="48" name="Text 36"/>
          <p:cNvSpPr/>
          <p:nvPr/>
        </p:nvSpPr>
        <p:spPr>
          <a:xfrm>
            <a:off x="8275320" y="960120"/>
            <a:ext cx="59436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E2E8F0"/>
                </a:solidFill>
                <a:effectLst/>
                <a:uLnTx/>
                <a:uFillTx/>
                <a:latin typeface="Calibri" pitchFamily="34" charset="0"/>
                <a:ea typeface="Calibri" pitchFamily="34" charset="-122"/>
                <a:cs typeface="Calibri" pitchFamily="34" charset="-120"/>
              </a:rPr>
              <a:t>Order</a:t>
            </a:r>
            <a:endParaRPr kumimoji="0" lang="en-US"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Shape 37"/>
          <p:cNvSpPr/>
          <p:nvPr/>
        </p:nvSpPr>
        <p:spPr>
          <a:xfrm>
            <a:off x="3657600" y="1389888"/>
            <a:ext cx="182880" cy="1101852"/>
          </a:xfrm>
          <a:prstGeom prst="line">
            <a:avLst/>
          </a:prstGeom>
          <a:noFill/>
          <a:ln w="12700">
            <a:solidFill>
              <a:schemeClr val="bg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38"/>
          <p:cNvSpPr/>
          <p:nvPr/>
        </p:nvSpPr>
        <p:spPr>
          <a:xfrm>
            <a:off x="3840480" y="2240280"/>
            <a:ext cx="960120" cy="502920"/>
          </a:xfrm>
          <a:prstGeom prst="rect">
            <a:avLst/>
          </a:prstGeom>
          <a:solidFill>
            <a:srgbClr val="1E293B"/>
          </a:solidFill>
          <a:ln>
            <a:solidFill>
              <a:schemeClr val="bg1"/>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39"/>
          <p:cNvSpPr/>
          <p:nvPr/>
        </p:nvSpPr>
        <p:spPr>
          <a:xfrm>
            <a:off x="3840480" y="2240280"/>
            <a:ext cx="960120" cy="27432"/>
          </a:xfrm>
          <a:prstGeom prst="rect">
            <a:avLst/>
          </a:prstGeom>
          <a:solidFill>
            <a:srgbClr val="EF444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2" name="Image 10" descr="preencoded.png"/>
          <p:cNvPicPr>
            <a:picLocks noChangeAspect="1"/>
          </p:cNvPicPr>
          <p:nvPr/>
        </p:nvPicPr>
        <p:blipFill>
          <a:blip r:embed="rId9"/>
          <a:stretch>
            <a:fillRect/>
          </a:stretch>
        </p:blipFill>
        <p:spPr>
          <a:xfrm>
            <a:off x="3913632" y="2359152"/>
            <a:ext cx="201168" cy="201168"/>
          </a:xfrm>
          <a:prstGeom prst="rect">
            <a:avLst/>
          </a:prstGeom>
        </p:spPr>
      </p:pic>
      <p:sp>
        <p:nvSpPr>
          <p:cNvPr id="53" name="Text 40"/>
          <p:cNvSpPr/>
          <p:nvPr/>
        </p:nvSpPr>
        <p:spPr>
          <a:xfrm>
            <a:off x="4142232" y="2286000"/>
            <a:ext cx="59436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E2E8F0"/>
                </a:solidFill>
                <a:effectLst/>
                <a:uLnTx/>
                <a:uFillTx/>
                <a:latin typeface="Calibri" pitchFamily="34" charset="0"/>
                <a:ea typeface="Calibri" pitchFamily="34" charset="-122"/>
                <a:cs typeface="Calibri" pitchFamily="34" charset="-120"/>
              </a:rPr>
              <a:t>Payment</a:t>
            </a:r>
            <a:endParaRPr kumimoji="0" lang="en-US"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Shape 44"/>
          <p:cNvSpPr/>
          <p:nvPr/>
        </p:nvSpPr>
        <p:spPr>
          <a:xfrm>
            <a:off x="4873752" y="2240280"/>
            <a:ext cx="960120" cy="502920"/>
          </a:xfrm>
          <a:prstGeom prst="rect">
            <a:avLst/>
          </a:prstGeom>
          <a:solidFill>
            <a:srgbClr val="1E293B"/>
          </a:solidFill>
          <a:ln>
            <a:solidFill>
              <a:schemeClr val="bg1"/>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Shape 45"/>
          <p:cNvSpPr/>
          <p:nvPr/>
        </p:nvSpPr>
        <p:spPr>
          <a:xfrm>
            <a:off x="4873752" y="2240280"/>
            <a:ext cx="960120" cy="27432"/>
          </a:xfrm>
          <a:prstGeom prst="rect">
            <a:avLst/>
          </a:prstGeom>
          <a:solidFill>
            <a:srgbClr val="10B98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0" name="Image 12" descr="preencoded.png"/>
          <p:cNvPicPr>
            <a:picLocks noChangeAspect="1"/>
          </p:cNvPicPr>
          <p:nvPr/>
        </p:nvPicPr>
        <p:blipFill>
          <a:blip r:embed="rId10"/>
          <a:stretch>
            <a:fillRect/>
          </a:stretch>
        </p:blipFill>
        <p:spPr>
          <a:xfrm>
            <a:off x="4946904" y="2359152"/>
            <a:ext cx="201168" cy="201168"/>
          </a:xfrm>
          <a:prstGeom prst="rect">
            <a:avLst/>
          </a:prstGeom>
        </p:spPr>
      </p:pic>
      <p:sp>
        <p:nvSpPr>
          <p:cNvPr id="61" name="Text 46"/>
          <p:cNvSpPr/>
          <p:nvPr/>
        </p:nvSpPr>
        <p:spPr>
          <a:xfrm>
            <a:off x="5175504" y="2286000"/>
            <a:ext cx="59436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E2E8F0"/>
                </a:solidFill>
                <a:effectLst/>
                <a:uLnTx/>
                <a:uFillTx/>
                <a:latin typeface="Calibri" pitchFamily="34" charset="0"/>
                <a:ea typeface="Calibri" pitchFamily="34" charset="-122"/>
                <a:cs typeface="Calibri" pitchFamily="34" charset="-120"/>
              </a:rPr>
              <a:t>Fulfillment</a:t>
            </a:r>
            <a:endParaRPr kumimoji="0" lang="en-US"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Shape 50"/>
          <p:cNvSpPr/>
          <p:nvPr/>
        </p:nvSpPr>
        <p:spPr>
          <a:xfrm>
            <a:off x="5907024" y="2240280"/>
            <a:ext cx="960120" cy="502920"/>
          </a:xfrm>
          <a:prstGeom prst="rect">
            <a:avLst/>
          </a:prstGeom>
          <a:solidFill>
            <a:srgbClr val="1E293B"/>
          </a:solidFill>
          <a:ln>
            <a:solidFill>
              <a:schemeClr val="bg1"/>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Shape 51"/>
          <p:cNvSpPr/>
          <p:nvPr/>
        </p:nvSpPr>
        <p:spPr>
          <a:xfrm>
            <a:off x="5907024" y="2240280"/>
            <a:ext cx="960120" cy="27432"/>
          </a:xfrm>
          <a:prstGeom prst="rect">
            <a:avLst/>
          </a:prstGeom>
          <a:solidFill>
            <a:srgbClr val="3B82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8" name="Image 14" descr="preencoded.png"/>
          <p:cNvPicPr>
            <a:picLocks noChangeAspect="1"/>
          </p:cNvPicPr>
          <p:nvPr/>
        </p:nvPicPr>
        <p:blipFill>
          <a:blip r:embed="rId11"/>
          <a:stretch>
            <a:fillRect/>
          </a:stretch>
        </p:blipFill>
        <p:spPr>
          <a:xfrm>
            <a:off x="5980176" y="2359152"/>
            <a:ext cx="201168" cy="201168"/>
          </a:xfrm>
          <a:prstGeom prst="rect">
            <a:avLst/>
          </a:prstGeom>
        </p:spPr>
      </p:pic>
      <p:sp>
        <p:nvSpPr>
          <p:cNvPr id="69" name="Text 52"/>
          <p:cNvSpPr/>
          <p:nvPr/>
        </p:nvSpPr>
        <p:spPr>
          <a:xfrm>
            <a:off x="6208776" y="2286000"/>
            <a:ext cx="59436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E2E8F0"/>
                </a:solidFill>
                <a:effectLst/>
                <a:uLnTx/>
                <a:uFillTx/>
                <a:latin typeface="Calibri" pitchFamily="34" charset="0"/>
                <a:ea typeface="Calibri" pitchFamily="34" charset="-122"/>
                <a:cs typeface="Calibri" pitchFamily="34" charset="-120"/>
              </a:rPr>
              <a:t>Comms</a:t>
            </a:r>
            <a:endParaRPr kumimoji="0" lang="en-US"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Shape 54"/>
          <p:cNvSpPr/>
          <p:nvPr/>
        </p:nvSpPr>
        <p:spPr>
          <a:xfrm>
            <a:off x="6940296" y="2240280"/>
            <a:ext cx="960120" cy="502920"/>
          </a:xfrm>
          <a:prstGeom prst="rect">
            <a:avLst/>
          </a:prstGeom>
          <a:solidFill>
            <a:srgbClr val="1E293B"/>
          </a:solidFill>
          <a:ln>
            <a:solidFill>
              <a:schemeClr val="bg1"/>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Shape 55"/>
          <p:cNvSpPr/>
          <p:nvPr/>
        </p:nvSpPr>
        <p:spPr>
          <a:xfrm>
            <a:off x="6940296" y="2240280"/>
            <a:ext cx="960120" cy="27432"/>
          </a:xfrm>
          <a:prstGeom prst="rect">
            <a:avLst/>
          </a:prstGeom>
          <a:solidFill>
            <a:srgbClr val="F59E0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3" name="Image 15" descr="preencoded.png"/>
          <p:cNvPicPr>
            <a:picLocks noChangeAspect="1"/>
          </p:cNvPicPr>
          <p:nvPr/>
        </p:nvPicPr>
        <p:blipFill>
          <a:blip r:embed="rId12"/>
          <a:stretch>
            <a:fillRect/>
          </a:stretch>
        </p:blipFill>
        <p:spPr>
          <a:xfrm>
            <a:off x="7013448" y="2359152"/>
            <a:ext cx="201168" cy="201168"/>
          </a:xfrm>
          <a:prstGeom prst="rect">
            <a:avLst/>
          </a:prstGeom>
        </p:spPr>
      </p:pic>
      <p:sp>
        <p:nvSpPr>
          <p:cNvPr id="74" name="Text 56"/>
          <p:cNvSpPr/>
          <p:nvPr/>
        </p:nvSpPr>
        <p:spPr>
          <a:xfrm>
            <a:off x="7242048" y="2286000"/>
            <a:ext cx="59436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E2E8F0"/>
                </a:solidFill>
                <a:effectLst/>
                <a:uLnTx/>
                <a:uFillTx/>
                <a:latin typeface="Calibri" pitchFamily="34" charset="0"/>
                <a:ea typeface="Calibri" pitchFamily="34" charset="-122"/>
                <a:cs typeface="Calibri" pitchFamily="34" charset="-120"/>
              </a:rPr>
              <a:t>Greeting</a:t>
            </a:r>
            <a:endParaRPr kumimoji="0" lang="en-US"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Shape 58"/>
          <p:cNvSpPr/>
          <p:nvPr/>
        </p:nvSpPr>
        <p:spPr>
          <a:xfrm>
            <a:off x="7973568" y="2240280"/>
            <a:ext cx="960120" cy="502920"/>
          </a:xfrm>
          <a:prstGeom prst="rect">
            <a:avLst/>
          </a:prstGeom>
          <a:solidFill>
            <a:srgbClr val="1E293B"/>
          </a:solidFill>
          <a:ln>
            <a:solidFill>
              <a:schemeClr val="bg1"/>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Shape 59"/>
          <p:cNvSpPr/>
          <p:nvPr/>
        </p:nvSpPr>
        <p:spPr>
          <a:xfrm>
            <a:off x="7973568" y="2240280"/>
            <a:ext cx="960120" cy="27432"/>
          </a:xfrm>
          <a:prstGeom prst="rect">
            <a:avLst/>
          </a:prstGeom>
          <a:solidFill>
            <a:srgbClr val="8B5C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8" name="Image 16" descr="preencoded.png"/>
          <p:cNvPicPr>
            <a:picLocks noChangeAspect="1"/>
          </p:cNvPicPr>
          <p:nvPr/>
        </p:nvPicPr>
        <p:blipFill>
          <a:blip r:embed="rId13"/>
          <a:stretch>
            <a:fillRect/>
          </a:stretch>
        </p:blipFill>
        <p:spPr>
          <a:xfrm>
            <a:off x="8046720" y="2359152"/>
            <a:ext cx="201168" cy="201168"/>
          </a:xfrm>
          <a:prstGeom prst="rect">
            <a:avLst/>
          </a:prstGeom>
        </p:spPr>
      </p:pic>
      <p:sp>
        <p:nvSpPr>
          <p:cNvPr id="79" name="Text 60"/>
          <p:cNvSpPr/>
          <p:nvPr/>
        </p:nvSpPr>
        <p:spPr>
          <a:xfrm>
            <a:off x="8275320" y="2286000"/>
            <a:ext cx="59436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E2E8F0"/>
                </a:solidFill>
                <a:effectLst/>
                <a:uLnTx/>
                <a:uFillTx/>
                <a:latin typeface="Calibri" pitchFamily="34" charset="0"/>
                <a:ea typeface="Calibri" pitchFamily="34" charset="-122"/>
                <a:cs typeface="Calibri" pitchFamily="34" charset="-120"/>
              </a:rPr>
              <a:t>FAQ</a:t>
            </a:r>
            <a:endParaRPr kumimoji="0" lang="en-US"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Shape 2">
            <a:extLst>
              <a:ext uri="{FF2B5EF4-FFF2-40B4-BE49-F238E27FC236}">
                <a16:creationId xmlns:a16="http://schemas.microsoft.com/office/drawing/2014/main" id="{D9504386-B96F-3C8F-E736-8805F7BEAA15}"/>
              </a:ext>
            </a:extLst>
          </p:cNvPr>
          <p:cNvSpPr/>
          <p:nvPr/>
        </p:nvSpPr>
        <p:spPr>
          <a:xfrm>
            <a:off x="424545" y="685800"/>
            <a:ext cx="8229600" cy="45720"/>
          </a:xfrm>
          <a:prstGeom prst="rect">
            <a:avLst/>
          </a:prstGeom>
          <a:solidFill>
            <a:schemeClr val="bg1"/>
          </a:solidFill>
          <a:ln/>
        </p:spPr>
        <p:txBody>
          <a:bodyPr/>
          <a:lstStyle/>
          <a:p>
            <a:endParaRPr lang="en-US"/>
          </a:p>
        </p:txBody>
      </p:sp>
      <p:pic>
        <p:nvPicPr>
          <p:cNvPr id="86" name="Image 0" descr="preencoded.png">
            <a:extLst>
              <a:ext uri="{FF2B5EF4-FFF2-40B4-BE49-F238E27FC236}">
                <a16:creationId xmlns:a16="http://schemas.microsoft.com/office/drawing/2014/main" id="{531063D4-E04E-9731-AEA0-19C38E07D3B6}"/>
              </a:ext>
            </a:extLst>
          </p:cNvPr>
          <p:cNvPicPr>
            <a:picLocks noChangeAspect="1"/>
          </p:cNvPicPr>
          <p:nvPr/>
        </p:nvPicPr>
        <p:blipFill>
          <a:blip r:embed="rId14"/>
          <a:stretch>
            <a:fillRect/>
          </a:stretch>
        </p:blipFill>
        <p:spPr>
          <a:xfrm>
            <a:off x="2651760" y="1005840"/>
            <a:ext cx="457200" cy="457200"/>
          </a:xfrm>
          <a:prstGeom prst="rect">
            <a:avLst/>
          </a:prstGeom>
        </p:spPr>
      </p:pic>
      <p:pic>
        <p:nvPicPr>
          <p:cNvPr id="108" name="Graphic 107" descr="Single gear with solid fill">
            <a:extLst>
              <a:ext uri="{FF2B5EF4-FFF2-40B4-BE49-F238E27FC236}">
                <a16:creationId xmlns:a16="http://schemas.microsoft.com/office/drawing/2014/main" id="{59B6BFB4-CFDF-5DD0-EED0-E82B382EF083}"/>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5011098" y="1536005"/>
            <a:ext cx="228600" cy="228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B3E"/>
        </a:solidFill>
        <a:effectLst/>
      </p:bgPr>
    </p:bg>
    <p:spTree>
      <p:nvGrpSpPr>
        <p:cNvPr id="1" name="">
          <a:extLst>
            <a:ext uri="{FF2B5EF4-FFF2-40B4-BE49-F238E27FC236}">
              <a16:creationId xmlns:a16="http://schemas.microsoft.com/office/drawing/2014/main" id="{83ADF3F1-7776-F4BE-7BF1-E3A26868B5D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B2CA16B-0FFE-E66C-3E68-E8EF571421BB}"/>
              </a:ext>
            </a:extLst>
          </p:cNvPr>
          <p:cNvSpPr/>
          <p:nvPr/>
        </p:nvSpPr>
        <p:spPr>
          <a:xfrm>
            <a:off x="8746901" y="4543023"/>
            <a:ext cx="365760" cy="228600"/>
          </a:xfrm>
          <a:prstGeom prst="rect">
            <a:avLst/>
          </a:prstGeom>
          <a:noFill/>
          <a:ln/>
        </p:spPr>
        <p:txBody>
          <a:bodyPr wrap="square" rtlCol="0" anchor="ctr"/>
          <a:lstStyle/>
          <a:p>
            <a:pPr marL="0" indent="0" algn="r">
              <a:buNone/>
            </a:pPr>
            <a:r>
              <a:rPr lang="en-US" sz="900">
                <a:solidFill>
                  <a:srgbClr val="94A3B8"/>
                </a:solidFill>
              </a:rPr>
              <a:t>7</a:t>
            </a:r>
            <a:endParaRPr lang="en-US" sz="900"/>
          </a:p>
        </p:txBody>
      </p:sp>
      <p:sp>
        <p:nvSpPr>
          <p:cNvPr id="3" name="Text 1">
            <a:extLst>
              <a:ext uri="{FF2B5EF4-FFF2-40B4-BE49-F238E27FC236}">
                <a16:creationId xmlns:a16="http://schemas.microsoft.com/office/drawing/2014/main" id="{DC3116A1-AD26-785D-A853-ED95B0456D9D}"/>
              </a:ext>
            </a:extLst>
          </p:cNvPr>
          <p:cNvSpPr/>
          <p:nvPr/>
        </p:nvSpPr>
        <p:spPr>
          <a:xfrm>
            <a:off x="457200" y="182880"/>
            <a:ext cx="8229600" cy="502920"/>
          </a:xfrm>
          <a:prstGeom prst="rect">
            <a:avLst/>
          </a:prstGeom>
          <a:noFill/>
          <a:ln/>
        </p:spPr>
        <p:txBody>
          <a:bodyPr wrap="square" rtlCol="0" anchor="ctr"/>
          <a:lstStyle/>
          <a:p>
            <a:pPr marL="0" indent="0">
              <a:buNone/>
            </a:pPr>
            <a:r>
              <a:rPr lang="en-US" sz="3400" b="1">
                <a:solidFill>
                  <a:srgbClr val="FFFFFF"/>
                </a:solidFill>
                <a:latin typeface="Calibri" pitchFamily="34" charset="0"/>
                <a:ea typeface="Calibri" pitchFamily="34" charset="-122"/>
                <a:cs typeface="Calibri" pitchFamily="34" charset="-120"/>
              </a:rPr>
              <a:t>Conversation Demo</a:t>
            </a:r>
            <a:endParaRPr lang="en-US" sz="3400"/>
          </a:p>
        </p:txBody>
      </p:sp>
      <p:sp>
        <p:nvSpPr>
          <p:cNvPr id="4" name="Shape 2">
            <a:extLst>
              <a:ext uri="{FF2B5EF4-FFF2-40B4-BE49-F238E27FC236}">
                <a16:creationId xmlns:a16="http://schemas.microsoft.com/office/drawing/2014/main" id="{C9E907D1-0A76-36E4-6E4F-B4D4296FC30E}"/>
              </a:ext>
            </a:extLst>
          </p:cNvPr>
          <p:cNvSpPr/>
          <p:nvPr/>
        </p:nvSpPr>
        <p:spPr>
          <a:xfrm>
            <a:off x="457200" y="731520"/>
            <a:ext cx="8229600" cy="54864"/>
          </a:xfrm>
          <a:prstGeom prst="rect">
            <a:avLst/>
          </a:prstGeom>
          <a:solidFill>
            <a:srgbClr val="00C2C7"/>
          </a:solidFill>
          <a:ln/>
        </p:spPr>
        <p:txBody>
          <a:bodyPr/>
          <a:lstStyle/>
          <a:p>
            <a:endParaRPr lang="en-US"/>
          </a:p>
        </p:txBody>
      </p:sp>
      <p:sp>
        <p:nvSpPr>
          <p:cNvPr id="5" name="Text 3">
            <a:extLst>
              <a:ext uri="{FF2B5EF4-FFF2-40B4-BE49-F238E27FC236}">
                <a16:creationId xmlns:a16="http://schemas.microsoft.com/office/drawing/2014/main" id="{F4D67CE8-53D7-4704-AD38-952F08DF57CC}"/>
              </a:ext>
            </a:extLst>
          </p:cNvPr>
          <p:cNvSpPr/>
          <p:nvPr/>
        </p:nvSpPr>
        <p:spPr>
          <a:xfrm>
            <a:off x="457200" y="868680"/>
            <a:ext cx="8229600" cy="320040"/>
          </a:xfrm>
          <a:prstGeom prst="rect">
            <a:avLst/>
          </a:prstGeom>
          <a:noFill/>
          <a:ln/>
        </p:spPr>
        <p:txBody>
          <a:bodyPr wrap="square" rtlCol="0" anchor="ctr"/>
          <a:lstStyle/>
          <a:p>
            <a:pPr marL="0" indent="0">
              <a:buNone/>
            </a:pPr>
            <a:r>
              <a:rPr lang="en-US" sz="1300" i="1">
                <a:solidFill>
                  <a:srgbClr val="00C2C7"/>
                </a:solidFill>
                <a:latin typeface="Calibri" pitchFamily="34" charset="0"/>
                <a:ea typeface="Calibri" pitchFamily="34" charset="-122"/>
                <a:cs typeface="Calibri" pitchFamily="34" charset="-120"/>
              </a:rPr>
              <a:t>Scenario: prospect inquires about connectivity</a:t>
            </a:r>
            <a:endParaRPr lang="en-US" sz="1300"/>
          </a:p>
        </p:txBody>
      </p:sp>
      <p:sp>
        <p:nvSpPr>
          <p:cNvPr id="6" name="Shape 4">
            <a:extLst>
              <a:ext uri="{FF2B5EF4-FFF2-40B4-BE49-F238E27FC236}">
                <a16:creationId xmlns:a16="http://schemas.microsoft.com/office/drawing/2014/main" id="{51F2D588-ACD6-37FC-5625-649CD765AA32}"/>
              </a:ext>
            </a:extLst>
          </p:cNvPr>
          <p:cNvSpPr/>
          <p:nvPr/>
        </p:nvSpPr>
        <p:spPr>
          <a:xfrm>
            <a:off x="4174901" y="1068303"/>
            <a:ext cx="4572000" cy="594360"/>
          </a:xfrm>
          <a:prstGeom prst="rect">
            <a:avLst/>
          </a:prstGeom>
          <a:solidFill>
            <a:srgbClr val="028090"/>
          </a:solidFill>
          <a:ln/>
          <a:effectLst>
            <a:outerShdw blurRad="63500" dist="25400" dir="8100000" algn="bl" rotWithShape="0">
              <a:srgbClr val="000000">
                <a:alpha val="30000"/>
              </a:srgbClr>
            </a:outerShdw>
          </a:effectLst>
        </p:spPr>
        <p:txBody>
          <a:bodyPr/>
          <a:lstStyle/>
          <a:p>
            <a:endParaRPr lang="en-US"/>
          </a:p>
        </p:txBody>
      </p:sp>
      <p:sp>
        <p:nvSpPr>
          <p:cNvPr id="7" name="Text 5">
            <a:extLst>
              <a:ext uri="{FF2B5EF4-FFF2-40B4-BE49-F238E27FC236}">
                <a16:creationId xmlns:a16="http://schemas.microsoft.com/office/drawing/2014/main" id="{E792295F-6D9E-0DF6-975B-C2D81C72AE39}"/>
              </a:ext>
            </a:extLst>
          </p:cNvPr>
          <p:cNvSpPr/>
          <p:nvPr/>
        </p:nvSpPr>
        <p:spPr>
          <a:xfrm>
            <a:off x="4312061" y="1132311"/>
            <a:ext cx="4343400" cy="475488"/>
          </a:xfrm>
          <a:prstGeom prst="rect">
            <a:avLst/>
          </a:prstGeom>
          <a:noFill/>
          <a:ln/>
        </p:spPr>
        <p:txBody>
          <a:bodyPr wrap="square" lIns="0" tIns="0" rIns="0" bIns="0" rtlCol="0" anchor="ctr"/>
          <a:lstStyle/>
          <a:p>
            <a:endParaRPr lang="en-US" sz="1000">
              <a:solidFill>
                <a:srgbClr val="FFFFFF"/>
              </a:solidFill>
              <a:latin typeface="Calibri" pitchFamily="34" charset="0"/>
              <a:ea typeface="Calibri" pitchFamily="34" charset="-122"/>
              <a:cs typeface="Calibri" pitchFamily="34" charset="-120"/>
            </a:endParaRPr>
          </a:p>
          <a:p>
            <a:endParaRPr lang="en-US" sz="1000">
              <a:solidFill>
                <a:srgbClr val="FFFFFF"/>
              </a:solidFill>
              <a:latin typeface="Calibri" pitchFamily="34" charset="0"/>
              <a:ea typeface="Calibri" pitchFamily="34" charset="-122"/>
              <a:cs typeface="Calibri" pitchFamily="34" charset="-120"/>
            </a:endParaRPr>
          </a:p>
          <a:p>
            <a:r>
              <a:rPr lang="en-US" sz="1000">
                <a:solidFill>
                  <a:srgbClr val="FFFFFF"/>
                </a:solidFill>
                <a:latin typeface="Calibri" pitchFamily="34" charset="0"/>
                <a:ea typeface="Calibri" pitchFamily="34" charset="-122"/>
                <a:cs typeface="Calibri" pitchFamily="34" charset="-120"/>
              </a:rPr>
              <a:t>User:  I need internet for my ice-cream shop Mango Mango . I am at 123 Main Street Philadelphia PA 19103</a:t>
            </a:r>
          </a:p>
          <a:p>
            <a:br>
              <a:rPr lang="en-US" sz="1000">
                <a:solidFill>
                  <a:srgbClr val="FFFFFF"/>
                </a:solidFill>
                <a:latin typeface="Calibri" pitchFamily="34" charset="0"/>
                <a:ea typeface="Calibri" pitchFamily="34" charset="-122"/>
                <a:cs typeface="Calibri" pitchFamily="34" charset="-120"/>
              </a:rPr>
            </a:br>
            <a:endParaRPr lang="en-US" sz="1000"/>
          </a:p>
        </p:txBody>
      </p:sp>
      <p:sp>
        <p:nvSpPr>
          <p:cNvPr id="8" name="Shape 6">
            <a:extLst>
              <a:ext uri="{FF2B5EF4-FFF2-40B4-BE49-F238E27FC236}">
                <a16:creationId xmlns:a16="http://schemas.microsoft.com/office/drawing/2014/main" id="{BB72963F-5EE2-722E-4F66-1390AEA5B91F}"/>
              </a:ext>
            </a:extLst>
          </p:cNvPr>
          <p:cNvSpPr/>
          <p:nvPr/>
        </p:nvSpPr>
        <p:spPr>
          <a:xfrm>
            <a:off x="517301" y="1772391"/>
            <a:ext cx="4572000" cy="594360"/>
          </a:xfrm>
          <a:prstGeom prst="rect">
            <a:avLst/>
          </a:prstGeom>
          <a:solidFill>
            <a:srgbClr val="102B5A"/>
          </a:solidFill>
          <a:ln/>
          <a:effectLst>
            <a:outerShdw blurRad="63500" dist="25400" dir="8100000" algn="bl" rotWithShape="0">
              <a:srgbClr val="000000">
                <a:alpha val="30000"/>
              </a:srgbClr>
            </a:outerShdw>
          </a:effectLst>
        </p:spPr>
        <p:txBody>
          <a:bodyPr/>
          <a:lstStyle/>
          <a:p>
            <a:endParaRPr lang="en-US"/>
          </a:p>
        </p:txBody>
      </p:sp>
      <p:sp>
        <p:nvSpPr>
          <p:cNvPr id="9" name="Text 7">
            <a:extLst>
              <a:ext uri="{FF2B5EF4-FFF2-40B4-BE49-F238E27FC236}">
                <a16:creationId xmlns:a16="http://schemas.microsoft.com/office/drawing/2014/main" id="{70CE32CC-3FFD-F21D-7AB8-7CDE19D8C053}"/>
              </a:ext>
            </a:extLst>
          </p:cNvPr>
          <p:cNvSpPr/>
          <p:nvPr/>
        </p:nvSpPr>
        <p:spPr>
          <a:xfrm>
            <a:off x="654461" y="1749252"/>
            <a:ext cx="4709375" cy="736371"/>
          </a:xfrm>
          <a:prstGeom prst="rect">
            <a:avLst/>
          </a:prstGeom>
          <a:noFill/>
          <a:ln/>
        </p:spPr>
        <p:txBody>
          <a:bodyPr wrap="square" lIns="0" tIns="0" rIns="0" bIns="0" rtlCol="0" anchor="ctr"/>
          <a:lstStyle/>
          <a:p>
            <a:r>
              <a:rPr lang="en-US" sz="1000">
                <a:solidFill>
                  <a:srgbClr val="E8F4F8"/>
                </a:solidFill>
                <a:latin typeface="Calibri" pitchFamily="34" charset="0"/>
                <a:ea typeface="Calibri" pitchFamily="34" charset="-122"/>
                <a:cs typeface="Calibri" pitchFamily="34" charset="-120"/>
              </a:rPr>
              <a:t>Agent → DiscoveryAgent:  We're more than happy to have you as a customer! I've successfully registered Mango Mango at 123 Main Street in Philadelphia in our system.</a:t>
            </a:r>
          </a:p>
          <a:p>
            <a:r>
              <a:rPr lang="en-US" sz="1000">
                <a:solidFill>
                  <a:srgbClr val="E8F4F8"/>
                </a:solidFill>
                <a:latin typeface="Calibri" pitchFamily="34" charset="0"/>
                <a:ea typeface="Calibri" pitchFamily="34" charset="-122"/>
                <a:cs typeface="Calibri" pitchFamily="34" charset="-120"/>
              </a:rPr>
              <a:t>To help me find the best internet options for your ice cream shop, could you tell me a bit more about what you're looking for? </a:t>
            </a:r>
          </a:p>
          <a:p>
            <a:endParaRPr lang="en-US" sz="1000"/>
          </a:p>
        </p:txBody>
      </p:sp>
      <p:sp>
        <p:nvSpPr>
          <p:cNvPr id="10" name="Shape 8">
            <a:extLst>
              <a:ext uri="{FF2B5EF4-FFF2-40B4-BE49-F238E27FC236}">
                <a16:creationId xmlns:a16="http://schemas.microsoft.com/office/drawing/2014/main" id="{C853DCA1-6903-019E-8763-D7B64B8034C5}"/>
              </a:ext>
            </a:extLst>
          </p:cNvPr>
          <p:cNvSpPr/>
          <p:nvPr/>
        </p:nvSpPr>
        <p:spPr>
          <a:xfrm>
            <a:off x="4174901" y="2476479"/>
            <a:ext cx="4572000" cy="594360"/>
          </a:xfrm>
          <a:prstGeom prst="rect">
            <a:avLst/>
          </a:prstGeom>
          <a:solidFill>
            <a:srgbClr val="028090"/>
          </a:solidFill>
          <a:ln/>
          <a:effectLst>
            <a:outerShdw blurRad="63500" dist="25400" dir="8100000" algn="bl" rotWithShape="0">
              <a:srgbClr val="000000">
                <a:alpha val="30000"/>
              </a:srgbClr>
            </a:outerShdw>
          </a:effectLst>
        </p:spPr>
        <p:txBody>
          <a:bodyPr/>
          <a:lstStyle/>
          <a:p>
            <a:endParaRPr lang="en-US"/>
          </a:p>
        </p:txBody>
      </p:sp>
      <p:sp>
        <p:nvSpPr>
          <p:cNvPr id="11" name="Text 9">
            <a:extLst>
              <a:ext uri="{FF2B5EF4-FFF2-40B4-BE49-F238E27FC236}">
                <a16:creationId xmlns:a16="http://schemas.microsoft.com/office/drawing/2014/main" id="{D348CB2A-ACF7-30EA-4DEB-BE10A64E0B84}"/>
              </a:ext>
            </a:extLst>
          </p:cNvPr>
          <p:cNvSpPr/>
          <p:nvPr/>
        </p:nvSpPr>
        <p:spPr>
          <a:xfrm>
            <a:off x="4312061" y="2540487"/>
            <a:ext cx="4343400" cy="475488"/>
          </a:xfrm>
          <a:prstGeom prst="rect">
            <a:avLst/>
          </a:prstGeom>
          <a:noFill/>
          <a:ln/>
        </p:spPr>
        <p:txBody>
          <a:bodyPr wrap="square" lIns="0" tIns="0" rIns="0" bIns="0" rtlCol="0" anchor="ctr"/>
          <a:lstStyle/>
          <a:p>
            <a:r>
              <a:rPr lang="en-US" sz="1000">
                <a:solidFill>
                  <a:srgbClr val="FFFFFF"/>
                </a:solidFill>
                <a:latin typeface="Calibri" pitchFamily="34" charset="0"/>
                <a:ea typeface="Calibri" pitchFamily="34" charset="-122"/>
                <a:cs typeface="Calibri" pitchFamily="34" charset="-120"/>
              </a:rPr>
              <a:t>User:  Brand new location and new internet asap . I am Mr Mumbo Jumbo and </a:t>
            </a:r>
            <a:r>
              <a:rPr lang="en-US" sz="1000" err="1">
                <a:solidFill>
                  <a:srgbClr val="FFFFFF"/>
                </a:solidFill>
                <a:latin typeface="Calibri" pitchFamily="34" charset="0"/>
                <a:ea typeface="Calibri" pitchFamily="34" charset="-122"/>
                <a:cs typeface="Calibri" pitchFamily="34" charset="-120"/>
              </a:rPr>
              <a:t>i</a:t>
            </a:r>
            <a:r>
              <a:rPr lang="en-US" sz="1000">
                <a:solidFill>
                  <a:srgbClr val="FFFFFF"/>
                </a:solidFill>
                <a:latin typeface="Calibri" pitchFamily="34" charset="0"/>
                <a:ea typeface="Calibri" pitchFamily="34" charset="-122"/>
                <a:cs typeface="Calibri" pitchFamily="34" charset="-120"/>
              </a:rPr>
              <a:t> am the manager. My email id - User@gmail.com and Phone number is 434-444-4564. My budget is $400 per month</a:t>
            </a:r>
            <a:endParaRPr lang="en-US" sz="1000"/>
          </a:p>
        </p:txBody>
      </p:sp>
      <p:sp>
        <p:nvSpPr>
          <p:cNvPr id="12" name="Shape 10">
            <a:extLst>
              <a:ext uri="{FF2B5EF4-FFF2-40B4-BE49-F238E27FC236}">
                <a16:creationId xmlns:a16="http://schemas.microsoft.com/office/drawing/2014/main" id="{F7FE857D-0AC5-0523-D1F2-1A5C5A35F484}"/>
              </a:ext>
            </a:extLst>
          </p:cNvPr>
          <p:cNvSpPr/>
          <p:nvPr/>
        </p:nvSpPr>
        <p:spPr>
          <a:xfrm>
            <a:off x="517301" y="3180567"/>
            <a:ext cx="4100634" cy="452628"/>
          </a:xfrm>
          <a:prstGeom prst="rect">
            <a:avLst/>
          </a:prstGeom>
          <a:solidFill>
            <a:srgbClr val="102B5A"/>
          </a:solidFill>
          <a:ln/>
          <a:effectLst>
            <a:outerShdw blurRad="63500" dist="25400" dir="8100000" algn="bl" rotWithShape="0">
              <a:srgbClr val="000000">
                <a:alpha val="30000"/>
              </a:srgbClr>
            </a:outerShdw>
          </a:effectLst>
        </p:spPr>
        <p:txBody>
          <a:bodyPr/>
          <a:lstStyle/>
          <a:p>
            <a:endParaRPr lang="en-US"/>
          </a:p>
        </p:txBody>
      </p:sp>
      <p:sp>
        <p:nvSpPr>
          <p:cNvPr id="13" name="Text 11">
            <a:extLst>
              <a:ext uri="{FF2B5EF4-FFF2-40B4-BE49-F238E27FC236}">
                <a16:creationId xmlns:a16="http://schemas.microsoft.com/office/drawing/2014/main" id="{EF8A7916-BD90-80FC-27E2-58E793B465B3}"/>
              </a:ext>
            </a:extLst>
          </p:cNvPr>
          <p:cNvSpPr/>
          <p:nvPr/>
        </p:nvSpPr>
        <p:spPr>
          <a:xfrm>
            <a:off x="654461" y="3244575"/>
            <a:ext cx="4343400" cy="475488"/>
          </a:xfrm>
          <a:prstGeom prst="rect">
            <a:avLst/>
          </a:prstGeom>
          <a:noFill/>
          <a:ln/>
        </p:spPr>
        <p:txBody>
          <a:bodyPr wrap="square" lIns="0" tIns="0" rIns="0" bIns="0" rtlCol="0" anchor="ctr"/>
          <a:lstStyle/>
          <a:p>
            <a:pPr marL="0" indent="0">
              <a:buNone/>
            </a:pPr>
            <a:r>
              <a:rPr lang="en-US" sz="1000">
                <a:solidFill>
                  <a:srgbClr val="E8F4F8"/>
                </a:solidFill>
                <a:latin typeface="Calibri" pitchFamily="34" charset="0"/>
                <a:ea typeface="Calibri" pitchFamily="34" charset="-122"/>
                <a:cs typeface="Calibri" pitchFamily="34" charset="-120"/>
              </a:rPr>
              <a:t>Agent → ServiceabilityAgent + ProductAgent:  ✓ Address serviceable — Fiber available. </a:t>
            </a:r>
            <a:endParaRPr lang="en-US" sz="1000"/>
          </a:p>
        </p:txBody>
      </p:sp>
      <p:sp>
        <p:nvSpPr>
          <p:cNvPr id="14" name="Shape 12">
            <a:extLst>
              <a:ext uri="{FF2B5EF4-FFF2-40B4-BE49-F238E27FC236}">
                <a16:creationId xmlns:a16="http://schemas.microsoft.com/office/drawing/2014/main" id="{4AD7FEC9-00DF-F258-11F3-ECED82D71702}"/>
              </a:ext>
            </a:extLst>
          </p:cNvPr>
          <p:cNvSpPr/>
          <p:nvPr/>
        </p:nvSpPr>
        <p:spPr>
          <a:xfrm>
            <a:off x="517301" y="4131543"/>
            <a:ext cx="4572000" cy="538014"/>
          </a:xfrm>
          <a:prstGeom prst="rect">
            <a:avLst/>
          </a:prstGeom>
          <a:solidFill>
            <a:srgbClr val="1A3A2A"/>
          </a:solidFill>
          <a:ln/>
          <a:effectLst>
            <a:outerShdw blurRad="63500" dist="25400" dir="8100000" algn="bl" rotWithShape="0">
              <a:srgbClr val="000000">
                <a:alpha val="30000"/>
              </a:srgbClr>
            </a:outerShdw>
          </a:effectLst>
        </p:spPr>
        <p:txBody>
          <a:bodyPr/>
          <a:lstStyle/>
          <a:p>
            <a:endParaRPr lang="en-US"/>
          </a:p>
        </p:txBody>
      </p:sp>
      <p:sp>
        <p:nvSpPr>
          <p:cNvPr id="15" name="Text 13">
            <a:extLst>
              <a:ext uri="{FF2B5EF4-FFF2-40B4-BE49-F238E27FC236}">
                <a16:creationId xmlns:a16="http://schemas.microsoft.com/office/drawing/2014/main" id="{3EC22DD4-F7DA-2C90-8B0C-16C0233D1863}"/>
              </a:ext>
            </a:extLst>
          </p:cNvPr>
          <p:cNvSpPr/>
          <p:nvPr/>
        </p:nvSpPr>
        <p:spPr>
          <a:xfrm>
            <a:off x="598653" y="4244105"/>
            <a:ext cx="4343400" cy="475488"/>
          </a:xfrm>
          <a:prstGeom prst="rect">
            <a:avLst/>
          </a:prstGeom>
          <a:noFill/>
          <a:ln/>
        </p:spPr>
        <p:txBody>
          <a:bodyPr wrap="square" lIns="0" tIns="0" rIns="0" bIns="0" rtlCol="0" anchor="ctr"/>
          <a:lstStyle/>
          <a:p>
            <a:r>
              <a:rPr lang="en-US" sz="1000">
                <a:solidFill>
                  <a:srgbClr val="E8F4F8"/>
                </a:solidFill>
                <a:latin typeface="Calibri" pitchFamily="34" charset="0"/>
                <a:cs typeface="Calibri" pitchFamily="34" charset="-120"/>
              </a:rPr>
              <a:t>Agent → OfferManagementAgent:  Based on the serviceability check for your location at 123 Main Street, Philadelphia, here are the available products across our categories..</a:t>
            </a:r>
          </a:p>
        </p:txBody>
      </p:sp>
      <p:sp>
        <p:nvSpPr>
          <p:cNvPr id="16" name="Text 14">
            <a:extLst>
              <a:ext uri="{FF2B5EF4-FFF2-40B4-BE49-F238E27FC236}">
                <a16:creationId xmlns:a16="http://schemas.microsoft.com/office/drawing/2014/main" id="{62F5CA41-9D86-9A69-68D3-16EC91B41115}"/>
              </a:ext>
            </a:extLst>
          </p:cNvPr>
          <p:cNvSpPr/>
          <p:nvPr/>
        </p:nvSpPr>
        <p:spPr>
          <a:xfrm>
            <a:off x="517301" y="4719849"/>
            <a:ext cx="8229600" cy="274320"/>
          </a:xfrm>
          <a:prstGeom prst="rect">
            <a:avLst/>
          </a:prstGeom>
          <a:noFill/>
          <a:ln/>
        </p:spPr>
        <p:txBody>
          <a:bodyPr wrap="square" rtlCol="0" anchor="ctr"/>
          <a:lstStyle/>
          <a:p>
            <a:pPr marL="0" indent="0" algn="ctr">
              <a:buNone/>
            </a:pPr>
            <a:r>
              <a:rPr lang="en-US" sz="1000" i="1">
                <a:solidFill>
                  <a:srgbClr val="94A3B8"/>
                </a:solidFill>
                <a:latin typeface="Calibri" pitchFamily="34" charset="0"/>
                <a:ea typeface="Calibri" pitchFamily="34" charset="-122"/>
                <a:cs typeface="Calibri" pitchFamily="34" charset="-120"/>
              </a:rPr>
              <a:t>→  Super Agent and Sub agent routes each turn automatically — user sees one seamless conversation</a:t>
            </a:r>
            <a:endParaRPr lang="en-US" sz="1000"/>
          </a:p>
        </p:txBody>
      </p:sp>
      <p:sp>
        <p:nvSpPr>
          <p:cNvPr id="18" name="Shape 8">
            <a:extLst>
              <a:ext uri="{FF2B5EF4-FFF2-40B4-BE49-F238E27FC236}">
                <a16:creationId xmlns:a16="http://schemas.microsoft.com/office/drawing/2014/main" id="{6B5DE221-39FE-B0CE-D36C-32B645B8ADF8}"/>
              </a:ext>
            </a:extLst>
          </p:cNvPr>
          <p:cNvSpPr/>
          <p:nvPr/>
        </p:nvSpPr>
        <p:spPr>
          <a:xfrm>
            <a:off x="4224271" y="3569187"/>
            <a:ext cx="4572000" cy="594360"/>
          </a:xfrm>
          <a:prstGeom prst="rect">
            <a:avLst/>
          </a:prstGeom>
          <a:solidFill>
            <a:srgbClr val="028090"/>
          </a:solidFill>
          <a:ln/>
          <a:effectLst>
            <a:outerShdw blurRad="63500" dist="25400" dir="8100000" algn="bl" rotWithShape="0">
              <a:srgbClr val="000000">
                <a:alpha val="30000"/>
              </a:srgbClr>
            </a:outerShdw>
          </a:effectLst>
        </p:spPr>
        <p:txBody>
          <a:bodyPr/>
          <a:lstStyle/>
          <a:p>
            <a:endParaRPr lang="en-US"/>
          </a:p>
        </p:txBody>
      </p:sp>
      <p:sp>
        <p:nvSpPr>
          <p:cNvPr id="19" name="Text 9">
            <a:extLst>
              <a:ext uri="{FF2B5EF4-FFF2-40B4-BE49-F238E27FC236}">
                <a16:creationId xmlns:a16="http://schemas.microsoft.com/office/drawing/2014/main" id="{951D95C3-343D-111D-4CBD-6E29D70F5FDA}"/>
              </a:ext>
            </a:extLst>
          </p:cNvPr>
          <p:cNvSpPr/>
          <p:nvPr/>
        </p:nvSpPr>
        <p:spPr>
          <a:xfrm>
            <a:off x="4361431" y="3633195"/>
            <a:ext cx="4343400" cy="475488"/>
          </a:xfrm>
          <a:prstGeom prst="rect">
            <a:avLst/>
          </a:prstGeom>
          <a:noFill/>
          <a:ln/>
        </p:spPr>
        <p:txBody>
          <a:bodyPr wrap="square" lIns="0" tIns="0" rIns="0" bIns="0" rtlCol="0" anchor="ctr"/>
          <a:lstStyle/>
          <a:p>
            <a:endParaRPr lang="en-US" sz="1000">
              <a:solidFill>
                <a:srgbClr val="FFFFFF"/>
              </a:solidFill>
              <a:latin typeface="Calibri" pitchFamily="34" charset="0"/>
              <a:ea typeface="Calibri" pitchFamily="34" charset="-122"/>
              <a:cs typeface="Calibri" pitchFamily="34" charset="-120"/>
            </a:endParaRPr>
          </a:p>
          <a:p>
            <a:endParaRPr lang="en-US" sz="1000">
              <a:solidFill>
                <a:srgbClr val="FFFFFF"/>
              </a:solidFill>
              <a:latin typeface="Calibri" pitchFamily="34" charset="0"/>
              <a:ea typeface="Calibri" pitchFamily="34" charset="-122"/>
              <a:cs typeface="Calibri" pitchFamily="34" charset="-120"/>
            </a:endParaRPr>
          </a:p>
          <a:p>
            <a:r>
              <a:rPr lang="en-US" sz="1000">
                <a:solidFill>
                  <a:srgbClr val="FFFFFF"/>
                </a:solidFill>
                <a:latin typeface="Calibri" pitchFamily="34" charset="0"/>
                <a:ea typeface="Calibri" pitchFamily="34" charset="-122"/>
                <a:cs typeface="Calibri" pitchFamily="34" charset="-120"/>
              </a:rPr>
              <a:t>User:  </a:t>
            </a:r>
            <a:r>
              <a:rPr lang="en-US" sz="1000">
                <a:solidFill>
                  <a:srgbClr val="FFFFFF"/>
                </a:solidFill>
                <a:latin typeface="Calibri" pitchFamily="34" charset="0"/>
                <a:cs typeface="Calibri" pitchFamily="34" charset="-120"/>
              </a:rPr>
              <a:t>Show me all available products - internet (fiber and non fiber) and other products at this location</a:t>
            </a:r>
          </a:p>
          <a:p>
            <a:br>
              <a:rPr lang="en-US" sz="1000"/>
            </a:br>
            <a:endParaRPr lang="en-US" sz="1000"/>
          </a:p>
        </p:txBody>
      </p:sp>
    </p:spTree>
    <p:extLst>
      <p:ext uri="{BB962C8B-B14F-4D97-AF65-F5344CB8AC3E}">
        <p14:creationId xmlns:p14="http://schemas.microsoft.com/office/powerpoint/2010/main" val="2654264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0F6FA"/>
        </a:solidFill>
        <a:effectLst/>
      </p:bgPr>
    </p:bg>
    <p:spTree>
      <p:nvGrpSpPr>
        <p:cNvPr id="1" name=""/>
        <p:cNvGrpSpPr/>
        <p:nvPr/>
      </p:nvGrpSpPr>
      <p:grpSpPr>
        <a:xfrm>
          <a:off x="0" y="0"/>
          <a:ext cx="0" cy="0"/>
          <a:chOff x="0" y="0"/>
          <a:chExt cx="0" cy="0"/>
        </a:xfrm>
      </p:grpSpPr>
      <p:sp>
        <p:nvSpPr>
          <p:cNvPr id="2" name="Text 0"/>
          <p:cNvSpPr/>
          <p:nvPr/>
        </p:nvSpPr>
        <p:spPr>
          <a:xfrm>
            <a:off x="8746901" y="4543023"/>
            <a:ext cx="365760" cy="228600"/>
          </a:xfrm>
          <a:prstGeom prst="rect">
            <a:avLst/>
          </a:prstGeom>
          <a:noFill/>
          <a:ln/>
        </p:spPr>
        <p:txBody>
          <a:bodyPr wrap="square" rtlCol="0" anchor="ctr"/>
          <a:lstStyle/>
          <a:p>
            <a:pPr marL="0" indent="0" algn="r">
              <a:buNone/>
            </a:pPr>
            <a:r>
              <a:rPr lang="en-US" sz="900">
                <a:solidFill>
                  <a:srgbClr val="94A3B8"/>
                </a:solidFill>
              </a:rPr>
              <a:t>7</a:t>
            </a:r>
            <a:endParaRPr lang="en-US" sz="900"/>
          </a:p>
        </p:txBody>
      </p:sp>
      <p:sp>
        <p:nvSpPr>
          <p:cNvPr id="3" name="Text 1"/>
          <p:cNvSpPr/>
          <p:nvPr/>
        </p:nvSpPr>
        <p:spPr>
          <a:xfrm>
            <a:off x="457200" y="182880"/>
            <a:ext cx="8229600" cy="502920"/>
          </a:xfrm>
          <a:prstGeom prst="rect">
            <a:avLst/>
          </a:prstGeom>
          <a:noFill/>
          <a:ln/>
        </p:spPr>
        <p:txBody>
          <a:bodyPr wrap="square" rtlCol="0" anchor="ctr"/>
          <a:lstStyle/>
          <a:p>
            <a:pPr marL="0" indent="0">
              <a:buNone/>
            </a:pPr>
            <a:r>
              <a:rPr lang="en-US" sz="3400" b="1">
                <a:solidFill>
                  <a:srgbClr val="0D1B3E"/>
                </a:solidFill>
                <a:latin typeface="Calibri" pitchFamily="34" charset="0"/>
                <a:ea typeface="Calibri" pitchFamily="34" charset="-122"/>
                <a:cs typeface="Calibri" pitchFamily="34" charset="-120"/>
              </a:rPr>
              <a:t>Conversation Demo Request</a:t>
            </a:r>
            <a:endParaRPr lang="en-US" sz="3400">
              <a:solidFill>
                <a:srgbClr val="0D1B3E"/>
              </a:solidFill>
            </a:endParaRPr>
          </a:p>
        </p:txBody>
      </p:sp>
      <p:sp>
        <p:nvSpPr>
          <p:cNvPr id="4" name="Shape 2"/>
          <p:cNvSpPr/>
          <p:nvPr/>
        </p:nvSpPr>
        <p:spPr>
          <a:xfrm>
            <a:off x="457200" y="731520"/>
            <a:ext cx="8229600" cy="54864"/>
          </a:xfrm>
          <a:prstGeom prst="rect">
            <a:avLst/>
          </a:prstGeom>
          <a:solidFill>
            <a:srgbClr val="00C2C7"/>
          </a:solidFill>
          <a:ln/>
        </p:spPr>
        <p:txBody>
          <a:bodyPr/>
          <a:lstStyle/>
          <a:p>
            <a:endParaRPr lang="en-US"/>
          </a:p>
        </p:txBody>
      </p:sp>
      <p:sp>
        <p:nvSpPr>
          <p:cNvPr id="7" name="Text 5"/>
          <p:cNvSpPr/>
          <p:nvPr/>
        </p:nvSpPr>
        <p:spPr>
          <a:xfrm>
            <a:off x="4312061" y="1132311"/>
            <a:ext cx="4343400" cy="475488"/>
          </a:xfrm>
          <a:prstGeom prst="rect">
            <a:avLst/>
          </a:prstGeom>
          <a:noFill/>
          <a:ln/>
        </p:spPr>
        <p:txBody>
          <a:bodyPr wrap="square" lIns="0" tIns="0" rIns="0" bIns="0" rtlCol="0" anchor="ctr"/>
          <a:lstStyle/>
          <a:p>
            <a:endParaRPr lang="en-US" sz="1000">
              <a:solidFill>
                <a:srgbClr val="FFFFFF"/>
              </a:solidFill>
              <a:latin typeface="Calibri" pitchFamily="34" charset="0"/>
              <a:ea typeface="Calibri" pitchFamily="34" charset="-122"/>
              <a:cs typeface="Calibri" pitchFamily="34" charset="-120"/>
            </a:endParaRPr>
          </a:p>
          <a:p>
            <a:endParaRPr lang="en-US" sz="1000">
              <a:solidFill>
                <a:srgbClr val="FFFFFF"/>
              </a:solidFill>
              <a:latin typeface="Calibri" pitchFamily="34" charset="0"/>
              <a:ea typeface="Calibri" pitchFamily="34" charset="-122"/>
              <a:cs typeface="Calibri" pitchFamily="34" charset="-120"/>
            </a:endParaRPr>
          </a:p>
          <a:p>
            <a:br>
              <a:rPr lang="en-US" sz="1000">
                <a:solidFill>
                  <a:srgbClr val="FFFFFF"/>
                </a:solidFill>
                <a:latin typeface="Calibri" pitchFamily="34" charset="0"/>
                <a:ea typeface="Calibri" pitchFamily="34" charset="-122"/>
                <a:cs typeface="Calibri" pitchFamily="34" charset="-120"/>
              </a:rPr>
            </a:br>
            <a:endParaRPr lang="en-US" sz="1000"/>
          </a:p>
        </p:txBody>
      </p:sp>
      <p:pic>
        <p:nvPicPr>
          <p:cNvPr id="23" name="Picture 22">
            <a:extLst>
              <a:ext uri="{FF2B5EF4-FFF2-40B4-BE49-F238E27FC236}">
                <a16:creationId xmlns:a16="http://schemas.microsoft.com/office/drawing/2014/main" id="{9C1C86CD-2ECA-DAE5-E4FA-8AA271FF23F2}"/>
              </a:ext>
            </a:extLst>
          </p:cNvPr>
          <p:cNvPicPr>
            <a:picLocks noChangeAspect="1"/>
          </p:cNvPicPr>
          <p:nvPr/>
        </p:nvPicPr>
        <p:blipFill>
          <a:blip r:embed="rId3"/>
          <a:stretch>
            <a:fillRect/>
          </a:stretch>
        </p:blipFill>
        <p:spPr>
          <a:xfrm>
            <a:off x="537093" y="786384"/>
            <a:ext cx="6949440" cy="46329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0F6FA"/>
        </a:solidFill>
        <a:effectLst/>
      </p:bgPr>
    </p:bg>
    <p:spTree>
      <p:nvGrpSpPr>
        <p:cNvPr id="1" name=""/>
        <p:cNvGrpSpPr/>
        <p:nvPr/>
      </p:nvGrpSpPr>
      <p:grpSpPr>
        <a:xfrm>
          <a:off x="0" y="0"/>
          <a:ext cx="0" cy="0"/>
          <a:chOff x="0" y="0"/>
          <a:chExt cx="0" cy="0"/>
        </a:xfrm>
      </p:grpSpPr>
      <p:sp>
        <p:nvSpPr>
          <p:cNvPr id="2" name="Text 0"/>
          <p:cNvSpPr/>
          <p:nvPr/>
        </p:nvSpPr>
        <p:spPr>
          <a:xfrm>
            <a:off x="8686800" y="4800600"/>
            <a:ext cx="365760" cy="228600"/>
          </a:xfrm>
          <a:prstGeom prst="rect">
            <a:avLst/>
          </a:prstGeom>
          <a:noFill/>
          <a:ln/>
        </p:spPr>
        <p:txBody>
          <a:bodyPr wrap="square" rtlCol="0" anchor="ctr"/>
          <a:lstStyle/>
          <a:p>
            <a:pPr marL="0" indent="0" algn="r">
              <a:buNone/>
            </a:pPr>
            <a:r>
              <a:rPr lang="en-US" sz="900">
                <a:solidFill>
                  <a:srgbClr val="94A3B8"/>
                </a:solidFill>
              </a:rPr>
              <a:t>6</a:t>
            </a:r>
            <a:endParaRPr lang="en-US" sz="900"/>
          </a:p>
        </p:txBody>
      </p:sp>
      <p:sp>
        <p:nvSpPr>
          <p:cNvPr id="3" name="Text 1"/>
          <p:cNvSpPr/>
          <p:nvPr/>
        </p:nvSpPr>
        <p:spPr>
          <a:xfrm>
            <a:off x="457200" y="228600"/>
            <a:ext cx="4114800" cy="457200"/>
          </a:xfrm>
          <a:prstGeom prst="rect">
            <a:avLst/>
          </a:prstGeom>
          <a:noFill/>
          <a:ln/>
        </p:spPr>
        <p:txBody>
          <a:bodyPr wrap="square" rtlCol="0" anchor="ctr"/>
          <a:lstStyle/>
          <a:p>
            <a:pPr marL="0" indent="0">
              <a:buNone/>
            </a:pPr>
            <a:r>
              <a:rPr lang="en-US" sz="3000" b="1">
                <a:solidFill>
                  <a:srgbClr val="1E293B"/>
                </a:solidFill>
                <a:latin typeface="Calibri" pitchFamily="34" charset="0"/>
                <a:ea typeface="Calibri" pitchFamily="34" charset="-122"/>
                <a:cs typeface="Calibri" pitchFamily="34" charset="-120"/>
              </a:rPr>
              <a:t>Tech Stack</a:t>
            </a:r>
            <a:endParaRPr lang="en-US" sz="3000"/>
          </a:p>
        </p:txBody>
      </p:sp>
      <p:sp>
        <p:nvSpPr>
          <p:cNvPr id="4" name="Shape 2"/>
          <p:cNvSpPr/>
          <p:nvPr/>
        </p:nvSpPr>
        <p:spPr>
          <a:xfrm>
            <a:off x="457200" y="731520"/>
            <a:ext cx="4114800" cy="54864"/>
          </a:xfrm>
          <a:prstGeom prst="rect">
            <a:avLst/>
          </a:prstGeom>
          <a:solidFill>
            <a:srgbClr val="00C2C7"/>
          </a:solidFill>
          <a:ln/>
        </p:spPr>
        <p:txBody>
          <a:bodyPr/>
          <a:lstStyle/>
          <a:p>
            <a:endParaRPr lang="en-US"/>
          </a:p>
        </p:txBody>
      </p:sp>
      <p:sp>
        <p:nvSpPr>
          <p:cNvPr id="5" name="Shape 3"/>
          <p:cNvSpPr/>
          <p:nvPr/>
        </p:nvSpPr>
        <p:spPr>
          <a:xfrm>
            <a:off x="457200" y="914400"/>
            <a:ext cx="4023360" cy="566928"/>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6" name="Shape 4"/>
          <p:cNvSpPr/>
          <p:nvPr/>
        </p:nvSpPr>
        <p:spPr>
          <a:xfrm>
            <a:off x="457200" y="914400"/>
            <a:ext cx="54864" cy="566928"/>
          </a:xfrm>
          <a:prstGeom prst="rect">
            <a:avLst/>
          </a:prstGeom>
          <a:solidFill>
            <a:srgbClr val="00C2C7"/>
          </a:solidFill>
          <a:ln/>
        </p:spPr>
        <p:txBody>
          <a:bodyPr/>
          <a:lstStyle/>
          <a:p>
            <a:endParaRPr lang="en-US"/>
          </a:p>
        </p:txBody>
      </p:sp>
      <p:sp>
        <p:nvSpPr>
          <p:cNvPr id="7" name="Text 5"/>
          <p:cNvSpPr/>
          <p:nvPr/>
        </p:nvSpPr>
        <p:spPr>
          <a:xfrm>
            <a:off x="685800" y="987552"/>
            <a:ext cx="1097280" cy="228600"/>
          </a:xfrm>
          <a:prstGeom prst="rect">
            <a:avLst/>
          </a:prstGeom>
          <a:noFill/>
          <a:ln/>
        </p:spPr>
        <p:txBody>
          <a:bodyPr wrap="square" lIns="0" tIns="0" rIns="0" bIns="0" rtlCol="0" anchor="ctr"/>
          <a:lstStyle/>
          <a:p>
            <a:pPr marL="0" indent="0">
              <a:buNone/>
            </a:pPr>
            <a:r>
              <a:rPr lang="en-US" sz="900" b="1">
                <a:solidFill>
                  <a:srgbClr val="028090"/>
                </a:solidFill>
                <a:latin typeface="Calibri" pitchFamily="34" charset="0"/>
                <a:ea typeface="Calibri" pitchFamily="34" charset="-122"/>
                <a:cs typeface="Calibri" pitchFamily="34" charset="-120"/>
              </a:rPr>
              <a:t>Orchestration</a:t>
            </a:r>
            <a:endParaRPr lang="en-US" sz="900"/>
          </a:p>
        </p:txBody>
      </p:sp>
      <p:sp>
        <p:nvSpPr>
          <p:cNvPr id="8" name="Text 6"/>
          <p:cNvSpPr/>
          <p:nvPr/>
        </p:nvSpPr>
        <p:spPr>
          <a:xfrm>
            <a:off x="685800" y="1188720"/>
            <a:ext cx="3657600" cy="228600"/>
          </a:xfrm>
          <a:prstGeom prst="rect">
            <a:avLst/>
          </a:prstGeom>
          <a:noFill/>
          <a:ln/>
        </p:spPr>
        <p:txBody>
          <a:bodyPr wrap="square" lIns="0" tIns="0" rIns="0" bIns="0" rtlCol="0" anchor="ctr"/>
          <a:lstStyle/>
          <a:p>
            <a:pPr marL="0" indent="0">
              <a:buNone/>
            </a:pPr>
            <a:r>
              <a:rPr lang="en-US" sz="1300" b="1">
                <a:solidFill>
                  <a:srgbClr val="1E293B"/>
                </a:solidFill>
                <a:latin typeface="Calibri" pitchFamily="34" charset="0"/>
                <a:ea typeface="Calibri" pitchFamily="34" charset="-122"/>
                <a:cs typeface="Calibri" pitchFamily="34" charset="-120"/>
              </a:rPr>
              <a:t>Google ADK</a:t>
            </a:r>
            <a:endParaRPr lang="en-US" sz="1300"/>
          </a:p>
        </p:txBody>
      </p:sp>
      <p:sp>
        <p:nvSpPr>
          <p:cNvPr id="9" name="Text 7"/>
          <p:cNvSpPr/>
          <p:nvPr/>
        </p:nvSpPr>
        <p:spPr>
          <a:xfrm>
            <a:off x="2194560" y="987552"/>
            <a:ext cx="2148840" cy="411480"/>
          </a:xfrm>
          <a:prstGeom prst="rect">
            <a:avLst/>
          </a:prstGeom>
          <a:noFill/>
          <a:ln/>
        </p:spPr>
        <p:txBody>
          <a:bodyPr wrap="square" lIns="0" tIns="0" rIns="0" bIns="0" rtlCol="0" anchor="ctr"/>
          <a:lstStyle/>
          <a:p>
            <a:pPr marL="0" indent="0">
              <a:buNone/>
            </a:pPr>
            <a:r>
              <a:rPr lang="en-US" sz="1000">
                <a:solidFill>
                  <a:srgbClr val="64748B"/>
                </a:solidFill>
                <a:latin typeface="Calibri" pitchFamily="34" charset="0"/>
                <a:ea typeface="Calibri" pitchFamily="34" charset="-122"/>
                <a:cs typeface="Calibri" pitchFamily="34" charset="-120"/>
              </a:rPr>
              <a:t>Native sub-agent delegation, no custom A2A protocol</a:t>
            </a:r>
            <a:endParaRPr lang="en-US" sz="1000"/>
          </a:p>
        </p:txBody>
      </p:sp>
      <p:sp>
        <p:nvSpPr>
          <p:cNvPr id="10" name="Shape 8"/>
          <p:cNvSpPr/>
          <p:nvPr/>
        </p:nvSpPr>
        <p:spPr>
          <a:xfrm>
            <a:off x="457200" y="1572768"/>
            <a:ext cx="4023360" cy="566928"/>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11" name="Shape 9"/>
          <p:cNvSpPr/>
          <p:nvPr/>
        </p:nvSpPr>
        <p:spPr>
          <a:xfrm>
            <a:off x="457200" y="1572768"/>
            <a:ext cx="54864" cy="566928"/>
          </a:xfrm>
          <a:prstGeom prst="rect">
            <a:avLst/>
          </a:prstGeom>
          <a:solidFill>
            <a:srgbClr val="00C2C7"/>
          </a:solidFill>
          <a:ln/>
        </p:spPr>
        <p:txBody>
          <a:bodyPr/>
          <a:lstStyle/>
          <a:p>
            <a:endParaRPr lang="en-US"/>
          </a:p>
        </p:txBody>
      </p:sp>
      <p:sp>
        <p:nvSpPr>
          <p:cNvPr id="12" name="Text 10"/>
          <p:cNvSpPr/>
          <p:nvPr/>
        </p:nvSpPr>
        <p:spPr>
          <a:xfrm>
            <a:off x="685800" y="1645920"/>
            <a:ext cx="1097280" cy="228600"/>
          </a:xfrm>
          <a:prstGeom prst="rect">
            <a:avLst/>
          </a:prstGeom>
          <a:noFill/>
          <a:ln/>
        </p:spPr>
        <p:txBody>
          <a:bodyPr wrap="square" lIns="0" tIns="0" rIns="0" bIns="0" rtlCol="0" anchor="ctr"/>
          <a:lstStyle/>
          <a:p>
            <a:pPr marL="0" indent="0">
              <a:buNone/>
            </a:pPr>
            <a:r>
              <a:rPr lang="en-US" sz="900" b="1">
                <a:solidFill>
                  <a:srgbClr val="028090"/>
                </a:solidFill>
                <a:latin typeface="Calibri" pitchFamily="34" charset="0"/>
                <a:ea typeface="Calibri" pitchFamily="34" charset="-122"/>
                <a:cs typeface="Calibri" pitchFamily="34" charset="-120"/>
              </a:rPr>
              <a:t>LLM</a:t>
            </a:r>
            <a:endParaRPr lang="en-US" sz="900"/>
          </a:p>
        </p:txBody>
      </p:sp>
      <p:sp>
        <p:nvSpPr>
          <p:cNvPr id="13" name="Text 11"/>
          <p:cNvSpPr/>
          <p:nvPr/>
        </p:nvSpPr>
        <p:spPr>
          <a:xfrm>
            <a:off x="685800" y="1847088"/>
            <a:ext cx="3657600" cy="228600"/>
          </a:xfrm>
          <a:prstGeom prst="rect">
            <a:avLst/>
          </a:prstGeom>
          <a:noFill/>
          <a:ln/>
        </p:spPr>
        <p:txBody>
          <a:bodyPr wrap="square" lIns="0" tIns="0" rIns="0" bIns="0" rtlCol="0" anchor="ctr"/>
          <a:lstStyle/>
          <a:p>
            <a:pPr marL="0" indent="0">
              <a:buNone/>
            </a:pPr>
            <a:r>
              <a:rPr lang="en-US" sz="1300" b="1">
                <a:solidFill>
                  <a:srgbClr val="1E293B"/>
                </a:solidFill>
                <a:latin typeface="Calibri" pitchFamily="34" charset="0"/>
                <a:ea typeface="Calibri" pitchFamily="34" charset="-122"/>
                <a:cs typeface="Calibri" pitchFamily="34" charset="-120"/>
              </a:rPr>
              <a:t>Gemini 3.0 Flash</a:t>
            </a:r>
            <a:endParaRPr lang="en-US" sz="1300"/>
          </a:p>
        </p:txBody>
      </p:sp>
      <p:sp>
        <p:nvSpPr>
          <p:cNvPr id="14" name="Text 12"/>
          <p:cNvSpPr/>
          <p:nvPr/>
        </p:nvSpPr>
        <p:spPr>
          <a:xfrm>
            <a:off x="2194560" y="1645920"/>
            <a:ext cx="2148840" cy="411480"/>
          </a:xfrm>
          <a:prstGeom prst="rect">
            <a:avLst/>
          </a:prstGeom>
          <a:noFill/>
          <a:ln/>
        </p:spPr>
        <p:txBody>
          <a:bodyPr wrap="square" lIns="0" tIns="0" rIns="0" bIns="0" rtlCol="0" anchor="ctr"/>
          <a:lstStyle/>
          <a:p>
            <a:pPr marL="0" indent="0">
              <a:buNone/>
            </a:pPr>
            <a:r>
              <a:rPr lang="en-US" sz="1000">
                <a:solidFill>
                  <a:srgbClr val="64748B"/>
                </a:solidFill>
                <a:latin typeface="Calibri" pitchFamily="34" charset="0"/>
                <a:ea typeface="Calibri" pitchFamily="34" charset="-122"/>
                <a:cs typeface="Calibri" pitchFamily="34" charset="-120"/>
              </a:rPr>
              <a:t>Fast, cost-efficient; per-agent temperature config</a:t>
            </a:r>
            <a:endParaRPr lang="en-US" sz="1000"/>
          </a:p>
        </p:txBody>
      </p:sp>
      <p:sp>
        <p:nvSpPr>
          <p:cNvPr id="15" name="Shape 13"/>
          <p:cNvSpPr/>
          <p:nvPr/>
        </p:nvSpPr>
        <p:spPr>
          <a:xfrm>
            <a:off x="457200" y="2231136"/>
            <a:ext cx="4023360" cy="566928"/>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16" name="Shape 14"/>
          <p:cNvSpPr/>
          <p:nvPr/>
        </p:nvSpPr>
        <p:spPr>
          <a:xfrm>
            <a:off x="457200" y="2231136"/>
            <a:ext cx="54864" cy="566928"/>
          </a:xfrm>
          <a:prstGeom prst="rect">
            <a:avLst/>
          </a:prstGeom>
          <a:solidFill>
            <a:srgbClr val="00C2C7"/>
          </a:solidFill>
          <a:ln/>
        </p:spPr>
        <p:txBody>
          <a:bodyPr/>
          <a:lstStyle/>
          <a:p>
            <a:endParaRPr lang="en-US"/>
          </a:p>
        </p:txBody>
      </p:sp>
      <p:sp>
        <p:nvSpPr>
          <p:cNvPr id="17" name="Text 15"/>
          <p:cNvSpPr/>
          <p:nvPr/>
        </p:nvSpPr>
        <p:spPr>
          <a:xfrm>
            <a:off x="685800" y="2304288"/>
            <a:ext cx="1097280" cy="228600"/>
          </a:xfrm>
          <a:prstGeom prst="rect">
            <a:avLst/>
          </a:prstGeom>
          <a:noFill/>
          <a:ln/>
        </p:spPr>
        <p:txBody>
          <a:bodyPr wrap="square" lIns="0" tIns="0" rIns="0" bIns="0" rtlCol="0" anchor="ctr"/>
          <a:lstStyle/>
          <a:p>
            <a:pPr marL="0" indent="0">
              <a:buNone/>
            </a:pPr>
            <a:r>
              <a:rPr lang="en-US" sz="900" b="1">
                <a:solidFill>
                  <a:srgbClr val="028090"/>
                </a:solidFill>
                <a:latin typeface="Calibri" pitchFamily="34" charset="0"/>
                <a:ea typeface="Calibri" pitchFamily="34" charset="-122"/>
                <a:cs typeface="Calibri" pitchFamily="34" charset="-120"/>
              </a:rPr>
              <a:t>Backend</a:t>
            </a:r>
            <a:endParaRPr lang="en-US" sz="900"/>
          </a:p>
        </p:txBody>
      </p:sp>
      <p:sp>
        <p:nvSpPr>
          <p:cNvPr id="18" name="Text 16"/>
          <p:cNvSpPr/>
          <p:nvPr/>
        </p:nvSpPr>
        <p:spPr>
          <a:xfrm>
            <a:off x="685800" y="2505456"/>
            <a:ext cx="3657600" cy="228600"/>
          </a:xfrm>
          <a:prstGeom prst="rect">
            <a:avLst/>
          </a:prstGeom>
          <a:noFill/>
          <a:ln/>
        </p:spPr>
        <p:txBody>
          <a:bodyPr wrap="square" lIns="0" tIns="0" rIns="0" bIns="0" rtlCol="0" anchor="ctr"/>
          <a:lstStyle/>
          <a:p>
            <a:pPr marL="0" indent="0">
              <a:buNone/>
            </a:pPr>
            <a:r>
              <a:rPr lang="en-US" sz="1300" b="1">
                <a:solidFill>
                  <a:srgbClr val="1E293B"/>
                </a:solidFill>
                <a:latin typeface="Calibri" pitchFamily="34" charset="0"/>
                <a:ea typeface="Calibri" pitchFamily="34" charset="-122"/>
                <a:cs typeface="Calibri" pitchFamily="34" charset="-120"/>
              </a:rPr>
              <a:t>FastAPI + SSE</a:t>
            </a:r>
            <a:endParaRPr lang="en-US" sz="1300"/>
          </a:p>
        </p:txBody>
      </p:sp>
      <p:sp>
        <p:nvSpPr>
          <p:cNvPr id="19" name="Text 17"/>
          <p:cNvSpPr/>
          <p:nvPr/>
        </p:nvSpPr>
        <p:spPr>
          <a:xfrm>
            <a:off x="2194560" y="2304288"/>
            <a:ext cx="2148840" cy="411480"/>
          </a:xfrm>
          <a:prstGeom prst="rect">
            <a:avLst/>
          </a:prstGeom>
          <a:noFill/>
          <a:ln/>
        </p:spPr>
        <p:txBody>
          <a:bodyPr wrap="square" lIns="0" tIns="0" rIns="0" bIns="0" rtlCol="0" anchor="ctr"/>
          <a:lstStyle/>
          <a:p>
            <a:pPr marL="0" indent="0">
              <a:buNone/>
            </a:pPr>
            <a:r>
              <a:rPr lang="en-US" sz="1000">
                <a:solidFill>
                  <a:srgbClr val="64748B"/>
                </a:solidFill>
                <a:latin typeface="Calibri" pitchFamily="34" charset="0"/>
                <a:ea typeface="Calibri" pitchFamily="34" charset="-122"/>
                <a:cs typeface="Calibri" pitchFamily="34" charset="-120"/>
              </a:rPr>
              <a:t>Token streaming to React frontend; single Cloud Run container</a:t>
            </a:r>
            <a:endParaRPr lang="en-US" sz="1000"/>
          </a:p>
        </p:txBody>
      </p:sp>
      <p:sp>
        <p:nvSpPr>
          <p:cNvPr id="20" name="Shape 18"/>
          <p:cNvSpPr/>
          <p:nvPr/>
        </p:nvSpPr>
        <p:spPr>
          <a:xfrm>
            <a:off x="457200" y="2889504"/>
            <a:ext cx="4023360" cy="566928"/>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21" name="Shape 19"/>
          <p:cNvSpPr/>
          <p:nvPr/>
        </p:nvSpPr>
        <p:spPr>
          <a:xfrm>
            <a:off x="457200" y="2889504"/>
            <a:ext cx="54864" cy="566928"/>
          </a:xfrm>
          <a:prstGeom prst="rect">
            <a:avLst/>
          </a:prstGeom>
          <a:solidFill>
            <a:srgbClr val="00C2C7"/>
          </a:solidFill>
          <a:ln/>
        </p:spPr>
        <p:txBody>
          <a:bodyPr/>
          <a:lstStyle/>
          <a:p>
            <a:endParaRPr lang="en-US"/>
          </a:p>
        </p:txBody>
      </p:sp>
      <p:sp>
        <p:nvSpPr>
          <p:cNvPr id="22" name="Text 20"/>
          <p:cNvSpPr/>
          <p:nvPr/>
        </p:nvSpPr>
        <p:spPr>
          <a:xfrm>
            <a:off x="685800" y="2962656"/>
            <a:ext cx="1097280" cy="228600"/>
          </a:xfrm>
          <a:prstGeom prst="rect">
            <a:avLst/>
          </a:prstGeom>
          <a:noFill/>
          <a:ln/>
        </p:spPr>
        <p:txBody>
          <a:bodyPr wrap="square" lIns="0" tIns="0" rIns="0" bIns="0" rtlCol="0" anchor="ctr"/>
          <a:lstStyle/>
          <a:p>
            <a:pPr marL="0" indent="0">
              <a:buNone/>
            </a:pPr>
            <a:r>
              <a:rPr lang="en-US" sz="900" b="1">
                <a:solidFill>
                  <a:srgbClr val="028090"/>
                </a:solidFill>
                <a:latin typeface="Calibri" pitchFamily="34" charset="0"/>
                <a:ea typeface="Calibri" pitchFamily="34" charset="-122"/>
                <a:cs typeface="Calibri" pitchFamily="34" charset="-120"/>
              </a:rPr>
              <a:t>Frontend</a:t>
            </a:r>
            <a:endParaRPr lang="en-US" sz="900"/>
          </a:p>
        </p:txBody>
      </p:sp>
      <p:sp>
        <p:nvSpPr>
          <p:cNvPr id="23" name="Text 21"/>
          <p:cNvSpPr/>
          <p:nvPr/>
        </p:nvSpPr>
        <p:spPr>
          <a:xfrm>
            <a:off x="685800" y="3163824"/>
            <a:ext cx="1371600" cy="182880"/>
          </a:xfrm>
          <a:prstGeom prst="rect">
            <a:avLst/>
          </a:prstGeom>
          <a:noFill/>
          <a:ln/>
        </p:spPr>
        <p:txBody>
          <a:bodyPr wrap="square" lIns="0" tIns="0" rIns="0" bIns="0" rtlCol="0" anchor="ctr"/>
          <a:lstStyle/>
          <a:p>
            <a:pPr marL="0" indent="0">
              <a:buNone/>
            </a:pPr>
            <a:r>
              <a:rPr lang="en-US" sz="1300" b="1">
                <a:solidFill>
                  <a:srgbClr val="1E293B"/>
                </a:solidFill>
                <a:latin typeface="Calibri" pitchFamily="34" charset="0"/>
                <a:ea typeface="Calibri" pitchFamily="34" charset="-122"/>
                <a:cs typeface="Calibri" pitchFamily="34" charset="-120"/>
              </a:rPr>
              <a:t>React 19</a:t>
            </a:r>
            <a:endParaRPr lang="en-US" sz="1300"/>
          </a:p>
        </p:txBody>
      </p:sp>
      <p:sp>
        <p:nvSpPr>
          <p:cNvPr id="24" name="Text 22"/>
          <p:cNvSpPr/>
          <p:nvPr/>
        </p:nvSpPr>
        <p:spPr>
          <a:xfrm>
            <a:off x="2194560" y="2962656"/>
            <a:ext cx="2148840" cy="411480"/>
          </a:xfrm>
          <a:prstGeom prst="rect">
            <a:avLst/>
          </a:prstGeom>
          <a:noFill/>
          <a:ln/>
        </p:spPr>
        <p:txBody>
          <a:bodyPr wrap="square" lIns="0" tIns="0" rIns="0" bIns="0" rtlCol="0" anchor="ctr"/>
          <a:lstStyle/>
          <a:p>
            <a:pPr marL="0" indent="0">
              <a:buNone/>
            </a:pPr>
            <a:r>
              <a:rPr lang="en-US" sz="1000">
                <a:solidFill>
                  <a:srgbClr val="64748B"/>
                </a:solidFill>
                <a:latin typeface="Calibri" pitchFamily="34" charset="0"/>
                <a:ea typeface="Calibri" pitchFamily="34" charset="-122"/>
                <a:cs typeface="Calibri" pitchFamily="34" charset="-120"/>
              </a:rPr>
              <a:t>Real-time streaming chat UI</a:t>
            </a:r>
            <a:endParaRPr lang="en-US" sz="1000"/>
          </a:p>
        </p:txBody>
      </p:sp>
      <p:sp>
        <p:nvSpPr>
          <p:cNvPr id="25" name="Shape 23"/>
          <p:cNvSpPr/>
          <p:nvPr/>
        </p:nvSpPr>
        <p:spPr>
          <a:xfrm>
            <a:off x="457200" y="3547872"/>
            <a:ext cx="4023360" cy="566928"/>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26" name="Shape 24"/>
          <p:cNvSpPr/>
          <p:nvPr/>
        </p:nvSpPr>
        <p:spPr>
          <a:xfrm>
            <a:off x="457200" y="3547872"/>
            <a:ext cx="54864" cy="566928"/>
          </a:xfrm>
          <a:prstGeom prst="rect">
            <a:avLst/>
          </a:prstGeom>
          <a:solidFill>
            <a:srgbClr val="00C2C7"/>
          </a:solidFill>
          <a:ln/>
        </p:spPr>
        <p:txBody>
          <a:bodyPr/>
          <a:lstStyle/>
          <a:p>
            <a:endParaRPr lang="en-US"/>
          </a:p>
        </p:txBody>
      </p:sp>
      <p:sp>
        <p:nvSpPr>
          <p:cNvPr id="27" name="Text 25"/>
          <p:cNvSpPr/>
          <p:nvPr/>
        </p:nvSpPr>
        <p:spPr>
          <a:xfrm>
            <a:off x="685800" y="3621024"/>
            <a:ext cx="1097280" cy="228600"/>
          </a:xfrm>
          <a:prstGeom prst="rect">
            <a:avLst/>
          </a:prstGeom>
          <a:noFill/>
          <a:ln/>
        </p:spPr>
        <p:txBody>
          <a:bodyPr wrap="square" lIns="0" tIns="0" rIns="0" bIns="0" rtlCol="0" anchor="ctr"/>
          <a:lstStyle/>
          <a:p>
            <a:pPr marL="0" indent="0">
              <a:buNone/>
            </a:pPr>
            <a:r>
              <a:rPr lang="en-US" sz="900" b="1">
                <a:solidFill>
                  <a:srgbClr val="028090"/>
                </a:solidFill>
                <a:latin typeface="Calibri" pitchFamily="34" charset="0"/>
                <a:ea typeface="Calibri" pitchFamily="34" charset="-122"/>
                <a:cs typeface="Calibri" pitchFamily="34" charset="-120"/>
              </a:rPr>
              <a:t>Data</a:t>
            </a:r>
            <a:endParaRPr lang="en-US" sz="900"/>
          </a:p>
        </p:txBody>
      </p:sp>
      <p:sp>
        <p:nvSpPr>
          <p:cNvPr id="28" name="Text 26"/>
          <p:cNvSpPr/>
          <p:nvPr/>
        </p:nvSpPr>
        <p:spPr>
          <a:xfrm>
            <a:off x="685800" y="3822192"/>
            <a:ext cx="3657600" cy="228600"/>
          </a:xfrm>
          <a:prstGeom prst="rect">
            <a:avLst/>
          </a:prstGeom>
          <a:noFill/>
          <a:ln/>
        </p:spPr>
        <p:txBody>
          <a:bodyPr wrap="square" lIns="0" tIns="0" rIns="0" bIns="0" rtlCol="0" anchor="ctr"/>
          <a:lstStyle/>
          <a:p>
            <a:pPr marL="0" indent="0">
              <a:buNone/>
            </a:pPr>
            <a:r>
              <a:rPr lang="en-US" sz="1300" b="1">
                <a:solidFill>
                  <a:srgbClr val="1E293B"/>
                </a:solidFill>
                <a:latin typeface="Calibri" pitchFamily="34" charset="0"/>
                <a:ea typeface="Calibri" pitchFamily="34" charset="-122"/>
                <a:cs typeface="Calibri" pitchFamily="34" charset="-120"/>
              </a:rPr>
              <a:t>SQLite + GCS sync</a:t>
            </a:r>
            <a:endParaRPr lang="en-US" sz="1300"/>
          </a:p>
        </p:txBody>
      </p:sp>
      <p:sp>
        <p:nvSpPr>
          <p:cNvPr id="29" name="Text 27"/>
          <p:cNvSpPr/>
          <p:nvPr/>
        </p:nvSpPr>
        <p:spPr>
          <a:xfrm>
            <a:off x="2194560" y="3621024"/>
            <a:ext cx="2148840" cy="411480"/>
          </a:xfrm>
          <a:prstGeom prst="rect">
            <a:avLst/>
          </a:prstGeom>
          <a:noFill/>
          <a:ln/>
        </p:spPr>
        <p:txBody>
          <a:bodyPr wrap="square" lIns="0" tIns="0" rIns="0" bIns="0" rtlCol="0" anchor="ctr"/>
          <a:lstStyle/>
          <a:p>
            <a:pPr marL="0" indent="0">
              <a:buNone/>
            </a:pPr>
            <a:r>
              <a:rPr lang="en-US" sz="1000">
                <a:solidFill>
                  <a:srgbClr val="64748B"/>
                </a:solidFill>
                <a:latin typeface="Calibri" pitchFamily="34" charset="0"/>
                <a:ea typeface="Calibri" pitchFamily="34" charset="-122"/>
                <a:cs typeface="Calibri" pitchFamily="34" charset="-120"/>
              </a:rPr>
              <a:t>Lightweight, portable; synced to GCS for durability</a:t>
            </a:r>
            <a:endParaRPr lang="en-US" sz="1000"/>
          </a:p>
        </p:txBody>
      </p:sp>
      <p:sp>
        <p:nvSpPr>
          <p:cNvPr id="30" name="Shape 28"/>
          <p:cNvSpPr/>
          <p:nvPr/>
        </p:nvSpPr>
        <p:spPr>
          <a:xfrm>
            <a:off x="457200" y="4206240"/>
            <a:ext cx="4023360" cy="566928"/>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31" name="Shape 29"/>
          <p:cNvSpPr/>
          <p:nvPr/>
        </p:nvSpPr>
        <p:spPr>
          <a:xfrm>
            <a:off x="457200" y="4206240"/>
            <a:ext cx="54864" cy="566928"/>
          </a:xfrm>
          <a:prstGeom prst="rect">
            <a:avLst/>
          </a:prstGeom>
          <a:solidFill>
            <a:srgbClr val="00C2C7"/>
          </a:solidFill>
          <a:ln/>
        </p:spPr>
        <p:txBody>
          <a:bodyPr/>
          <a:lstStyle/>
          <a:p>
            <a:endParaRPr lang="en-US"/>
          </a:p>
        </p:txBody>
      </p:sp>
      <p:sp>
        <p:nvSpPr>
          <p:cNvPr id="32" name="Text 30"/>
          <p:cNvSpPr/>
          <p:nvPr/>
        </p:nvSpPr>
        <p:spPr>
          <a:xfrm>
            <a:off x="685800" y="4279392"/>
            <a:ext cx="1097280" cy="228600"/>
          </a:xfrm>
          <a:prstGeom prst="rect">
            <a:avLst/>
          </a:prstGeom>
          <a:noFill/>
          <a:ln/>
        </p:spPr>
        <p:txBody>
          <a:bodyPr wrap="square" lIns="0" tIns="0" rIns="0" bIns="0" rtlCol="0" anchor="ctr"/>
          <a:lstStyle/>
          <a:p>
            <a:pPr marL="0" indent="0">
              <a:buNone/>
            </a:pPr>
            <a:r>
              <a:rPr lang="en-US" sz="900" b="1">
                <a:solidFill>
                  <a:srgbClr val="028090"/>
                </a:solidFill>
                <a:latin typeface="Calibri" pitchFamily="34" charset="0"/>
                <a:ea typeface="Calibri" pitchFamily="34" charset="-122"/>
                <a:cs typeface="Calibri" pitchFamily="34" charset="-120"/>
              </a:rPr>
              <a:t>Deploy</a:t>
            </a:r>
            <a:endParaRPr lang="en-US" sz="900"/>
          </a:p>
        </p:txBody>
      </p:sp>
      <p:sp>
        <p:nvSpPr>
          <p:cNvPr id="33" name="Text 31"/>
          <p:cNvSpPr/>
          <p:nvPr/>
        </p:nvSpPr>
        <p:spPr>
          <a:xfrm>
            <a:off x="685800" y="4480560"/>
            <a:ext cx="3657600" cy="228600"/>
          </a:xfrm>
          <a:prstGeom prst="rect">
            <a:avLst/>
          </a:prstGeom>
          <a:noFill/>
          <a:ln/>
        </p:spPr>
        <p:txBody>
          <a:bodyPr wrap="square" lIns="0" tIns="0" rIns="0" bIns="0" rtlCol="0" anchor="ctr"/>
          <a:lstStyle/>
          <a:p>
            <a:pPr marL="0" indent="0">
              <a:buNone/>
            </a:pPr>
            <a:r>
              <a:rPr lang="en-US" sz="1300" b="1">
                <a:solidFill>
                  <a:srgbClr val="1E293B"/>
                </a:solidFill>
                <a:latin typeface="Calibri" pitchFamily="34" charset="0"/>
                <a:ea typeface="Calibri" pitchFamily="34" charset="-122"/>
                <a:cs typeface="Calibri" pitchFamily="34" charset="-120"/>
              </a:rPr>
              <a:t>GCP Cloud Run</a:t>
            </a:r>
            <a:endParaRPr lang="en-US" sz="1300"/>
          </a:p>
        </p:txBody>
      </p:sp>
      <p:sp>
        <p:nvSpPr>
          <p:cNvPr id="34" name="Text 32"/>
          <p:cNvSpPr/>
          <p:nvPr/>
        </p:nvSpPr>
        <p:spPr>
          <a:xfrm>
            <a:off x="2194560" y="4279392"/>
            <a:ext cx="2148840" cy="411480"/>
          </a:xfrm>
          <a:prstGeom prst="rect">
            <a:avLst/>
          </a:prstGeom>
          <a:noFill/>
          <a:ln/>
        </p:spPr>
        <p:txBody>
          <a:bodyPr wrap="square" lIns="0" tIns="0" rIns="0" bIns="0" rtlCol="0" anchor="ctr"/>
          <a:lstStyle/>
          <a:p>
            <a:pPr marL="0" indent="0">
              <a:buNone/>
            </a:pPr>
            <a:r>
              <a:rPr lang="en-US" sz="1000">
                <a:solidFill>
                  <a:srgbClr val="64748B"/>
                </a:solidFill>
                <a:latin typeface="Calibri" pitchFamily="34" charset="0"/>
                <a:ea typeface="Calibri" pitchFamily="34" charset="-122"/>
                <a:cs typeface="Calibri" pitchFamily="34" charset="-120"/>
              </a:rPr>
              <a:t>Containerized monorepo; single startup script</a:t>
            </a:r>
            <a:endParaRPr lang="en-US" sz="1000"/>
          </a:p>
        </p:txBody>
      </p:sp>
      <p:sp>
        <p:nvSpPr>
          <p:cNvPr id="35" name="Shape 33"/>
          <p:cNvSpPr/>
          <p:nvPr/>
        </p:nvSpPr>
        <p:spPr>
          <a:xfrm>
            <a:off x="4754880" y="822960"/>
            <a:ext cx="3931920" cy="3977640"/>
          </a:xfrm>
          <a:prstGeom prst="rect">
            <a:avLst/>
          </a:prstGeom>
          <a:solidFill>
            <a:srgbClr val="0D1B3E"/>
          </a:solidFill>
          <a:ln/>
          <a:effectLst>
            <a:outerShdw blurRad="127000" dist="38100" dir="8100000" algn="bl" rotWithShape="0">
              <a:srgbClr val="000000">
                <a:alpha val="15000"/>
              </a:srgbClr>
            </a:outerShdw>
          </a:effectLst>
        </p:spPr>
        <p:txBody>
          <a:bodyPr/>
          <a:lstStyle/>
          <a:p>
            <a:endParaRPr lang="en-US"/>
          </a:p>
        </p:txBody>
      </p:sp>
      <p:sp>
        <p:nvSpPr>
          <p:cNvPr id="36" name="Shape 34"/>
          <p:cNvSpPr/>
          <p:nvPr/>
        </p:nvSpPr>
        <p:spPr>
          <a:xfrm>
            <a:off x="4754880" y="822960"/>
            <a:ext cx="3931920" cy="64008"/>
          </a:xfrm>
          <a:prstGeom prst="rect">
            <a:avLst/>
          </a:prstGeom>
          <a:solidFill>
            <a:srgbClr val="00C2C7"/>
          </a:solidFill>
          <a:ln/>
        </p:spPr>
        <p:txBody>
          <a:bodyPr/>
          <a:lstStyle/>
          <a:p>
            <a:endParaRPr lang="en-US"/>
          </a:p>
        </p:txBody>
      </p:sp>
      <p:sp>
        <p:nvSpPr>
          <p:cNvPr id="37" name="Text 35"/>
          <p:cNvSpPr/>
          <p:nvPr/>
        </p:nvSpPr>
        <p:spPr>
          <a:xfrm>
            <a:off x="4937760" y="960120"/>
            <a:ext cx="3566160" cy="365760"/>
          </a:xfrm>
          <a:prstGeom prst="rect">
            <a:avLst/>
          </a:prstGeom>
          <a:noFill/>
          <a:ln/>
        </p:spPr>
        <p:txBody>
          <a:bodyPr wrap="square" lIns="0" tIns="0" rIns="0" bIns="0" rtlCol="0" anchor="ctr"/>
          <a:lstStyle/>
          <a:p>
            <a:pPr marL="0" indent="0">
              <a:buNone/>
            </a:pPr>
            <a:r>
              <a:rPr lang="en-US" sz="1600" b="1">
                <a:solidFill>
                  <a:srgbClr val="00C2C7"/>
                </a:solidFill>
                <a:latin typeface="Calibri" pitchFamily="34" charset="0"/>
                <a:ea typeface="Calibri" pitchFamily="34" charset="-122"/>
                <a:cs typeface="Calibri" pitchFamily="34" charset="-120"/>
              </a:rPr>
              <a:t>The Core Design Bet</a:t>
            </a:r>
            <a:endParaRPr lang="en-US" sz="1600"/>
          </a:p>
        </p:txBody>
      </p:sp>
      <p:sp>
        <p:nvSpPr>
          <p:cNvPr id="38" name="Text 36"/>
          <p:cNvSpPr/>
          <p:nvPr/>
        </p:nvSpPr>
        <p:spPr>
          <a:xfrm>
            <a:off x="4937760" y="1463040"/>
            <a:ext cx="274320" cy="274320"/>
          </a:xfrm>
          <a:prstGeom prst="rect">
            <a:avLst/>
          </a:prstGeom>
          <a:noFill/>
          <a:ln/>
        </p:spPr>
        <p:txBody>
          <a:bodyPr wrap="square" lIns="0" tIns="0" rIns="0" bIns="0" rtlCol="0" anchor="ctr"/>
          <a:lstStyle/>
          <a:p>
            <a:pPr marL="0" indent="0">
              <a:buNone/>
            </a:pPr>
            <a:r>
              <a:rPr lang="en-US" sz="1200">
                <a:solidFill>
                  <a:srgbClr val="00C2C7"/>
                </a:solidFill>
                <a:latin typeface="Calibri" pitchFamily="34" charset="0"/>
                <a:ea typeface="Calibri" pitchFamily="34" charset="-122"/>
                <a:cs typeface="Calibri" pitchFamily="34" charset="-120"/>
              </a:rPr>
              <a:t>✦</a:t>
            </a:r>
            <a:endParaRPr lang="en-US" sz="1200"/>
          </a:p>
        </p:txBody>
      </p:sp>
      <p:sp>
        <p:nvSpPr>
          <p:cNvPr id="39" name="Text 37"/>
          <p:cNvSpPr/>
          <p:nvPr/>
        </p:nvSpPr>
        <p:spPr>
          <a:xfrm>
            <a:off x="5212080" y="1463040"/>
            <a:ext cx="3291840" cy="256032"/>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LLM decides, tools execute</a:t>
            </a:r>
            <a:endParaRPr lang="en-US" sz="1200"/>
          </a:p>
        </p:txBody>
      </p:sp>
      <p:sp>
        <p:nvSpPr>
          <p:cNvPr id="40" name="Text 38"/>
          <p:cNvSpPr/>
          <p:nvPr/>
        </p:nvSpPr>
        <p:spPr>
          <a:xfrm>
            <a:off x="5212080" y="1737360"/>
            <a:ext cx="3291840" cy="411480"/>
          </a:xfrm>
          <a:prstGeom prst="rect">
            <a:avLst/>
          </a:prstGeom>
          <a:noFill/>
          <a:ln/>
        </p:spPr>
        <p:txBody>
          <a:bodyPr wrap="square" lIns="0" tIns="0" rIns="0" bIns="0" rtlCol="0" anchor="ctr"/>
          <a:lstStyle/>
          <a:p>
            <a:pPr marL="0" indent="0">
              <a:buNone/>
            </a:pPr>
            <a:r>
              <a:rPr lang="en-US" sz="1000">
                <a:solidFill>
                  <a:srgbClr val="94A3B8"/>
                </a:solidFill>
                <a:latin typeface="Calibri" pitchFamily="34" charset="0"/>
                <a:ea typeface="Calibri" pitchFamily="34" charset="-122"/>
                <a:cs typeface="Calibri" pitchFamily="34" charset="-120"/>
              </a:rPr>
              <a:t>The LLM classifies intent and routes. Addresses, prices, order IDs always come from deterministic tool calls — never hallucinated.</a:t>
            </a:r>
            <a:endParaRPr lang="en-US" sz="1000"/>
          </a:p>
        </p:txBody>
      </p:sp>
      <p:sp>
        <p:nvSpPr>
          <p:cNvPr id="41" name="Text 39"/>
          <p:cNvSpPr/>
          <p:nvPr/>
        </p:nvSpPr>
        <p:spPr>
          <a:xfrm>
            <a:off x="4937760" y="2240280"/>
            <a:ext cx="274320" cy="274320"/>
          </a:xfrm>
          <a:prstGeom prst="rect">
            <a:avLst/>
          </a:prstGeom>
          <a:noFill/>
          <a:ln/>
        </p:spPr>
        <p:txBody>
          <a:bodyPr wrap="square" lIns="0" tIns="0" rIns="0" bIns="0" rtlCol="0" anchor="ctr"/>
          <a:lstStyle/>
          <a:p>
            <a:pPr marL="0" indent="0">
              <a:buNone/>
            </a:pPr>
            <a:r>
              <a:rPr lang="en-US" sz="1200">
                <a:solidFill>
                  <a:srgbClr val="00C2C7"/>
                </a:solidFill>
                <a:latin typeface="Calibri" pitchFamily="34" charset="0"/>
                <a:ea typeface="Calibri" pitchFamily="34" charset="-122"/>
                <a:cs typeface="Calibri" pitchFamily="34" charset="-120"/>
              </a:rPr>
              <a:t>✦</a:t>
            </a:r>
            <a:endParaRPr lang="en-US" sz="1200"/>
          </a:p>
        </p:txBody>
      </p:sp>
      <p:sp>
        <p:nvSpPr>
          <p:cNvPr id="42" name="Text 40"/>
          <p:cNvSpPr/>
          <p:nvPr/>
        </p:nvSpPr>
        <p:spPr>
          <a:xfrm>
            <a:off x="5212080" y="2240280"/>
            <a:ext cx="3291840" cy="256032"/>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ADK-native delegation</a:t>
            </a:r>
            <a:endParaRPr lang="en-US" sz="1200"/>
          </a:p>
        </p:txBody>
      </p:sp>
      <p:sp>
        <p:nvSpPr>
          <p:cNvPr id="43" name="Text 41"/>
          <p:cNvSpPr/>
          <p:nvPr/>
        </p:nvSpPr>
        <p:spPr>
          <a:xfrm>
            <a:off x="5212080" y="2514600"/>
            <a:ext cx="3291840" cy="411480"/>
          </a:xfrm>
          <a:prstGeom prst="rect">
            <a:avLst/>
          </a:prstGeom>
          <a:noFill/>
          <a:ln/>
        </p:spPr>
        <p:txBody>
          <a:bodyPr wrap="square" lIns="0" tIns="0" rIns="0" bIns="0" rtlCol="0" anchor="ctr"/>
          <a:lstStyle/>
          <a:p>
            <a:pPr marL="0" indent="0">
              <a:buNone/>
            </a:pPr>
            <a:r>
              <a:rPr lang="en-US" sz="1000">
                <a:solidFill>
                  <a:srgbClr val="94A3B8"/>
                </a:solidFill>
                <a:latin typeface="Calibri" pitchFamily="34" charset="0"/>
                <a:ea typeface="Calibri" pitchFamily="34" charset="-122"/>
                <a:cs typeface="Calibri" pitchFamily="34" charset="-120"/>
              </a:rPr>
              <a:t>No custom inter-agent protocol. ADK's transfer_to_agent() is the entire handoff mechanism. Simple by design.</a:t>
            </a:r>
            <a:endParaRPr lang="en-US" sz="1000"/>
          </a:p>
        </p:txBody>
      </p:sp>
      <p:sp>
        <p:nvSpPr>
          <p:cNvPr id="44" name="Text 42"/>
          <p:cNvSpPr/>
          <p:nvPr/>
        </p:nvSpPr>
        <p:spPr>
          <a:xfrm>
            <a:off x="4937760" y="3017520"/>
            <a:ext cx="274320" cy="274320"/>
          </a:xfrm>
          <a:prstGeom prst="rect">
            <a:avLst/>
          </a:prstGeom>
          <a:noFill/>
          <a:ln/>
        </p:spPr>
        <p:txBody>
          <a:bodyPr wrap="square" lIns="0" tIns="0" rIns="0" bIns="0" rtlCol="0" anchor="ctr"/>
          <a:lstStyle/>
          <a:p>
            <a:pPr marL="0" indent="0">
              <a:buNone/>
            </a:pPr>
            <a:r>
              <a:rPr lang="en-US" sz="1200">
                <a:solidFill>
                  <a:srgbClr val="00C2C7"/>
                </a:solidFill>
                <a:latin typeface="Calibri" pitchFamily="34" charset="0"/>
                <a:ea typeface="Calibri" pitchFamily="34" charset="-122"/>
                <a:cs typeface="Calibri" pitchFamily="34" charset="-120"/>
              </a:rPr>
              <a:t>✦</a:t>
            </a:r>
            <a:endParaRPr lang="en-US" sz="1200"/>
          </a:p>
        </p:txBody>
      </p:sp>
      <p:sp>
        <p:nvSpPr>
          <p:cNvPr id="45" name="Text 43"/>
          <p:cNvSpPr/>
          <p:nvPr/>
        </p:nvSpPr>
        <p:spPr>
          <a:xfrm>
            <a:off x="5212080" y="3017520"/>
            <a:ext cx="3291840" cy="256032"/>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Importlib isolation</a:t>
            </a:r>
            <a:endParaRPr lang="en-US" sz="1200"/>
          </a:p>
        </p:txBody>
      </p:sp>
      <p:sp>
        <p:nvSpPr>
          <p:cNvPr id="46" name="Text 44"/>
          <p:cNvSpPr/>
          <p:nvPr/>
        </p:nvSpPr>
        <p:spPr>
          <a:xfrm>
            <a:off x="5212080" y="3291840"/>
            <a:ext cx="3291840" cy="411480"/>
          </a:xfrm>
          <a:prstGeom prst="rect">
            <a:avLst/>
          </a:prstGeom>
          <a:noFill/>
          <a:ln/>
        </p:spPr>
        <p:txBody>
          <a:bodyPr wrap="square" lIns="0" tIns="0" rIns="0" bIns="0" rtlCol="0" anchor="ctr"/>
          <a:lstStyle/>
          <a:p>
            <a:pPr marL="0" indent="0">
              <a:buNone/>
            </a:pPr>
            <a:r>
              <a:rPr lang="en-US" sz="1000">
                <a:solidFill>
                  <a:srgbClr val="94A3B8"/>
                </a:solidFill>
                <a:latin typeface="Calibri" pitchFamily="34" charset="0"/>
                <a:ea typeface="Calibri" pitchFamily="34" charset="-122"/>
                <a:cs typeface="Calibri" pitchFamily="34" charset="-120"/>
              </a:rPr>
              <a:t>Sub-agents loaded without triggering __init__.py — prevents ADK parent-binding conflicts in a monorepo.</a:t>
            </a:r>
            <a:endParaRPr lang="en-US" sz="1000"/>
          </a:p>
        </p:txBody>
      </p:sp>
      <p:sp>
        <p:nvSpPr>
          <p:cNvPr id="47" name="Text 45"/>
          <p:cNvSpPr/>
          <p:nvPr/>
        </p:nvSpPr>
        <p:spPr>
          <a:xfrm>
            <a:off x="4937760" y="3794760"/>
            <a:ext cx="274320" cy="274320"/>
          </a:xfrm>
          <a:prstGeom prst="rect">
            <a:avLst/>
          </a:prstGeom>
          <a:noFill/>
          <a:ln/>
        </p:spPr>
        <p:txBody>
          <a:bodyPr wrap="square" lIns="0" tIns="0" rIns="0" bIns="0" rtlCol="0" anchor="ctr"/>
          <a:lstStyle/>
          <a:p>
            <a:pPr marL="0" indent="0">
              <a:buNone/>
            </a:pPr>
            <a:r>
              <a:rPr lang="en-US" sz="1200">
                <a:solidFill>
                  <a:srgbClr val="00C2C7"/>
                </a:solidFill>
                <a:latin typeface="Calibri" pitchFamily="34" charset="0"/>
                <a:ea typeface="Calibri" pitchFamily="34" charset="-122"/>
                <a:cs typeface="Calibri" pitchFamily="34" charset="-120"/>
              </a:rPr>
              <a:t>✦</a:t>
            </a:r>
            <a:endParaRPr lang="en-US" sz="1200"/>
          </a:p>
        </p:txBody>
      </p:sp>
      <p:sp>
        <p:nvSpPr>
          <p:cNvPr id="48" name="Text 46"/>
          <p:cNvSpPr/>
          <p:nvPr/>
        </p:nvSpPr>
        <p:spPr>
          <a:xfrm>
            <a:off x="5212080" y="3794760"/>
            <a:ext cx="3291840" cy="256032"/>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Structured tool contracts</a:t>
            </a:r>
            <a:endParaRPr lang="en-US" sz="1200"/>
          </a:p>
        </p:txBody>
      </p:sp>
      <p:sp>
        <p:nvSpPr>
          <p:cNvPr id="49" name="Text 47"/>
          <p:cNvSpPr/>
          <p:nvPr/>
        </p:nvSpPr>
        <p:spPr>
          <a:xfrm>
            <a:off x="5212080" y="4069080"/>
            <a:ext cx="3291840" cy="411480"/>
          </a:xfrm>
          <a:prstGeom prst="rect">
            <a:avLst/>
          </a:prstGeom>
          <a:noFill/>
          <a:ln/>
        </p:spPr>
        <p:txBody>
          <a:bodyPr wrap="square" lIns="0" tIns="0" rIns="0" bIns="0" rtlCol="0" anchor="ctr"/>
          <a:lstStyle/>
          <a:p>
            <a:pPr marL="0" indent="0">
              <a:buNone/>
            </a:pPr>
            <a:r>
              <a:rPr lang="en-US" sz="1000">
                <a:solidFill>
                  <a:srgbClr val="94A3B8"/>
                </a:solidFill>
                <a:latin typeface="Calibri" pitchFamily="34" charset="0"/>
                <a:ea typeface="Calibri" pitchFamily="34" charset="-122"/>
                <a:cs typeface="Calibri" pitchFamily="34" charset="-120"/>
              </a:rPr>
              <a:t>Tools return JSON, never prose. Prevents LLM from rephrasing critical values like prices or order IDs.</a:t>
            </a:r>
            <a:endParaRPr lang="en-US" sz="1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86800" y="4800600"/>
            <a:ext cx="365760" cy="228600"/>
          </a:xfrm>
          <a:prstGeom prst="rect">
            <a:avLst/>
          </a:prstGeom>
          <a:noFill/>
          <a:ln/>
        </p:spPr>
        <p:txBody>
          <a:bodyPr wrap="square" rtlCol="0" anchor="ctr"/>
          <a:lstStyle/>
          <a:p>
            <a:pPr algn="r" defTabSz="685800"/>
            <a:r>
              <a:rPr lang="en-US" sz="900">
                <a:solidFill>
                  <a:srgbClr val="94A3B8"/>
                </a:solidFill>
                <a:latin typeface="Aptos" panose="02110004020202020204"/>
              </a:rPr>
              <a:t>9</a:t>
            </a:r>
            <a:endParaRPr lang="en-US" sz="900">
              <a:solidFill>
                <a:prstClr val="black"/>
              </a:solidFill>
              <a:latin typeface="Aptos" panose="02110004020202020204"/>
            </a:endParaRPr>
          </a:p>
        </p:txBody>
      </p:sp>
      <p:sp>
        <p:nvSpPr>
          <p:cNvPr id="3" name="Text 1"/>
          <p:cNvSpPr/>
          <p:nvPr/>
        </p:nvSpPr>
        <p:spPr>
          <a:xfrm>
            <a:off x="457200" y="228600"/>
            <a:ext cx="8229600" cy="457200"/>
          </a:xfrm>
          <a:prstGeom prst="rect">
            <a:avLst/>
          </a:prstGeom>
          <a:noFill/>
          <a:ln/>
        </p:spPr>
        <p:txBody>
          <a:bodyPr wrap="square" rtlCol="0" anchor="ctr"/>
          <a:lstStyle/>
          <a:p>
            <a:pPr defTabSz="685800"/>
            <a:r>
              <a:rPr lang="en-US" sz="3000" b="1">
                <a:solidFill>
                  <a:srgbClr val="1E293B"/>
                </a:solidFill>
                <a:latin typeface="Calibri" pitchFamily="34" charset="0"/>
                <a:ea typeface="Calibri" pitchFamily="34" charset="-122"/>
                <a:cs typeface="Calibri" pitchFamily="34" charset="-120"/>
              </a:rPr>
              <a:t>Key Technical Decisions</a:t>
            </a:r>
            <a:endParaRPr lang="en-US" sz="3000">
              <a:solidFill>
                <a:prstClr val="black"/>
              </a:solidFill>
              <a:latin typeface="Aptos" panose="02110004020202020204"/>
            </a:endParaRPr>
          </a:p>
        </p:txBody>
      </p:sp>
      <p:sp>
        <p:nvSpPr>
          <p:cNvPr id="4" name="Shape 2"/>
          <p:cNvSpPr/>
          <p:nvPr/>
        </p:nvSpPr>
        <p:spPr>
          <a:xfrm>
            <a:off x="457200" y="731520"/>
            <a:ext cx="8229600" cy="54864"/>
          </a:xfrm>
          <a:prstGeom prst="rect">
            <a:avLst/>
          </a:prstGeom>
          <a:solidFill>
            <a:srgbClr val="00C2C7"/>
          </a:solidFill>
          <a:ln/>
        </p:spPr>
        <p:txBody>
          <a:bodyPr/>
          <a:lstStyle/>
          <a:p>
            <a:pPr defTabSz="685800"/>
            <a:endParaRPr lang="en-US">
              <a:solidFill>
                <a:prstClr val="black"/>
              </a:solidFill>
              <a:latin typeface="Aptos" panose="02110004020202020204"/>
            </a:endParaRPr>
          </a:p>
        </p:txBody>
      </p:sp>
      <p:sp>
        <p:nvSpPr>
          <p:cNvPr id="5" name="Shape 3"/>
          <p:cNvSpPr/>
          <p:nvPr/>
        </p:nvSpPr>
        <p:spPr>
          <a:xfrm>
            <a:off x="457200" y="914400"/>
            <a:ext cx="4114800" cy="1783080"/>
          </a:xfrm>
          <a:prstGeom prst="rect">
            <a:avLst/>
          </a:prstGeom>
          <a:solidFill>
            <a:srgbClr val="FFFFFF"/>
          </a:solidFill>
          <a:ln/>
          <a:effectLst>
            <a:outerShdw blurRad="101600" dist="25400" dir="8100000" algn="bl" rotWithShape="0">
              <a:srgbClr val="000000">
                <a:alpha val="8000"/>
              </a:srgbClr>
            </a:outerShdw>
          </a:effectLst>
        </p:spPr>
        <p:txBody>
          <a:bodyPr/>
          <a:lstStyle/>
          <a:p>
            <a:pPr defTabSz="685800"/>
            <a:endParaRPr lang="en-US">
              <a:solidFill>
                <a:prstClr val="black"/>
              </a:solidFill>
              <a:latin typeface="Aptos" panose="02110004020202020204"/>
            </a:endParaRPr>
          </a:p>
        </p:txBody>
      </p:sp>
      <p:sp>
        <p:nvSpPr>
          <p:cNvPr id="6" name="Shape 4"/>
          <p:cNvSpPr/>
          <p:nvPr/>
        </p:nvSpPr>
        <p:spPr>
          <a:xfrm>
            <a:off x="457200" y="914400"/>
            <a:ext cx="54864" cy="1783080"/>
          </a:xfrm>
          <a:prstGeom prst="rect">
            <a:avLst/>
          </a:prstGeom>
          <a:solidFill>
            <a:srgbClr val="00C2C7"/>
          </a:solidFill>
          <a:ln/>
        </p:spPr>
        <p:txBody>
          <a:bodyPr/>
          <a:lstStyle/>
          <a:p>
            <a:pPr defTabSz="685800"/>
            <a:endParaRPr lang="en-US">
              <a:solidFill>
                <a:prstClr val="black"/>
              </a:solidFill>
              <a:latin typeface="Aptos" panose="02110004020202020204"/>
            </a:endParaRPr>
          </a:p>
        </p:txBody>
      </p:sp>
      <p:sp>
        <p:nvSpPr>
          <p:cNvPr id="7" name="Text 5"/>
          <p:cNvSpPr/>
          <p:nvPr/>
        </p:nvSpPr>
        <p:spPr>
          <a:xfrm>
            <a:off x="640080" y="1005840"/>
            <a:ext cx="3749040" cy="301752"/>
          </a:xfrm>
          <a:prstGeom prst="rect">
            <a:avLst/>
          </a:prstGeom>
          <a:noFill/>
          <a:ln/>
        </p:spPr>
        <p:txBody>
          <a:bodyPr wrap="square" lIns="0" tIns="0" rIns="0" bIns="0" rtlCol="0" anchor="ctr"/>
          <a:lstStyle/>
          <a:p>
            <a:pPr defTabSz="685800"/>
            <a:r>
              <a:rPr lang="en-US" sz="1200" b="1">
                <a:solidFill>
                  <a:srgbClr val="1E293B"/>
                </a:solidFill>
                <a:latin typeface="Calibri" pitchFamily="34" charset="0"/>
                <a:ea typeface="Calibri" pitchFamily="34" charset="-122"/>
                <a:cs typeface="Calibri" pitchFamily="34" charset="-120"/>
              </a:rPr>
              <a:t>ADK transfer_to_agent()</a:t>
            </a:r>
            <a:endParaRPr lang="en-US" sz="1200">
              <a:solidFill>
                <a:prstClr val="black"/>
              </a:solidFill>
              <a:latin typeface="Aptos" panose="02110004020202020204"/>
            </a:endParaRPr>
          </a:p>
        </p:txBody>
      </p:sp>
      <p:sp>
        <p:nvSpPr>
          <p:cNvPr id="8" name="Text 6"/>
          <p:cNvSpPr/>
          <p:nvPr/>
        </p:nvSpPr>
        <p:spPr>
          <a:xfrm>
            <a:off x="640080" y="1325880"/>
            <a:ext cx="3749040" cy="1140082"/>
          </a:xfrm>
          <a:prstGeom prst="rect">
            <a:avLst/>
          </a:prstGeom>
          <a:noFill/>
          <a:ln/>
        </p:spPr>
        <p:txBody>
          <a:bodyPr wrap="square" lIns="0" tIns="0" rIns="0" bIns="0" rtlCol="0" anchor="ctr"/>
          <a:lstStyle/>
          <a:p>
            <a:pPr defTabSz="685800"/>
            <a:endParaRPr lang="en-US" sz="1000">
              <a:solidFill>
                <a:srgbClr val="475569"/>
              </a:solidFill>
              <a:latin typeface="Calibri" pitchFamily="34" charset="0"/>
              <a:ea typeface="Calibri" pitchFamily="34" charset="-122"/>
              <a:cs typeface="Calibri" pitchFamily="34" charset="-120"/>
            </a:endParaRPr>
          </a:p>
          <a:p>
            <a:pPr defTabSz="685800"/>
            <a:r>
              <a:rPr lang="en-US" sz="1000">
                <a:solidFill>
                  <a:srgbClr val="475569"/>
                </a:solidFill>
                <a:latin typeface="Calibri" pitchFamily="34" charset="0"/>
                <a:ea typeface="Calibri" pitchFamily="34" charset="-122"/>
                <a:cs typeface="Calibri" pitchFamily="34" charset="-120"/>
              </a:rPr>
              <a:t>Native multi-agent delegation method in Google ADK. Enables seamless handoff between agents without custom message queues or orchestration protocols. ADK manages routing state internally.</a:t>
            </a:r>
          </a:p>
          <a:p>
            <a:pPr defTabSz="685800"/>
            <a:endParaRPr lang="en-US" sz="1000">
              <a:solidFill>
                <a:srgbClr val="6E7989"/>
              </a:solidFill>
              <a:latin typeface="Calibri" pitchFamily="34" charset="0"/>
              <a:ea typeface="Calibri" pitchFamily="34" charset="-122"/>
              <a:cs typeface="Calibri" pitchFamily="34" charset="-120"/>
            </a:endParaRPr>
          </a:p>
          <a:p>
            <a:pPr defTabSz="685800"/>
            <a:r>
              <a:rPr lang="en-US" sz="1000">
                <a:solidFill>
                  <a:srgbClr val="475569"/>
                </a:solidFill>
                <a:latin typeface="Calibri" pitchFamily="34" charset="0"/>
                <a:ea typeface="Calibri" pitchFamily="34" charset="-122"/>
                <a:cs typeface="Calibri" pitchFamily="34" charset="-120"/>
              </a:rPr>
              <a:t>Without this we would need to manually build:  </a:t>
            </a:r>
          </a:p>
          <a:p>
            <a:pPr indent="-214313" defTabSz="685800">
              <a:buFont typeface="Arial" panose="020B0604020202020204" pitchFamily="34" charset="0"/>
              <a:buChar char="•"/>
            </a:pPr>
            <a:r>
              <a:rPr lang="en-US" sz="1000">
                <a:solidFill>
                  <a:srgbClr val="475569"/>
                </a:solidFill>
                <a:latin typeface="Calibri" pitchFamily="34" charset="0"/>
                <a:ea typeface="Calibri" pitchFamily="34" charset="-122"/>
                <a:cs typeface="Calibri" pitchFamily="34" charset="-120"/>
              </a:rPr>
              <a:t>Custom protocols to track which agent is active</a:t>
            </a:r>
          </a:p>
          <a:p>
            <a:pPr indent="-214313" defTabSz="685800">
              <a:buFont typeface="Arial" panose="020B0604020202020204" pitchFamily="34" charset="0"/>
              <a:buChar char="•"/>
            </a:pPr>
            <a:r>
              <a:rPr lang="en-US" sz="1000">
                <a:solidFill>
                  <a:srgbClr val="475569"/>
                </a:solidFill>
                <a:latin typeface="Calibri" pitchFamily="34" charset="0"/>
                <a:ea typeface="Calibri" pitchFamily="34" charset="-122"/>
                <a:cs typeface="Calibri" pitchFamily="34" charset="-120"/>
              </a:rPr>
              <a:t>State management to remember conversation context</a:t>
            </a:r>
          </a:p>
          <a:p>
            <a:pPr indent="-214313" defTabSz="685800">
              <a:buFont typeface="Arial" panose="020B0604020202020204" pitchFamily="34" charset="0"/>
              <a:buChar char="•"/>
            </a:pPr>
            <a:r>
              <a:rPr lang="en-US" sz="1000">
                <a:solidFill>
                  <a:srgbClr val="475569"/>
                </a:solidFill>
                <a:latin typeface="Calibri" pitchFamily="34" charset="0"/>
                <a:ea typeface="Calibri" pitchFamily="34" charset="-122"/>
                <a:cs typeface="Calibri" pitchFamily="34" charset="-120"/>
              </a:rPr>
              <a:t>Routing logic to decide which agent handles what</a:t>
            </a:r>
          </a:p>
          <a:p>
            <a:pPr indent="-214313" defTabSz="685800">
              <a:buFont typeface="Arial" panose="020B0604020202020204" pitchFamily="34" charset="0"/>
              <a:buChar char="•"/>
            </a:pPr>
            <a:r>
              <a:rPr lang="en-US" sz="1000">
                <a:solidFill>
                  <a:srgbClr val="475569"/>
                </a:solidFill>
                <a:latin typeface="Calibri" pitchFamily="34" charset="0"/>
                <a:ea typeface="Calibri" pitchFamily="34" charset="-122"/>
                <a:cs typeface="Calibri" pitchFamily="34" charset="-120"/>
              </a:rPr>
              <a:t>Message queues to pass data between</a:t>
            </a:r>
          </a:p>
        </p:txBody>
      </p:sp>
      <p:sp>
        <p:nvSpPr>
          <p:cNvPr id="9" name="Shape 7"/>
          <p:cNvSpPr/>
          <p:nvPr/>
        </p:nvSpPr>
        <p:spPr>
          <a:xfrm>
            <a:off x="457200" y="2999286"/>
            <a:ext cx="4114800" cy="1783080"/>
          </a:xfrm>
          <a:prstGeom prst="rect">
            <a:avLst/>
          </a:prstGeom>
          <a:solidFill>
            <a:srgbClr val="FFFFFF"/>
          </a:solidFill>
          <a:ln/>
          <a:effectLst>
            <a:outerShdw blurRad="101600" dist="25400" dir="8100000" algn="bl" rotWithShape="0">
              <a:srgbClr val="000000">
                <a:alpha val="8000"/>
              </a:srgbClr>
            </a:outerShdw>
          </a:effectLst>
        </p:spPr>
        <p:txBody>
          <a:bodyPr/>
          <a:lstStyle/>
          <a:p>
            <a:pPr defTabSz="685800"/>
            <a:endParaRPr lang="en-US">
              <a:solidFill>
                <a:prstClr val="black"/>
              </a:solidFill>
              <a:latin typeface="Aptos" panose="02110004020202020204"/>
            </a:endParaRPr>
          </a:p>
        </p:txBody>
      </p:sp>
      <p:sp>
        <p:nvSpPr>
          <p:cNvPr id="10" name="Shape 8"/>
          <p:cNvSpPr/>
          <p:nvPr/>
        </p:nvSpPr>
        <p:spPr>
          <a:xfrm>
            <a:off x="457200" y="3018743"/>
            <a:ext cx="54864" cy="1783080"/>
          </a:xfrm>
          <a:prstGeom prst="rect">
            <a:avLst/>
          </a:prstGeom>
          <a:solidFill>
            <a:srgbClr val="00C2C7"/>
          </a:solidFill>
          <a:ln/>
        </p:spPr>
        <p:txBody>
          <a:bodyPr/>
          <a:lstStyle/>
          <a:p>
            <a:pPr defTabSz="685800"/>
            <a:endParaRPr lang="en-US">
              <a:solidFill>
                <a:prstClr val="black"/>
              </a:solidFill>
              <a:latin typeface="Aptos" panose="02110004020202020204"/>
            </a:endParaRPr>
          </a:p>
        </p:txBody>
      </p:sp>
      <p:sp>
        <p:nvSpPr>
          <p:cNvPr id="11" name="Text 9"/>
          <p:cNvSpPr/>
          <p:nvPr/>
        </p:nvSpPr>
        <p:spPr>
          <a:xfrm>
            <a:off x="640080" y="3090726"/>
            <a:ext cx="3749040" cy="301752"/>
          </a:xfrm>
          <a:prstGeom prst="rect">
            <a:avLst/>
          </a:prstGeom>
          <a:noFill/>
          <a:ln/>
        </p:spPr>
        <p:txBody>
          <a:bodyPr wrap="square" lIns="0" tIns="0" rIns="0" bIns="0" rtlCol="0" anchor="ctr"/>
          <a:lstStyle/>
          <a:p>
            <a:pPr defTabSz="685800"/>
            <a:r>
              <a:rPr lang="en-US" sz="1200" b="1">
                <a:solidFill>
                  <a:srgbClr val="1E293B"/>
                </a:solidFill>
                <a:latin typeface="Calibri" pitchFamily="34" charset="0"/>
                <a:ea typeface="Calibri" pitchFamily="34" charset="-122"/>
                <a:cs typeface="Calibri" pitchFamily="34" charset="-120"/>
              </a:rPr>
              <a:t>SSE (Server-Sent Events)</a:t>
            </a:r>
            <a:endParaRPr lang="en-US" sz="1200">
              <a:solidFill>
                <a:prstClr val="black"/>
              </a:solidFill>
              <a:latin typeface="Aptos" panose="02110004020202020204"/>
            </a:endParaRPr>
          </a:p>
        </p:txBody>
      </p:sp>
      <p:sp>
        <p:nvSpPr>
          <p:cNvPr id="12" name="Text 10"/>
          <p:cNvSpPr/>
          <p:nvPr/>
        </p:nvSpPr>
        <p:spPr>
          <a:xfrm>
            <a:off x="640080" y="3410766"/>
            <a:ext cx="3749040" cy="1212552"/>
          </a:xfrm>
          <a:prstGeom prst="rect">
            <a:avLst/>
          </a:prstGeom>
          <a:noFill/>
          <a:ln/>
        </p:spPr>
        <p:txBody>
          <a:bodyPr wrap="square" lIns="0" tIns="0" rIns="0" bIns="0" rtlCol="0" anchor="ctr"/>
          <a:lstStyle/>
          <a:p>
            <a:r>
              <a:rPr lang="en-US" sz="1000">
                <a:solidFill>
                  <a:srgbClr val="6E7989"/>
                </a:solidFill>
                <a:latin typeface="Calibri" pitchFamily="34" charset="0"/>
                <a:ea typeface="Calibri" pitchFamily="34" charset="-122"/>
                <a:cs typeface="Calibri" pitchFamily="34" charset="-120"/>
              </a:rPr>
              <a:t>SSE (Server-Sent Events) is the technology that enables real-time streaming of the AI agent responses from our backend to the user's browser. </a:t>
            </a:r>
          </a:p>
          <a:p>
            <a:endParaRPr lang="en-US" sz="1000">
              <a:solidFill>
                <a:srgbClr val="6E7989"/>
              </a:solidFill>
              <a:latin typeface="Calibri" pitchFamily="34" charset="0"/>
              <a:ea typeface="Calibri" pitchFamily="34" charset="-122"/>
              <a:cs typeface="Calibri" pitchFamily="34" charset="-120"/>
            </a:endParaRPr>
          </a:p>
          <a:p>
            <a:r>
              <a:rPr lang="en-US" sz="1000">
                <a:solidFill>
                  <a:srgbClr val="6E7989"/>
                </a:solidFill>
                <a:latin typeface="Calibri" pitchFamily="34" charset="0"/>
                <a:ea typeface="Calibri" pitchFamily="34" charset="-122"/>
                <a:cs typeface="Calibri" pitchFamily="34" charset="-120"/>
              </a:rPr>
              <a:t>As Gemini generates tokens, SSE streams them to the frontend immediately. Simpler than </a:t>
            </a:r>
            <a:r>
              <a:rPr lang="en-US" sz="1000" err="1">
                <a:solidFill>
                  <a:srgbClr val="6E7989"/>
                </a:solidFill>
                <a:latin typeface="Calibri" pitchFamily="34" charset="0"/>
                <a:ea typeface="Calibri" pitchFamily="34" charset="-122"/>
                <a:cs typeface="Calibri" pitchFamily="34" charset="-120"/>
              </a:rPr>
              <a:t>WebSockets</a:t>
            </a:r>
            <a:r>
              <a:rPr lang="en-US" sz="1000">
                <a:solidFill>
                  <a:srgbClr val="6E7989"/>
                </a:solidFill>
                <a:latin typeface="Calibri" pitchFamily="34" charset="0"/>
                <a:ea typeface="Calibri" pitchFamily="34" charset="-122"/>
                <a:cs typeface="Calibri" pitchFamily="34" charset="-120"/>
              </a:rPr>
              <a:t> since communication is unidirectional (server-to-client only).</a:t>
            </a:r>
            <a:endParaRPr lang="en-US" sz="1000">
              <a:solidFill>
                <a:srgbClr val="6E7989"/>
              </a:solidFill>
            </a:endParaRPr>
          </a:p>
        </p:txBody>
      </p:sp>
      <p:sp>
        <p:nvSpPr>
          <p:cNvPr id="13" name="Shape 11"/>
          <p:cNvSpPr/>
          <p:nvPr/>
        </p:nvSpPr>
        <p:spPr>
          <a:xfrm>
            <a:off x="4846320" y="914400"/>
            <a:ext cx="4114800" cy="1783080"/>
          </a:xfrm>
          <a:prstGeom prst="rect">
            <a:avLst/>
          </a:prstGeom>
          <a:solidFill>
            <a:srgbClr val="FFFFFF"/>
          </a:solidFill>
          <a:ln/>
          <a:effectLst>
            <a:outerShdw blurRad="101600" dist="25400" dir="8100000" algn="bl" rotWithShape="0">
              <a:srgbClr val="000000">
                <a:alpha val="8000"/>
              </a:srgbClr>
            </a:outerShdw>
          </a:effectLst>
        </p:spPr>
        <p:txBody>
          <a:bodyPr/>
          <a:lstStyle/>
          <a:p>
            <a:pPr defTabSz="685800"/>
            <a:endParaRPr lang="en-US">
              <a:solidFill>
                <a:prstClr val="black"/>
              </a:solidFill>
              <a:latin typeface="Aptos" panose="02110004020202020204"/>
            </a:endParaRPr>
          </a:p>
        </p:txBody>
      </p:sp>
      <p:sp>
        <p:nvSpPr>
          <p:cNvPr id="14" name="Shape 12"/>
          <p:cNvSpPr/>
          <p:nvPr/>
        </p:nvSpPr>
        <p:spPr>
          <a:xfrm>
            <a:off x="4846320" y="914400"/>
            <a:ext cx="54864" cy="1783080"/>
          </a:xfrm>
          <a:prstGeom prst="rect">
            <a:avLst/>
          </a:prstGeom>
          <a:solidFill>
            <a:srgbClr val="00C2C7"/>
          </a:solidFill>
          <a:ln/>
        </p:spPr>
        <p:txBody>
          <a:bodyPr/>
          <a:lstStyle/>
          <a:p>
            <a:pPr defTabSz="685800"/>
            <a:endParaRPr lang="en-US">
              <a:solidFill>
                <a:prstClr val="black"/>
              </a:solidFill>
              <a:latin typeface="Aptos" panose="02110004020202020204"/>
            </a:endParaRPr>
          </a:p>
        </p:txBody>
      </p:sp>
      <p:sp>
        <p:nvSpPr>
          <p:cNvPr id="15" name="Text 13"/>
          <p:cNvSpPr/>
          <p:nvPr/>
        </p:nvSpPr>
        <p:spPr>
          <a:xfrm>
            <a:off x="5029200" y="1005840"/>
            <a:ext cx="3749040" cy="301752"/>
          </a:xfrm>
          <a:prstGeom prst="rect">
            <a:avLst/>
          </a:prstGeom>
          <a:noFill/>
          <a:ln/>
        </p:spPr>
        <p:txBody>
          <a:bodyPr wrap="square" lIns="0" tIns="0" rIns="0" bIns="0" rtlCol="0" anchor="ctr"/>
          <a:lstStyle/>
          <a:p>
            <a:pPr defTabSz="685800"/>
            <a:r>
              <a:rPr lang="en-US" sz="1200" b="1">
                <a:solidFill>
                  <a:srgbClr val="1E293B"/>
                </a:solidFill>
                <a:latin typeface="Calibri" pitchFamily="34" charset="0"/>
                <a:ea typeface="Calibri" pitchFamily="34" charset="-122"/>
                <a:cs typeface="Calibri" pitchFamily="34" charset="-120"/>
              </a:rPr>
              <a:t>Temperature stratification</a:t>
            </a:r>
            <a:endParaRPr lang="en-US" sz="1200">
              <a:solidFill>
                <a:prstClr val="black"/>
              </a:solidFill>
              <a:latin typeface="Aptos" panose="02110004020202020204"/>
            </a:endParaRPr>
          </a:p>
        </p:txBody>
      </p:sp>
      <p:sp>
        <p:nvSpPr>
          <p:cNvPr id="16" name="Text 14"/>
          <p:cNvSpPr/>
          <p:nvPr/>
        </p:nvSpPr>
        <p:spPr>
          <a:xfrm>
            <a:off x="5029200" y="1325880"/>
            <a:ext cx="3749040" cy="687746"/>
          </a:xfrm>
          <a:prstGeom prst="rect">
            <a:avLst/>
          </a:prstGeom>
          <a:noFill/>
          <a:ln/>
        </p:spPr>
        <p:txBody>
          <a:bodyPr wrap="square" lIns="0" tIns="0" rIns="0" bIns="0" rtlCol="0" anchor="ctr"/>
          <a:lstStyle/>
          <a:p>
            <a:pPr defTabSz="685800"/>
            <a:r>
              <a:rPr lang="en-US" sz="1000">
                <a:solidFill>
                  <a:srgbClr val="6E7989"/>
                </a:solidFill>
                <a:latin typeface="Calibri" pitchFamily="34" charset="0"/>
                <a:ea typeface="Calibri" pitchFamily="34" charset="-122"/>
                <a:cs typeface="Calibri" pitchFamily="34" charset="-120"/>
              </a:rPr>
              <a:t>Critical data agents (Order, Payment, Fulfillment) use temperature 0.0 for deterministic, accurate responses on prices and order IDs. Conversational agents (Greeting, FAQ, </a:t>
            </a:r>
            <a:r>
              <a:rPr lang="en-US" sz="1000" err="1">
                <a:solidFill>
                  <a:srgbClr val="6E7989"/>
                </a:solidFill>
                <a:latin typeface="Calibri" pitchFamily="34" charset="0"/>
                <a:ea typeface="Calibri" pitchFamily="34" charset="-122"/>
                <a:cs typeface="Calibri" pitchFamily="34" charset="-120"/>
              </a:rPr>
              <a:t>SuperAgent</a:t>
            </a:r>
            <a:r>
              <a:rPr lang="en-US" sz="1000">
                <a:solidFill>
                  <a:srgbClr val="6E7989"/>
                </a:solidFill>
                <a:latin typeface="Calibri" pitchFamily="34" charset="0"/>
                <a:ea typeface="Calibri" pitchFamily="34" charset="-122"/>
                <a:cs typeface="Calibri" pitchFamily="34" charset="-120"/>
              </a:rPr>
              <a:t>) use 0.7 for natural language generation. This prevents hallucinations on financial data while maintaining natural conversation.</a:t>
            </a:r>
            <a:endParaRPr lang="en-US" sz="1000">
              <a:solidFill>
                <a:srgbClr val="6E7989"/>
              </a:solidFill>
              <a:latin typeface="Aptos" panose="02110004020202020204"/>
            </a:endParaRPr>
          </a:p>
        </p:txBody>
      </p:sp>
      <p:sp>
        <p:nvSpPr>
          <p:cNvPr id="17" name="Shape 15"/>
          <p:cNvSpPr/>
          <p:nvPr/>
        </p:nvSpPr>
        <p:spPr>
          <a:xfrm>
            <a:off x="4846320" y="3013880"/>
            <a:ext cx="4114800" cy="1783080"/>
          </a:xfrm>
          <a:prstGeom prst="rect">
            <a:avLst/>
          </a:prstGeom>
          <a:solidFill>
            <a:srgbClr val="FFFFFF"/>
          </a:solidFill>
          <a:ln/>
          <a:effectLst>
            <a:outerShdw blurRad="101600" dist="25400" dir="8100000" algn="bl" rotWithShape="0">
              <a:srgbClr val="000000">
                <a:alpha val="8000"/>
              </a:srgbClr>
            </a:outerShdw>
          </a:effectLst>
        </p:spPr>
        <p:txBody>
          <a:bodyPr/>
          <a:lstStyle/>
          <a:p>
            <a:pPr defTabSz="685800"/>
            <a:endParaRPr lang="en-US">
              <a:solidFill>
                <a:prstClr val="black"/>
              </a:solidFill>
              <a:latin typeface="Aptos" panose="02110004020202020204"/>
            </a:endParaRPr>
          </a:p>
        </p:txBody>
      </p:sp>
      <p:sp>
        <p:nvSpPr>
          <p:cNvPr id="18" name="Shape 16"/>
          <p:cNvSpPr/>
          <p:nvPr/>
        </p:nvSpPr>
        <p:spPr>
          <a:xfrm>
            <a:off x="4846320" y="3013880"/>
            <a:ext cx="54864" cy="1783080"/>
          </a:xfrm>
          <a:prstGeom prst="rect">
            <a:avLst/>
          </a:prstGeom>
          <a:solidFill>
            <a:srgbClr val="00C2C7"/>
          </a:solidFill>
          <a:ln/>
        </p:spPr>
        <p:txBody>
          <a:bodyPr/>
          <a:lstStyle/>
          <a:p>
            <a:pPr defTabSz="685800"/>
            <a:endParaRPr lang="en-US">
              <a:solidFill>
                <a:prstClr val="black"/>
              </a:solidFill>
              <a:latin typeface="Aptos" panose="02110004020202020204"/>
            </a:endParaRPr>
          </a:p>
        </p:txBody>
      </p:sp>
      <p:sp>
        <p:nvSpPr>
          <p:cNvPr id="19" name="Text 17"/>
          <p:cNvSpPr/>
          <p:nvPr/>
        </p:nvSpPr>
        <p:spPr>
          <a:xfrm>
            <a:off x="5029200" y="3105320"/>
            <a:ext cx="3749040" cy="301752"/>
          </a:xfrm>
          <a:prstGeom prst="rect">
            <a:avLst/>
          </a:prstGeom>
          <a:noFill/>
          <a:ln/>
        </p:spPr>
        <p:txBody>
          <a:bodyPr wrap="square" lIns="0" tIns="0" rIns="0" bIns="0" rtlCol="0" anchor="ctr"/>
          <a:lstStyle/>
          <a:p>
            <a:pPr defTabSz="685800"/>
            <a:r>
              <a:rPr lang="en-US" sz="1200" b="1">
                <a:solidFill>
                  <a:srgbClr val="1E293B"/>
                </a:solidFill>
                <a:latin typeface="Calibri" pitchFamily="34" charset="0"/>
                <a:ea typeface="Calibri" pitchFamily="34" charset="-122"/>
                <a:cs typeface="Calibri" pitchFamily="34" charset="-120"/>
              </a:rPr>
              <a:t>Importlib isolation</a:t>
            </a:r>
            <a:endParaRPr lang="en-US" sz="1200">
              <a:solidFill>
                <a:prstClr val="black"/>
              </a:solidFill>
              <a:latin typeface="Aptos" panose="02110004020202020204"/>
            </a:endParaRPr>
          </a:p>
        </p:txBody>
      </p:sp>
      <p:sp>
        <p:nvSpPr>
          <p:cNvPr id="20" name="Text 18"/>
          <p:cNvSpPr/>
          <p:nvPr/>
        </p:nvSpPr>
        <p:spPr>
          <a:xfrm>
            <a:off x="5056632" y="3444864"/>
            <a:ext cx="3749040" cy="967116"/>
          </a:xfrm>
          <a:prstGeom prst="rect">
            <a:avLst/>
          </a:prstGeom>
          <a:noFill/>
          <a:ln/>
        </p:spPr>
        <p:txBody>
          <a:bodyPr wrap="square" lIns="0" tIns="0" rIns="0" bIns="0" rtlCol="0" anchor="ctr"/>
          <a:lstStyle/>
          <a:p>
            <a:endParaRPr lang="en-US" sz="1000">
              <a:solidFill>
                <a:srgbClr val="475569"/>
              </a:solidFill>
              <a:latin typeface="Calibri" pitchFamily="34" charset="0"/>
              <a:ea typeface="Calibri" pitchFamily="34" charset="-122"/>
              <a:cs typeface="Calibri" pitchFamily="34" charset="-120"/>
            </a:endParaRPr>
          </a:p>
          <a:p>
            <a:endParaRPr lang="en-US" sz="1000">
              <a:solidFill>
                <a:srgbClr val="475569"/>
              </a:solidFill>
              <a:latin typeface="Calibri" pitchFamily="34" charset="0"/>
              <a:ea typeface="Calibri" pitchFamily="34" charset="-122"/>
              <a:cs typeface="Calibri" pitchFamily="34" charset="-120"/>
            </a:endParaRPr>
          </a:p>
          <a:p>
            <a:r>
              <a:rPr lang="en-US" sz="1000">
                <a:solidFill>
                  <a:srgbClr val="6E7989"/>
                </a:solidFill>
                <a:latin typeface="Calibri" panose="020F0502020204030204" pitchFamily="34" charset="0"/>
                <a:ea typeface="Calibri" panose="020F0502020204030204" pitchFamily="34" charset="0"/>
                <a:cs typeface="Calibri" panose="020F0502020204030204" pitchFamily="34" charset="0"/>
              </a:rPr>
              <a:t>Is a Python technique that loads modules in separate namespaces to prevent them from sharing state or interfering with each other.</a:t>
            </a:r>
          </a:p>
          <a:p>
            <a:endParaRPr lang="en-US" sz="1000">
              <a:solidFill>
                <a:srgbClr val="6E7989"/>
              </a:solidFill>
              <a:latin typeface="Calibri" panose="020F0502020204030204" pitchFamily="34" charset="0"/>
              <a:ea typeface="Calibri" panose="020F0502020204030204" pitchFamily="34" charset="0"/>
              <a:cs typeface="Calibri" panose="020F0502020204030204" pitchFamily="34" charset="0"/>
            </a:endParaRPr>
          </a:p>
          <a:p>
            <a:r>
              <a:rPr lang="en-US" sz="1000">
                <a:solidFill>
                  <a:srgbClr val="6E7989"/>
                </a:solidFill>
                <a:latin typeface="Calibri" panose="020F0502020204030204" pitchFamily="34" charset="0"/>
                <a:ea typeface="Calibri" panose="020F0502020204030204" pitchFamily="34" charset="0"/>
                <a:cs typeface="Calibri" panose="020F0502020204030204" pitchFamily="34" charset="0"/>
              </a:rPr>
              <a:t>This allow us, when loading our ten sub-agents (Discovery, Serviceability, Product, Offer, Order, Payment, Fulfillment, Comms, Greeting, FAQ) in the shared </a:t>
            </a:r>
            <a:r>
              <a:rPr lang="en-US" sz="1000" err="1">
                <a:solidFill>
                  <a:srgbClr val="6E7989"/>
                </a:solidFill>
                <a:latin typeface="Calibri" panose="020F0502020204030204" pitchFamily="34" charset="0"/>
                <a:ea typeface="Calibri" panose="020F0502020204030204" pitchFamily="34" charset="0"/>
                <a:cs typeface="Calibri" panose="020F0502020204030204" pitchFamily="34" charset="0"/>
              </a:rPr>
              <a:t>monorepo</a:t>
            </a:r>
            <a:r>
              <a:rPr lang="en-US" sz="1000">
                <a:solidFill>
                  <a:srgbClr val="6E7989"/>
                </a:solidFill>
                <a:latin typeface="Calibri" panose="020F0502020204030204" pitchFamily="34" charset="0"/>
                <a:ea typeface="Calibri" panose="020F0502020204030204" pitchFamily="34" charset="0"/>
                <a:cs typeface="Calibri" panose="020F0502020204030204" pitchFamily="34" charset="0"/>
              </a:rPr>
              <a:t>, </a:t>
            </a:r>
            <a:r>
              <a:rPr lang="en-US" sz="1000" err="1">
                <a:solidFill>
                  <a:srgbClr val="6E7989"/>
                </a:solidFill>
                <a:latin typeface="Calibri" panose="020F0502020204030204" pitchFamily="34" charset="0"/>
                <a:ea typeface="Calibri" panose="020F0502020204030204" pitchFamily="34" charset="0"/>
                <a:cs typeface="Calibri" panose="020F0502020204030204" pitchFamily="34" charset="0"/>
              </a:rPr>
              <a:t>importlib</a:t>
            </a:r>
            <a:r>
              <a:rPr lang="en-US" sz="1000">
                <a:solidFill>
                  <a:srgbClr val="6E7989"/>
                </a:solidFill>
                <a:latin typeface="Calibri" panose="020F0502020204030204" pitchFamily="34" charset="0"/>
                <a:ea typeface="Calibri" panose="020F0502020204030204" pitchFamily="34" charset="0"/>
                <a:cs typeface="Calibri" panose="020F0502020204030204" pitchFamily="34" charset="0"/>
              </a:rPr>
              <a:t> to avoid namespace collisions. Without this, the ADK would re-bind parent-agent references causing cross-agent contamination during dynamic imports.</a:t>
            </a:r>
            <a:endParaRPr lang="en-US" sz="1000">
              <a:solidFill>
                <a:srgbClr val="475569"/>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86800" y="4800600"/>
            <a:ext cx="365760" cy="228600"/>
          </a:xfrm>
          <a:prstGeom prst="rect">
            <a:avLst/>
          </a:prstGeom>
          <a:noFill/>
          <a:ln/>
        </p:spPr>
        <p:txBody>
          <a:bodyPr wrap="square" rtlCol="0" anchor="ctr"/>
          <a:lstStyle/>
          <a:p>
            <a:pPr algn="r" defTabSz="685800"/>
            <a:r>
              <a:rPr lang="en-US" sz="900">
                <a:solidFill>
                  <a:srgbClr val="94A3B8"/>
                </a:solidFill>
                <a:latin typeface="Aptos" panose="02110004020202020204"/>
              </a:rPr>
              <a:t>10</a:t>
            </a:r>
            <a:endParaRPr lang="en-US" sz="900">
              <a:solidFill>
                <a:prstClr val="black"/>
              </a:solidFill>
              <a:latin typeface="Aptos" panose="02110004020202020204"/>
            </a:endParaRPr>
          </a:p>
        </p:txBody>
      </p:sp>
      <p:sp>
        <p:nvSpPr>
          <p:cNvPr id="3" name="Text 1"/>
          <p:cNvSpPr/>
          <p:nvPr/>
        </p:nvSpPr>
        <p:spPr>
          <a:xfrm>
            <a:off x="457200" y="228600"/>
            <a:ext cx="8229600" cy="457200"/>
          </a:xfrm>
          <a:prstGeom prst="rect">
            <a:avLst/>
          </a:prstGeom>
          <a:noFill/>
          <a:ln/>
        </p:spPr>
        <p:txBody>
          <a:bodyPr wrap="square" rtlCol="0" anchor="ctr"/>
          <a:lstStyle/>
          <a:p>
            <a:pPr defTabSz="685800"/>
            <a:r>
              <a:rPr lang="en-US" sz="3000" b="1">
                <a:solidFill>
                  <a:srgbClr val="1E293B"/>
                </a:solidFill>
                <a:latin typeface="Calibri" pitchFamily="34" charset="0"/>
                <a:ea typeface="Calibri" pitchFamily="34" charset="-122"/>
                <a:cs typeface="Calibri" pitchFamily="34" charset="-120"/>
              </a:rPr>
              <a:t>Key Technical Decisions</a:t>
            </a:r>
            <a:endParaRPr lang="en-US" sz="3000">
              <a:solidFill>
                <a:prstClr val="black"/>
              </a:solidFill>
              <a:latin typeface="Aptos" panose="02110004020202020204"/>
            </a:endParaRPr>
          </a:p>
        </p:txBody>
      </p:sp>
      <p:sp>
        <p:nvSpPr>
          <p:cNvPr id="4" name="Shape 2"/>
          <p:cNvSpPr/>
          <p:nvPr/>
        </p:nvSpPr>
        <p:spPr>
          <a:xfrm>
            <a:off x="457200" y="731520"/>
            <a:ext cx="8229600" cy="54864"/>
          </a:xfrm>
          <a:prstGeom prst="rect">
            <a:avLst/>
          </a:prstGeom>
          <a:solidFill>
            <a:srgbClr val="00C2C7"/>
          </a:solidFill>
          <a:ln/>
        </p:spPr>
        <p:txBody>
          <a:bodyPr/>
          <a:lstStyle/>
          <a:p>
            <a:pPr defTabSz="685800"/>
            <a:endParaRPr lang="en-US">
              <a:solidFill>
                <a:prstClr val="black"/>
              </a:solidFill>
              <a:latin typeface="Aptos" panose="02110004020202020204"/>
            </a:endParaRPr>
          </a:p>
        </p:txBody>
      </p:sp>
      <p:sp>
        <p:nvSpPr>
          <p:cNvPr id="21" name="Shape 19"/>
          <p:cNvSpPr/>
          <p:nvPr/>
        </p:nvSpPr>
        <p:spPr>
          <a:xfrm>
            <a:off x="457200" y="914400"/>
            <a:ext cx="4114800" cy="1737360"/>
          </a:xfrm>
          <a:prstGeom prst="rect">
            <a:avLst/>
          </a:prstGeom>
          <a:solidFill>
            <a:srgbClr val="FFFFFF"/>
          </a:solidFill>
          <a:ln/>
          <a:effectLst>
            <a:outerShdw blurRad="101600" dist="25400" dir="8100000" algn="bl" rotWithShape="0">
              <a:srgbClr val="000000">
                <a:alpha val="8000"/>
              </a:srgbClr>
            </a:outerShdw>
          </a:effectLst>
        </p:spPr>
        <p:txBody>
          <a:bodyPr/>
          <a:lstStyle/>
          <a:p>
            <a:pPr defTabSz="685800"/>
            <a:endParaRPr lang="en-US">
              <a:solidFill>
                <a:prstClr val="black"/>
              </a:solidFill>
              <a:latin typeface="Aptos" panose="02110004020202020204"/>
            </a:endParaRPr>
          </a:p>
        </p:txBody>
      </p:sp>
      <p:sp>
        <p:nvSpPr>
          <p:cNvPr id="22" name="Shape 20"/>
          <p:cNvSpPr/>
          <p:nvPr/>
        </p:nvSpPr>
        <p:spPr>
          <a:xfrm>
            <a:off x="457200" y="914400"/>
            <a:ext cx="54864" cy="1737360"/>
          </a:xfrm>
          <a:prstGeom prst="rect">
            <a:avLst/>
          </a:prstGeom>
          <a:solidFill>
            <a:srgbClr val="00C2C7"/>
          </a:solidFill>
          <a:ln/>
        </p:spPr>
        <p:txBody>
          <a:bodyPr/>
          <a:lstStyle/>
          <a:p>
            <a:pPr defTabSz="685800"/>
            <a:endParaRPr lang="en-US">
              <a:solidFill>
                <a:prstClr val="black"/>
              </a:solidFill>
              <a:latin typeface="Aptos" panose="02110004020202020204"/>
            </a:endParaRPr>
          </a:p>
        </p:txBody>
      </p:sp>
      <p:sp>
        <p:nvSpPr>
          <p:cNvPr id="23" name="Text 21"/>
          <p:cNvSpPr/>
          <p:nvPr/>
        </p:nvSpPr>
        <p:spPr>
          <a:xfrm>
            <a:off x="640080" y="1005840"/>
            <a:ext cx="3749040" cy="301752"/>
          </a:xfrm>
          <a:prstGeom prst="rect">
            <a:avLst/>
          </a:prstGeom>
          <a:noFill/>
          <a:ln/>
        </p:spPr>
        <p:txBody>
          <a:bodyPr wrap="square" lIns="0" tIns="0" rIns="0" bIns="0" rtlCol="0" anchor="ctr"/>
          <a:lstStyle/>
          <a:p>
            <a:pPr defTabSz="685800"/>
            <a:r>
              <a:rPr lang="en-US" sz="1200" b="1">
                <a:solidFill>
                  <a:srgbClr val="1E293B"/>
                </a:solidFill>
                <a:latin typeface="Calibri" pitchFamily="34" charset="0"/>
                <a:ea typeface="Calibri" pitchFamily="34" charset="-122"/>
                <a:cs typeface="Calibri" pitchFamily="34" charset="-120"/>
              </a:rPr>
              <a:t>JSON-only tool contracts</a:t>
            </a:r>
            <a:endParaRPr lang="en-US" sz="1200">
              <a:solidFill>
                <a:prstClr val="black"/>
              </a:solidFill>
              <a:latin typeface="Aptos" panose="02110004020202020204"/>
            </a:endParaRPr>
          </a:p>
        </p:txBody>
      </p:sp>
      <p:sp>
        <p:nvSpPr>
          <p:cNvPr id="24" name="Text 22"/>
          <p:cNvSpPr/>
          <p:nvPr/>
        </p:nvSpPr>
        <p:spPr>
          <a:xfrm>
            <a:off x="640080" y="1325879"/>
            <a:ext cx="3749040" cy="1090749"/>
          </a:xfrm>
          <a:prstGeom prst="rect">
            <a:avLst/>
          </a:prstGeom>
          <a:noFill/>
          <a:ln/>
        </p:spPr>
        <p:txBody>
          <a:bodyPr wrap="square" lIns="0" tIns="0" rIns="0" bIns="0" rtlCol="0" anchor="ctr"/>
          <a:lstStyle/>
          <a:p>
            <a:pPr defTabSz="685800"/>
            <a:r>
              <a:rPr lang="en-US" sz="1000">
                <a:solidFill>
                  <a:srgbClr val="475569"/>
                </a:solidFill>
                <a:latin typeface="Calibri" pitchFamily="34" charset="0"/>
                <a:ea typeface="Calibri" pitchFamily="34" charset="-122"/>
                <a:cs typeface="Calibri" pitchFamily="34" charset="-120"/>
              </a:rPr>
              <a:t>All agent tools return structured JSON schemas instead of natural language. This eliminates LLM rephrasing risks on critical data like prices, order IDs, and addresses, ensuring data integrity.</a:t>
            </a:r>
          </a:p>
          <a:p>
            <a:pPr defTabSz="685800"/>
            <a:endParaRPr lang="en-US" sz="1000">
              <a:solidFill>
                <a:srgbClr val="475569"/>
              </a:solidFill>
              <a:latin typeface="Calibri" pitchFamily="34" charset="0"/>
              <a:ea typeface="Calibri" pitchFamily="34" charset="-122"/>
              <a:cs typeface="Calibri" pitchFamily="34" charset="-120"/>
            </a:endParaRPr>
          </a:p>
          <a:p>
            <a:pPr defTabSz="685800"/>
            <a:r>
              <a:rPr lang="en-US" sz="1000">
                <a:solidFill>
                  <a:srgbClr val="475569"/>
                </a:solidFill>
                <a:latin typeface="Calibri" pitchFamily="34" charset="0"/>
                <a:ea typeface="Calibri" pitchFamily="34" charset="-122"/>
                <a:cs typeface="Calibri" pitchFamily="34" charset="-120"/>
              </a:rPr>
              <a:t>This means when the Serviceability Agent gets a zip code "19103" from the GIS API, it stays exactly "19103" in the JSON response, and the LLM cannot rephrase it to "19106" or any other value when presenting it to the customer.</a:t>
            </a:r>
            <a:r>
              <a:rPr lang="en-US" sz="1000"/>
              <a:t> </a:t>
            </a:r>
            <a:endParaRPr lang="en-US" sz="1000">
              <a:solidFill>
                <a:prstClr val="black"/>
              </a:solidFill>
              <a:latin typeface="Aptos" panose="02110004020202020204"/>
            </a:endParaRPr>
          </a:p>
        </p:txBody>
      </p:sp>
      <p:sp>
        <p:nvSpPr>
          <p:cNvPr id="25" name="Shape 23"/>
          <p:cNvSpPr/>
          <p:nvPr/>
        </p:nvSpPr>
        <p:spPr>
          <a:xfrm>
            <a:off x="457200" y="3019238"/>
            <a:ext cx="4114800" cy="1737360"/>
          </a:xfrm>
          <a:prstGeom prst="rect">
            <a:avLst/>
          </a:prstGeom>
          <a:solidFill>
            <a:srgbClr val="FFFFFF"/>
          </a:solidFill>
          <a:ln/>
          <a:effectLst>
            <a:outerShdw blurRad="101600" dist="25400" dir="8100000" algn="bl" rotWithShape="0">
              <a:srgbClr val="000000">
                <a:alpha val="8000"/>
              </a:srgbClr>
            </a:outerShdw>
          </a:effectLst>
        </p:spPr>
        <p:txBody>
          <a:bodyPr/>
          <a:lstStyle/>
          <a:p>
            <a:pPr defTabSz="685800"/>
            <a:endParaRPr lang="en-US">
              <a:solidFill>
                <a:prstClr val="black"/>
              </a:solidFill>
              <a:latin typeface="Aptos" panose="02110004020202020204"/>
            </a:endParaRPr>
          </a:p>
        </p:txBody>
      </p:sp>
      <p:sp>
        <p:nvSpPr>
          <p:cNvPr id="26" name="Shape 24"/>
          <p:cNvSpPr/>
          <p:nvPr/>
        </p:nvSpPr>
        <p:spPr>
          <a:xfrm>
            <a:off x="457200" y="3019238"/>
            <a:ext cx="54864" cy="1737360"/>
          </a:xfrm>
          <a:prstGeom prst="rect">
            <a:avLst/>
          </a:prstGeom>
          <a:solidFill>
            <a:srgbClr val="00C2C7"/>
          </a:solidFill>
          <a:ln/>
        </p:spPr>
        <p:txBody>
          <a:bodyPr/>
          <a:lstStyle/>
          <a:p>
            <a:pPr defTabSz="685800"/>
            <a:endParaRPr lang="en-US">
              <a:solidFill>
                <a:prstClr val="black"/>
              </a:solidFill>
              <a:latin typeface="Aptos" panose="02110004020202020204"/>
            </a:endParaRPr>
          </a:p>
        </p:txBody>
      </p:sp>
      <p:sp>
        <p:nvSpPr>
          <p:cNvPr id="27" name="Text 25"/>
          <p:cNvSpPr/>
          <p:nvPr/>
        </p:nvSpPr>
        <p:spPr>
          <a:xfrm>
            <a:off x="640080" y="3110678"/>
            <a:ext cx="3749040" cy="301752"/>
          </a:xfrm>
          <a:prstGeom prst="rect">
            <a:avLst/>
          </a:prstGeom>
          <a:noFill/>
          <a:ln/>
        </p:spPr>
        <p:txBody>
          <a:bodyPr wrap="square" lIns="0" tIns="0" rIns="0" bIns="0" rtlCol="0" anchor="ctr"/>
          <a:lstStyle/>
          <a:p>
            <a:pPr defTabSz="685800"/>
            <a:r>
              <a:rPr lang="en-US" sz="1200" b="1">
                <a:solidFill>
                  <a:srgbClr val="1E293B"/>
                </a:solidFill>
                <a:latin typeface="Calibri" pitchFamily="34" charset="0"/>
                <a:ea typeface="Calibri" pitchFamily="34" charset="-122"/>
                <a:cs typeface="Calibri" pitchFamily="34" charset="-120"/>
              </a:rPr>
              <a:t>SQLite + GCS sync pattern</a:t>
            </a:r>
            <a:endParaRPr lang="en-US" sz="1200">
              <a:solidFill>
                <a:prstClr val="black"/>
              </a:solidFill>
              <a:latin typeface="Aptos" panose="02110004020202020204"/>
            </a:endParaRPr>
          </a:p>
        </p:txBody>
      </p:sp>
      <p:sp>
        <p:nvSpPr>
          <p:cNvPr id="28" name="Text 26"/>
          <p:cNvSpPr/>
          <p:nvPr/>
        </p:nvSpPr>
        <p:spPr>
          <a:xfrm>
            <a:off x="640080" y="3430717"/>
            <a:ext cx="3749040" cy="1117955"/>
          </a:xfrm>
          <a:prstGeom prst="rect">
            <a:avLst/>
          </a:prstGeom>
          <a:noFill/>
          <a:ln/>
        </p:spPr>
        <p:txBody>
          <a:bodyPr wrap="square" lIns="0" tIns="0" rIns="0" bIns="0" rtlCol="0" anchor="ctr"/>
          <a:lstStyle/>
          <a:p>
            <a:pPr defTabSz="685800"/>
            <a:r>
              <a:rPr lang="en-US" sz="1000">
                <a:solidFill>
                  <a:srgbClr val="475569"/>
                </a:solidFill>
                <a:latin typeface="Calibri" pitchFamily="34" charset="0"/>
                <a:ea typeface="Calibri" pitchFamily="34" charset="-122"/>
                <a:cs typeface="Calibri" pitchFamily="34" charset="-120"/>
              </a:rPr>
              <a:t>Hybrid storage approach. SQLite provides fast local-first development with file-based persistence. Google Cloud Storage sync pattern handles Cloud Run statelessness without the overhead of a full managed database.</a:t>
            </a:r>
          </a:p>
          <a:p>
            <a:pPr defTabSz="685800"/>
            <a:endParaRPr lang="en-US" sz="1000">
              <a:solidFill>
                <a:srgbClr val="475569"/>
              </a:solidFill>
              <a:latin typeface="Calibri" pitchFamily="34" charset="0"/>
              <a:ea typeface="Calibri" pitchFamily="34" charset="-122"/>
              <a:cs typeface="Calibri" pitchFamily="34" charset="-120"/>
            </a:endParaRPr>
          </a:p>
          <a:p>
            <a:pPr defTabSz="685800"/>
            <a:r>
              <a:rPr lang="en-US" sz="1000">
                <a:solidFill>
                  <a:srgbClr val="475569"/>
                </a:solidFill>
                <a:latin typeface="Calibri" pitchFamily="34" charset="0"/>
                <a:ea typeface="Calibri" pitchFamily="34" charset="-122"/>
                <a:cs typeface="Calibri" pitchFamily="34" charset="-120"/>
              </a:rPr>
              <a:t>This gives us the development speed of a local file and the production reliability of cloud-backed persistence without the operational burden of managing a traditional database server.</a:t>
            </a:r>
          </a:p>
        </p:txBody>
      </p:sp>
      <p:sp>
        <p:nvSpPr>
          <p:cNvPr id="29" name="Shape 27"/>
          <p:cNvSpPr/>
          <p:nvPr/>
        </p:nvSpPr>
        <p:spPr>
          <a:xfrm>
            <a:off x="4846320" y="914400"/>
            <a:ext cx="4114800" cy="1737360"/>
          </a:xfrm>
          <a:prstGeom prst="rect">
            <a:avLst/>
          </a:prstGeom>
          <a:solidFill>
            <a:srgbClr val="FFFFFF"/>
          </a:solidFill>
          <a:ln/>
          <a:effectLst>
            <a:outerShdw blurRad="101600" dist="25400" dir="8100000" algn="bl" rotWithShape="0">
              <a:srgbClr val="000000">
                <a:alpha val="8000"/>
              </a:srgbClr>
            </a:outerShdw>
          </a:effectLst>
        </p:spPr>
        <p:txBody>
          <a:bodyPr/>
          <a:lstStyle/>
          <a:p>
            <a:pPr defTabSz="685800"/>
            <a:endParaRPr lang="en-US">
              <a:solidFill>
                <a:prstClr val="black"/>
              </a:solidFill>
              <a:latin typeface="Aptos" panose="02110004020202020204"/>
            </a:endParaRPr>
          </a:p>
        </p:txBody>
      </p:sp>
      <p:sp>
        <p:nvSpPr>
          <p:cNvPr id="30" name="Shape 28"/>
          <p:cNvSpPr/>
          <p:nvPr/>
        </p:nvSpPr>
        <p:spPr>
          <a:xfrm>
            <a:off x="4846320" y="914400"/>
            <a:ext cx="54864" cy="1737360"/>
          </a:xfrm>
          <a:prstGeom prst="rect">
            <a:avLst/>
          </a:prstGeom>
          <a:solidFill>
            <a:srgbClr val="00C2C7"/>
          </a:solidFill>
          <a:ln/>
        </p:spPr>
        <p:txBody>
          <a:bodyPr/>
          <a:lstStyle/>
          <a:p>
            <a:pPr defTabSz="685800"/>
            <a:endParaRPr lang="en-US">
              <a:solidFill>
                <a:prstClr val="black"/>
              </a:solidFill>
              <a:latin typeface="Aptos" panose="02110004020202020204"/>
            </a:endParaRPr>
          </a:p>
        </p:txBody>
      </p:sp>
      <p:sp>
        <p:nvSpPr>
          <p:cNvPr id="31" name="Text 29"/>
          <p:cNvSpPr/>
          <p:nvPr/>
        </p:nvSpPr>
        <p:spPr>
          <a:xfrm>
            <a:off x="5029200" y="1005840"/>
            <a:ext cx="3749040" cy="301752"/>
          </a:xfrm>
          <a:prstGeom prst="rect">
            <a:avLst/>
          </a:prstGeom>
          <a:noFill/>
          <a:ln/>
        </p:spPr>
        <p:txBody>
          <a:bodyPr wrap="square" lIns="0" tIns="0" rIns="0" bIns="0" rtlCol="0" anchor="ctr"/>
          <a:lstStyle/>
          <a:p>
            <a:pPr defTabSz="685800"/>
            <a:r>
              <a:rPr lang="en-US" sz="1200" b="1">
                <a:solidFill>
                  <a:srgbClr val="1E293B"/>
                </a:solidFill>
                <a:latin typeface="Calibri" pitchFamily="34" charset="0"/>
                <a:ea typeface="Calibri" pitchFamily="34" charset="-122"/>
                <a:cs typeface="Calibri" pitchFamily="34" charset="-120"/>
              </a:rPr>
              <a:t>Single Cloud Run container</a:t>
            </a:r>
            <a:endParaRPr lang="en-US" sz="1200">
              <a:solidFill>
                <a:prstClr val="black"/>
              </a:solidFill>
              <a:latin typeface="Aptos" panose="02110004020202020204"/>
            </a:endParaRPr>
          </a:p>
        </p:txBody>
      </p:sp>
      <p:sp>
        <p:nvSpPr>
          <p:cNvPr id="32" name="Text 30"/>
          <p:cNvSpPr/>
          <p:nvPr/>
        </p:nvSpPr>
        <p:spPr>
          <a:xfrm>
            <a:off x="5029200" y="1325880"/>
            <a:ext cx="3749040" cy="1245870"/>
          </a:xfrm>
          <a:prstGeom prst="rect">
            <a:avLst/>
          </a:prstGeom>
          <a:noFill/>
          <a:ln/>
        </p:spPr>
        <p:txBody>
          <a:bodyPr wrap="square" lIns="0" tIns="0" rIns="0" bIns="0" rtlCol="0" anchor="ctr"/>
          <a:lstStyle/>
          <a:p>
            <a:pPr defTabSz="685800"/>
            <a:r>
              <a:rPr lang="en-US" sz="1000">
                <a:solidFill>
                  <a:srgbClr val="475569"/>
                </a:solidFill>
                <a:latin typeface="Calibri" pitchFamily="34" charset="0"/>
                <a:ea typeface="Calibri" pitchFamily="34" charset="-122"/>
                <a:cs typeface="Calibri" pitchFamily="34" charset="-120"/>
              </a:rPr>
              <a:t>Unified deployment model where FastAPI backend and React frontend (served as static files) run in a single Cloud Run container. Simplifies deployment configuration and reduces cold-start complexity. </a:t>
            </a:r>
          </a:p>
          <a:p>
            <a:pPr defTabSz="685800"/>
            <a:endParaRPr lang="en-US" sz="1000">
              <a:solidFill>
                <a:srgbClr val="475569"/>
              </a:solidFill>
              <a:latin typeface="Calibri" pitchFamily="34" charset="0"/>
              <a:ea typeface="Calibri" pitchFamily="34" charset="-122"/>
              <a:cs typeface="Calibri" pitchFamily="34" charset="-120"/>
            </a:endParaRPr>
          </a:p>
          <a:p>
            <a:pPr defTabSz="685800"/>
            <a:r>
              <a:rPr lang="en-US" sz="1000">
                <a:solidFill>
                  <a:srgbClr val="475569"/>
                </a:solidFill>
                <a:latin typeface="Calibri" pitchFamily="34" charset="0"/>
                <a:ea typeface="Calibri" pitchFamily="34" charset="-122"/>
                <a:cs typeface="Calibri" pitchFamily="34" charset="-120"/>
              </a:rPr>
              <a:t>This makes the entire system easier to version, roll back, and monitor since there's only one deployment artifact to track instead of coordinating versions across separate frontend and backend services.</a:t>
            </a:r>
          </a:p>
        </p:txBody>
      </p:sp>
      <p:sp>
        <p:nvSpPr>
          <p:cNvPr id="33" name="Shape 31"/>
          <p:cNvSpPr/>
          <p:nvPr/>
        </p:nvSpPr>
        <p:spPr>
          <a:xfrm>
            <a:off x="4873752" y="3019238"/>
            <a:ext cx="4114800" cy="1737360"/>
          </a:xfrm>
          <a:prstGeom prst="rect">
            <a:avLst/>
          </a:prstGeom>
          <a:solidFill>
            <a:srgbClr val="FFFFFF"/>
          </a:solidFill>
          <a:ln/>
          <a:effectLst>
            <a:outerShdw blurRad="101600" dist="25400" dir="8100000" algn="bl" rotWithShape="0">
              <a:srgbClr val="000000">
                <a:alpha val="8000"/>
              </a:srgbClr>
            </a:outerShdw>
          </a:effectLst>
        </p:spPr>
        <p:txBody>
          <a:bodyPr/>
          <a:lstStyle/>
          <a:p>
            <a:pPr defTabSz="685800"/>
            <a:endParaRPr lang="en-US">
              <a:solidFill>
                <a:prstClr val="black"/>
              </a:solidFill>
              <a:latin typeface="Aptos" panose="02110004020202020204"/>
            </a:endParaRPr>
          </a:p>
        </p:txBody>
      </p:sp>
      <p:sp>
        <p:nvSpPr>
          <p:cNvPr id="34" name="Shape 32"/>
          <p:cNvSpPr/>
          <p:nvPr/>
        </p:nvSpPr>
        <p:spPr>
          <a:xfrm>
            <a:off x="4846320" y="3019238"/>
            <a:ext cx="54864" cy="1737360"/>
          </a:xfrm>
          <a:prstGeom prst="rect">
            <a:avLst/>
          </a:prstGeom>
          <a:solidFill>
            <a:srgbClr val="00C2C7"/>
          </a:solidFill>
          <a:ln/>
        </p:spPr>
        <p:txBody>
          <a:bodyPr/>
          <a:lstStyle/>
          <a:p>
            <a:pPr defTabSz="685800"/>
            <a:endParaRPr lang="en-US">
              <a:solidFill>
                <a:prstClr val="black"/>
              </a:solidFill>
              <a:latin typeface="Aptos" panose="02110004020202020204"/>
            </a:endParaRPr>
          </a:p>
        </p:txBody>
      </p:sp>
      <p:sp>
        <p:nvSpPr>
          <p:cNvPr id="35" name="Text 33"/>
          <p:cNvSpPr/>
          <p:nvPr/>
        </p:nvSpPr>
        <p:spPr>
          <a:xfrm>
            <a:off x="5029200" y="3110678"/>
            <a:ext cx="3749040" cy="301752"/>
          </a:xfrm>
          <a:prstGeom prst="rect">
            <a:avLst/>
          </a:prstGeom>
          <a:noFill/>
          <a:ln/>
        </p:spPr>
        <p:txBody>
          <a:bodyPr wrap="square" lIns="0" tIns="0" rIns="0" bIns="0" rtlCol="0" anchor="ctr"/>
          <a:lstStyle/>
          <a:p>
            <a:pPr defTabSz="685800"/>
            <a:r>
              <a:rPr lang="en-US" sz="1200" b="1">
                <a:solidFill>
                  <a:srgbClr val="1E293B"/>
                </a:solidFill>
                <a:latin typeface="Calibri" pitchFamily="34" charset="0"/>
                <a:ea typeface="Calibri" pitchFamily="34" charset="-122"/>
                <a:cs typeface="Calibri" pitchFamily="34" charset="-120"/>
              </a:rPr>
              <a:t>Per-agent system prompts</a:t>
            </a:r>
            <a:endParaRPr lang="en-US" sz="1200">
              <a:solidFill>
                <a:prstClr val="black"/>
              </a:solidFill>
              <a:latin typeface="Aptos" panose="02110004020202020204"/>
            </a:endParaRPr>
          </a:p>
        </p:txBody>
      </p:sp>
      <p:sp>
        <p:nvSpPr>
          <p:cNvPr id="36" name="Text 34"/>
          <p:cNvSpPr/>
          <p:nvPr/>
        </p:nvSpPr>
        <p:spPr>
          <a:xfrm>
            <a:off x="5029200" y="3288986"/>
            <a:ext cx="3749040" cy="1197864"/>
          </a:xfrm>
          <a:prstGeom prst="rect">
            <a:avLst/>
          </a:prstGeom>
          <a:noFill/>
          <a:ln/>
        </p:spPr>
        <p:txBody>
          <a:bodyPr wrap="square" lIns="0" tIns="0" rIns="0" bIns="0" rtlCol="0" anchor="ctr"/>
          <a:lstStyle/>
          <a:p>
            <a:pPr defTabSz="685800"/>
            <a:r>
              <a:rPr lang="en-US" sz="1000">
                <a:solidFill>
                  <a:srgbClr val="475569"/>
                </a:solidFill>
                <a:latin typeface="Calibri" pitchFamily="34" charset="0"/>
                <a:ea typeface="Calibri" pitchFamily="34" charset="-122"/>
                <a:cs typeface="Calibri" pitchFamily="34" charset="-120"/>
              </a:rPr>
              <a:t>Each sub-agent receives domain-specific system prompts tailored to its function. By</a:t>
            </a:r>
            <a:r>
              <a:rPr lang="en-US" sz="1000"/>
              <a:t> </a:t>
            </a:r>
            <a:r>
              <a:rPr lang="en-US" sz="1000">
                <a:solidFill>
                  <a:srgbClr val="475569"/>
                </a:solidFill>
                <a:latin typeface="Calibri" pitchFamily="34" charset="0"/>
                <a:ea typeface="Calibri" pitchFamily="34" charset="-122"/>
                <a:cs typeface="Calibri" pitchFamily="34" charset="-120"/>
              </a:rPr>
              <a:t>giving</a:t>
            </a:r>
            <a:r>
              <a:rPr lang="en-US" sz="1000"/>
              <a:t> </a:t>
            </a:r>
            <a:r>
              <a:rPr lang="en-US" sz="1000">
                <a:solidFill>
                  <a:srgbClr val="475569"/>
                </a:solidFill>
                <a:latin typeface="Calibri" pitchFamily="34" charset="0"/>
                <a:ea typeface="Calibri" pitchFamily="34" charset="-122"/>
                <a:cs typeface="Calibri" pitchFamily="34" charset="-120"/>
              </a:rPr>
              <a:t>each agent domain-specific instructions that explicitly define what it should and shouldn't do, we keep each agent's reasoning focused, prevent cross-contamination of responsibilities, and ensure that only agents with the right tools and temperature settings handle the questions they're designed for.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0F6FA"/>
        </a:solidFill>
        <a:effectLst/>
      </p:bgPr>
    </p:bg>
    <p:spTree>
      <p:nvGrpSpPr>
        <p:cNvPr id="1" name=""/>
        <p:cNvGrpSpPr/>
        <p:nvPr/>
      </p:nvGrpSpPr>
      <p:grpSpPr>
        <a:xfrm>
          <a:off x="0" y="0"/>
          <a:ext cx="0" cy="0"/>
          <a:chOff x="0" y="0"/>
          <a:chExt cx="0" cy="0"/>
        </a:xfrm>
      </p:grpSpPr>
      <p:sp>
        <p:nvSpPr>
          <p:cNvPr id="2" name="Text 0"/>
          <p:cNvSpPr/>
          <p:nvPr/>
        </p:nvSpPr>
        <p:spPr>
          <a:xfrm>
            <a:off x="8686800" y="4800600"/>
            <a:ext cx="365760" cy="228600"/>
          </a:xfrm>
          <a:prstGeom prst="rect">
            <a:avLst/>
          </a:prstGeom>
          <a:noFill/>
          <a:ln/>
        </p:spPr>
        <p:txBody>
          <a:bodyPr wrap="square" rtlCol="0" anchor="ctr"/>
          <a:lstStyle/>
          <a:p>
            <a:pPr marL="0" indent="0" algn="r">
              <a:buNone/>
            </a:pPr>
            <a:r>
              <a:rPr lang="en-US" sz="900">
                <a:solidFill>
                  <a:srgbClr val="94A3B8"/>
                </a:solidFill>
              </a:rPr>
              <a:t>10</a:t>
            </a:r>
            <a:endParaRPr lang="en-US" sz="900"/>
          </a:p>
        </p:txBody>
      </p:sp>
      <p:sp>
        <p:nvSpPr>
          <p:cNvPr id="3" name="Text 1"/>
          <p:cNvSpPr/>
          <p:nvPr/>
        </p:nvSpPr>
        <p:spPr>
          <a:xfrm>
            <a:off x="457200" y="228600"/>
            <a:ext cx="8229600" cy="457200"/>
          </a:xfrm>
          <a:prstGeom prst="rect">
            <a:avLst/>
          </a:prstGeom>
          <a:noFill/>
          <a:ln/>
        </p:spPr>
        <p:txBody>
          <a:bodyPr wrap="square" rtlCol="0" anchor="ctr"/>
          <a:lstStyle/>
          <a:p>
            <a:pPr marL="0" indent="0">
              <a:buNone/>
            </a:pPr>
            <a:r>
              <a:rPr lang="en-US" sz="3000" b="1">
                <a:solidFill>
                  <a:srgbClr val="1E293B"/>
                </a:solidFill>
                <a:latin typeface="Calibri" pitchFamily="34" charset="0"/>
                <a:ea typeface="Calibri" pitchFamily="34" charset="-122"/>
                <a:cs typeface="Calibri" pitchFamily="34" charset="-120"/>
              </a:rPr>
              <a:t>How the Code Was Written</a:t>
            </a:r>
            <a:endParaRPr lang="en-US" sz="3000"/>
          </a:p>
        </p:txBody>
      </p:sp>
      <p:sp>
        <p:nvSpPr>
          <p:cNvPr id="4" name="Shape 2"/>
          <p:cNvSpPr/>
          <p:nvPr/>
        </p:nvSpPr>
        <p:spPr>
          <a:xfrm>
            <a:off x="457200" y="731520"/>
            <a:ext cx="8229600" cy="54864"/>
          </a:xfrm>
          <a:prstGeom prst="rect">
            <a:avLst/>
          </a:prstGeom>
          <a:solidFill>
            <a:srgbClr val="00C2C7"/>
          </a:solidFill>
          <a:ln/>
        </p:spPr>
        <p:txBody>
          <a:bodyPr/>
          <a:lstStyle/>
          <a:p>
            <a:endParaRPr lang="en-US"/>
          </a:p>
        </p:txBody>
      </p:sp>
      <p:sp>
        <p:nvSpPr>
          <p:cNvPr id="5" name="Shape 3"/>
          <p:cNvSpPr/>
          <p:nvPr/>
        </p:nvSpPr>
        <p:spPr>
          <a:xfrm>
            <a:off x="457200" y="914400"/>
            <a:ext cx="4114800" cy="118872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US">
              <a:solidFill>
                <a:srgbClr val="F0F6FA"/>
              </a:solidFill>
            </a:endParaRPr>
          </a:p>
        </p:txBody>
      </p:sp>
      <p:sp>
        <p:nvSpPr>
          <p:cNvPr id="6" name="Shape 4"/>
          <p:cNvSpPr/>
          <p:nvPr/>
        </p:nvSpPr>
        <p:spPr>
          <a:xfrm>
            <a:off x="457200" y="914400"/>
            <a:ext cx="54864" cy="1188720"/>
          </a:xfrm>
          <a:prstGeom prst="rect">
            <a:avLst/>
          </a:prstGeom>
          <a:solidFill>
            <a:srgbClr val="00C2C7"/>
          </a:solidFill>
          <a:ln/>
        </p:spPr>
        <p:txBody>
          <a:bodyPr/>
          <a:lstStyle/>
          <a:p>
            <a:endParaRPr lang="en-US"/>
          </a:p>
        </p:txBody>
      </p:sp>
      <p:sp>
        <p:nvSpPr>
          <p:cNvPr id="7" name="Text 5"/>
          <p:cNvSpPr/>
          <p:nvPr/>
        </p:nvSpPr>
        <p:spPr>
          <a:xfrm>
            <a:off x="621792" y="987552"/>
            <a:ext cx="457200" cy="274320"/>
          </a:xfrm>
          <a:prstGeom prst="rect">
            <a:avLst/>
          </a:prstGeom>
          <a:noFill/>
          <a:ln/>
        </p:spPr>
        <p:txBody>
          <a:bodyPr wrap="square" lIns="0" tIns="0" rIns="0" bIns="0" rtlCol="0" anchor="ctr"/>
          <a:lstStyle/>
          <a:p>
            <a:pPr marL="0" indent="0">
              <a:buNone/>
            </a:pPr>
            <a:r>
              <a:rPr lang="en-US" sz="1600" b="1">
                <a:solidFill>
                  <a:srgbClr val="00C2C7"/>
                </a:solidFill>
                <a:latin typeface="Calibri" pitchFamily="34" charset="0"/>
                <a:ea typeface="Calibri" pitchFamily="34" charset="-122"/>
                <a:cs typeface="Calibri" pitchFamily="34" charset="-120"/>
              </a:rPr>
              <a:t>01</a:t>
            </a:r>
            <a:endParaRPr lang="en-US" sz="1600"/>
          </a:p>
        </p:txBody>
      </p:sp>
      <p:sp>
        <p:nvSpPr>
          <p:cNvPr id="8" name="Text 6"/>
          <p:cNvSpPr/>
          <p:nvPr/>
        </p:nvSpPr>
        <p:spPr>
          <a:xfrm>
            <a:off x="621792" y="1280160"/>
            <a:ext cx="3749040" cy="274320"/>
          </a:xfrm>
          <a:prstGeom prst="rect">
            <a:avLst/>
          </a:prstGeom>
          <a:noFill/>
          <a:ln/>
        </p:spPr>
        <p:txBody>
          <a:bodyPr wrap="square" lIns="0" tIns="0" rIns="0" bIns="0" rtlCol="0" anchor="ctr"/>
          <a:lstStyle/>
          <a:p>
            <a:pPr marL="0" indent="0">
              <a:buNone/>
            </a:pPr>
            <a:r>
              <a:rPr lang="en-US" sz="1200" b="1">
                <a:solidFill>
                  <a:srgbClr val="1E293B"/>
                </a:solidFill>
                <a:latin typeface="Calibri" pitchFamily="34" charset="0"/>
                <a:ea typeface="Calibri" pitchFamily="34" charset="-122"/>
                <a:cs typeface="Calibri" pitchFamily="34" charset="-120"/>
              </a:rPr>
              <a:t>Architecture &amp; Design First</a:t>
            </a:r>
            <a:endParaRPr lang="en-US" sz="1200"/>
          </a:p>
        </p:txBody>
      </p:sp>
      <p:sp>
        <p:nvSpPr>
          <p:cNvPr id="9" name="Text 7"/>
          <p:cNvSpPr/>
          <p:nvPr/>
        </p:nvSpPr>
        <p:spPr>
          <a:xfrm>
            <a:off x="621792" y="1581912"/>
            <a:ext cx="3749040" cy="457200"/>
          </a:xfrm>
          <a:prstGeom prst="rect">
            <a:avLst/>
          </a:prstGeom>
          <a:noFill/>
          <a:ln/>
        </p:spPr>
        <p:txBody>
          <a:bodyPr wrap="square" lIns="0" tIns="0" rIns="0" bIns="0" rtlCol="0" anchor="ctr"/>
          <a:lstStyle/>
          <a:p>
            <a:pPr marL="0" indent="0">
              <a:buNone/>
            </a:pPr>
            <a:r>
              <a:rPr lang="en-US" sz="1000">
                <a:solidFill>
                  <a:srgbClr val="475569"/>
                </a:solidFill>
                <a:latin typeface="Calibri" pitchFamily="34" charset="0"/>
                <a:ea typeface="Calibri" pitchFamily="34" charset="-122"/>
                <a:cs typeface="Calibri" pitchFamily="34" charset="-120"/>
              </a:rPr>
              <a:t>Started with AGENTS.md, CLAUDE.md, and a full C4-style architecture brief. System prompt design was the first artifact — not code.</a:t>
            </a:r>
            <a:endParaRPr lang="en-US" sz="1000"/>
          </a:p>
        </p:txBody>
      </p:sp>
      <p:sp>
        <p:nvSpPr>
          <p:cNvPr id="10" name="Shape 8"/>
          <p:cNvSpPr/>
          <p:nvPr/>
        </p:nvSpPr>
        <p:spPr>
          <a:xfrm>
            <a:off x="457200" y="2240280"/>
            <a:ext cx="4114800" cy="118872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11" name="Shape 9"/>
          <p:cNvSpPr/>
          <p:nvPr/>
        </p:nvSpPr>
        <p:spPr>
          <a:xfrm>
            <a:off x="457200" y="2240280"/>
            <a:ext cx="54864" cy="1188720"/>
          </a:xfrm>
          <a:prstGeom prst="rect">
            <a:avLst/>
          </a:prstGeom>
          <a:solidFill>
            <a:srgbClr val="00C2C7"/>
          </a:solidFill>
          <a:ln/>
        </p:spPr>
        <p:txBody>
          <a:bodyPr/>
          <a:lstStyle/>
          <a:p>
            <a:endParaRPr lang="en-US"/>
          </a:p>
        </p:txBody>
      </p:sp>
      <p:sp>
        <p:nvSpPr>
          <p:cNvPr id="12" name="Text 10"/>
          <p:cNvSpPr/>
          <p:nvPr/>
        </p:nvSpPr>
        <p:spPr>
          <a:xfrm>
            <a:off x="621792" y="2313432"/>
            <a:ext cx="457200" cy="274320"/>
          </a:xfrm>
          <a:prstGeom prst="rect">
            <a:avLst/>
          </a:prstGeom>
          <a:noFill/>
          <a:ln/>
        </p:spPr>
        <p:txBody>
          <a:bodyPr wrap="square" lIns="0" tIns="0" rIns="0" bIns="0" rtlCol="0" anchor="ctr"/>
          <a:lstStyle/>
          <a:p>
            <a:pPr marL="0" indent="0">
              <a:buNone/>
            </a:pPr>
            <a:r>
              <a:rPr lang="en-US" sz="1600" b="1">
                <a:solidFill>
                  <a:srgbClr val="00C2C7"/>
                </a:solidFill>
                <a:latin typeface="Calibri" pitchFamily="34" charset="0"/>
                <a:ea typeface="Calibri" pitchFamily="34" charset="-122"/>
                <a:cs typeface="Calibri" pitchFamily="34" charset="-120"/>
              </a:rPr>
              <a:t>02</a:t>
            </a:r>
            <a:endParaRPr lang="en-US" sz="1600"/>
          </a:p>
        </p:txBody>
      </p:sp>
      <p:sp>
        <p:nvSpPr>
          <p:cNvPr id="13" name="Text 11"/>
          <p:cNvSpPr/>
          <p:nvPr/>
        </p:nvSpPr>
        <p:spPr>
          <a:xfrm>
            <a:off x="621792" y="2606040"/>
            <a:ext cx="3749040" cy="274320"/>
          </a:xfrm>
          <a:prstGeom prst="rect">
            <a:avLst/>
          </a:prstGeom>
          <a:noFill/>
          <a:ln/>
        </p:spPr>
        <p:txBody>
          <a:bodyPr wrap="square" lIns="0" tIns="0" rIns="0" bIns="0" rtlCol="0" anchor="ctr"/>
          <a:lstStyle/>
          <a:p>
            <a:pPr marL="0" indent="0">
              <a:buNone/>
            </a:pPr>
            <a:r>
              <a:rPr lang="en-US" sz="1200" b="1">
                <a:solidFill>
                  <a:srgbClr val="1E293B"/>
                </a:solidFill>
                <a:latin typeface="Calibri" pitchFamily="34" charset="0"/>
                <a:ea typeface="Calibri" pitchFamily="34" charset="-122"/>
                <a:cs typeface="Calibri" pitchFamily="34" charset="-120"/>
              </a:rPr>
              <a:t>AI-Assisted Development</a:t>
            </a:r>
            <a:endParaRPr lang="en-US" sz="1200"/>
          </a:p>
        </p:txBody>
      </p:sp>
      <p:sp>
        <p:nvSpPr>
          <p:cNvPr id="14" name="Text 12"/>
          <p:cNvSpPr/>
          <p:nvPr/>
        </p:nvSpPr>
        <p:spPr>
          <a:xfrm>
            <a:off x="621792" y="2907792"/>
            <a:ext cx="3749040" cy="457200"/>
          </a:xfrm>
          <a:prstGeom prst="rect">
            <a:avLst/>
          </a:prstGeom>
          <a:noFill/>
          <a:ln/>
        </p:spPr>
        <p:txBody>
          <a:bodyPr wrap="square" lIns="0" tIns="0" rIns="0" bIns="0" rtlCol="0" anchor="ctr"/>
          <a:lstStyle/>
          <a:p>
            <a:pPr marL="0" indent="0">
              <a:buNone/>
            </a:pPr>
            <a:r>
              <a:rPr lang="en-US" sz="1000">
                <a:solidFill>
                  <a:srgbClr val="475569"/>
                </a:solidFill>
                <a:latin typeface="Calibri" pitchFamily="34" charset="0"/>
                <a:ea typeface="Calibri" pitchFamily="34" charset="-122"/>
                <a:cs typeface="Calibri" pitchFamily="34" charset="-120"/>
              </a:rPr>
              <a:t>Claude Code used for scaffolding agents, FastAPI routes, and React components. ~70% of boilerplate generated; 100% human-reviewed for ADK correctness.</a:t>
            </a:r>
            <a:endParaRPr lang="en-US" sz="1000"/>
          </a:p>
        </p:txBody>
      </p:sp>
      <p:sp>
        <p:nvSpPr>
          <p:cNvPr id="15" name="Shape 13"/>
          <p:cNvSpPr/>
          <p:nvPr/>
        </p:nvSpPr>
        <p:spPr>
          <a:xfrm>
            <a:off x="457200" y="3566160"/>
            <a:ext cx="4114800" cy="118872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16" name="Shape 14"/>
          <p:cNvSpPr/>
          <p:nvPr/>
        </p:nvSpPr>
        <p:spPr>
          <a:xfrm>
            <a:off x="457200" y="3566160"/>
            <a:ext cx="54864" cy="1188720"/>
          </a:xfrm>
          <a:prstGeom prst="rect">
            <a:avLst/>
          </a:prstGeom>
          <a:solidFill>
            <a:srgbClr val="00C2C7"/>
          </a:solidFill>
          <a:ln/>
        </p:spPr>
        <p:txBody>
          <a:bodyPr/>
          <a:lstStyle/>
          <a:p>
            <a:endParaRPr lang="en-US"/>
          </a:p>
        </p:txBody>
      </p:sp>
      <p:sp>
        <p:nvSpPr>
          <p:cNvPr id="17" name="Text 15"/>
          <p:cNvSpPr/>
          <p:nvPr/>
        </p:nvSpPr>
        <p:spPr>
          <a:xfrm>
            <a:off x="621792" y="3639312"/>
            <a:ext cx="457200" cy="274320"/>
          </a:xfrm>
          <a:prstGeom prst="rect">
            <a:avLst/>
          </a:prstGeom>
          <a:noFill/>
          <a:ln/>
        </p:spPr>
        <p:txBody>
          <a:bodyPr wrap="square" lIns="0" tIns="0" rIns="0" bIns="0" rtlCol="0" anchor="ctr"/>
          <a:lstStyle/>
          <a:p>
            <a:pPr marL="0" indent="0">
              <a:buNone/>
            </a:pPr>
            <a:r>
              <a:rPr lang="en-US" sz="1600" b="1">
                <a:solidFill>
                  <a:srgbClr val="00C2C7"/>
                </a:solidFill>
                <a:latin typeface="Calibri" pitchFamily="34" charset="0"/>
                <a:ea typeface="Calibri" pitchFamily="34" charset="-122"/>
                <a:cs typeface="Calibri" pitchFamily="34" charset="-120"/>
              </a:rPr>
              <a:t>03</a:t>
            </a:r>
            <a:endParaRPr lang="en-US" sz="1600"/>
          </a:p>
        </p:txBody>
      </p:sp>
      <p:sp>
        <p:nvSpPr>
          <p:cNvPr id="18" name="Text 16"/>
          <p:cNvSpPr/>
          <p:nvPr/>
        </p:nvSpPr>
        <p:spPr>
          <a:xfrm>
            <a:off x="621792" y="3931920"/>
            <a:ext cx="3749040" cy="274320"/>
          </a:xfrm>
          <a:prstGeom prst="rect">
            <a:avLst/>
          </a:prstGeom>
          <a:noFill/>
          <a:ln/>
        </p:spPr>
        <p:txBody>
          <a:bodyPr wrap="square" lIns="0" tIns="0" rIns="0" bIns="0" rtlCol="0" anchor="ctr"/>
          <a:lstStyle/>
          <a:p>
            <a:pPr marL="0" indent="0">
              <a:buNone/>
            </a:pPr>
            <a:r>
              <a:rPr lang="en-US" sz="1200" b="1">
                <a:solidFill>
                  <a:srgbClr val="1E293B"/>
                </a:solidFill>
                <a:latin typeface="Calibri" pitchFamily="34" charset="0"/>
                <a:ea typeface="Calibri" pitchFamily="34" charset="-122"/>
                <a:cs typeface="Calibri" pitchFamily="34" charset="-120"/>
              </a:rPr>
              <a:t>Human Judgment on Critical Paths</a:t>
            </a:r>
            <a:endParaRPr lang="en-US" sz="1200"/>
          </a:p>
        </p:txBody>
      </p:sp>
      <p:sp>
        <p:nvSpPr>
          <p:cNvPr id="19" name="Text 17"/>
          <p:cNvSpPr/>
          <p:nvPr/>
        </p:nvSpPr>
        <p:spPr>
          <a:xfrm>
            <a:off x="621792" y="4233672"/>
            <a:ext cx="3749040" cy="457200"/>
          </a:xfrm>
          <a:prstGeom prst="rect">
            <a:avLst/>
          </a:prstGeom>
          <a:noFill/>
          <a:ln/>
        </p:spPr>
        <p:txBody>
          <a:bodyPr wrap="square" lIns="0" tIns="0" rIns="0" bIns="0" rtlCol="0" anchor="ctr"/>
          <a:lstStyle/>
          <a:p>
            <a:pPr marL="0" indent="0">
              <a:buNone/>
            </a:pPr>
            <a:r>
              <a:rPr lang="en-US" sz="1000">
                <a:solidFill>
                  <a:srgbClr val="475569"/>
                </a:solidFill>
                <a:latin typeface="Calibri" pitchFamily="34" charset="0"/>
                <a:ea typeface="Calibri" pitchFamily="34" charset="-122"/>
                <a:cs typeface="Calibri" pitchFamily="34" charset="-120"/>
              </a:rPr>
              <a:t>Agent routing logic, temperature config, tool contract schemas, and importlib isolation — all human-authored. AI doesn't know our ADK constraints.</a:t>
            </a:r>
            <a:endParaRPr lang="en-US" sz="1000"/>
          </a:p>
        </p:txBody>
      </p:sp>
      <p:sp>
        <p:nvSpPr>
          <p:cNvPr id="20" name="Shape 18"/>
          <p:cNvSpPr/>
          <p:nvPr/>
        </p:nvSpPr>
        <p:spPr>
          <a:xfrm>
            <a:off x="4846320" y="914400"/>
            <a:ext cx="4114800" cy="118872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21" name="Shape 19"/>
          <p:cNvSpPr/>
          <p:nvPr/>
        </p:nvSpPr>
        <p:spPr>
          <a:xfrm>
            <a:off x="4846320" y="914400"/>
            <a:ext cx="54864" cy="1188720"/>
          </a:xfrm>
          <a:prstGeom prst="rect">
            <a:avLst/>
          </a:prstGeom>
          <a:solidFill>
            <a:srgbClr val="00C2C7"/>
          </a:solidFill>
          <a:ln/>
        </p:spPr>
        <p:txBody>
          <a:bodyPr/>
          <a:lstStyle/>
          <a:p>
            <a:endParaRPr lang="en-US"/>
          </a:p>
        </p:txBody>
      </p:sp>
      <p:sp>
        <p:nvSpPr>
          <p:cNvPr id="22" name="Text 20"/>
          <p:cNvSpPr/>
          <p:nvPr/>
        </p:nvSpPr>
        <p:spPr>
          <a:xfrm>
            <a:off x="5010912" y="987552"/>
            <a:ext cx="457200" cy="274320"/>
          </a:xfrm>
          <a:prstGeom prst="rect">
            <a:avLst/>
          </a:prstGeom>
          <a:noFill/>
          <a:ln/>
        </p:spPr>
        <p:txBody>
          <a:bodyPr wrap="square" lIns="0" tIns="0" rIns="0" bIns="0" rtlCol="0" anchor="ctr"/>
          <a:lstStyle/>
          <a:p>
            <a:pPr marL="0" indent="0">
              <a:buNone/>
            </a:pPr>
            <a:r>
              <a:rPr lang="en-US" sz="1600" b="1">
                <a:solidFill>
                  <a:srgbClr val="00C2C7"/>
                </a:solidFill>
                <a:latin typeface="Calibri" pitchFamily="34" charset="0"/>
                <a:ea typeface="Calibri" pitchFamily="34" charset="-122"/>
                <a:cs typeface="Calibri" pitchFamily="34" charset="-120"/>
              </a:rPr>
              <a:t>04</a:t>
            </a:r>
            <a:endParaRPr lang="en-US" sz="1600"/>
          </a:p>
        </p:txBody>
      </p:sp>
      <p:sp>
        <p:nvSpPr>
          <p:cNvPr id="23" name="Text 21"/>
          <p:cNvSpPr/>
          <p:nvPr/>
        </p:nvSpPr>
        <p:spPr>
          <a:xfrm>
            <a:off x="5010912" y="1280160"/>
            <a:ext cx="3749040" cy="274320"/>
          </a:xfrm>
          <a:prstGeom prst="rect">
            <a:avLst/>
          </a:prstGeom>
          <a:noFill/>
          <a:ln/>
        </p:spPr>
        <p:txBody>
          <a:bodyPr wrap="square" lIns="0" tIns="0" rIns="0" bIns="0" rtlCol="0" anchor="ctr"/>
          <a:lstStyle/>
          <a:p>
            <a:pPr marL="0" indent="0">
              <a:buNone/>
            </a:pPr>
            <a:r>
              <a:rPr lang="en-US" sz="1200" b="1">
                <a:solidFill>
                  <a:srgbClr val="1E293B"/>
                </a:solidFill>
                <a:latin typeface="Calibri" pitchFamily="34" charset="0"/>
                <a:ea typeface="Calibri" pitchFamily="34" charset="-122"/>
                <a:cs typeface="Calibri" pitchFamily="34" charset="-120"/>
              </a:rPr>
              <a:t>GitHub for Coordination</a:t>
            </a:r>
            <a:endParaRPr lang="en-US" sz="1200"/>
          </a:p>
        </p:txBody>
      </p:sp>
      <p:sp>
        <p:nvSpPr>
          <p:cNvPr id="24" name="Text 22"/>
          <p:cNvSpPr/>
          <p:nvPr/>
        </p:nvSpPr>
        <p:spPr>
          <a:xfrm>
            <a:off x="5010912" y="1581912"/>
            <a:ext cx="3749040" cy="457200"/>
          </a:xfrm>
          <a:prstGeom prst="rect">
            <a:avLst/>
          </a:prstGeom>
          <a:noFill/>
          <a:ln/>
        </p:spPr>
        <p:txBody>
          <a:bodyPr wrap="square" lIns="0" tIns="0" rIns="0" bIns="0" rtlCol="0" anchor="ctr"/>
          <a:lstStyle/>
          <a:p>
            <a:pPr marL="0" indent="0">
              <a:buNone/>
            </a:pPr>
            <a:r>
              <a:rPr lang="en-US" sz="1000">
                <a:solidFill>
                  <a:srgbClr val="475569"/>
                </a:solidFill>
                <a:latin typeface="Calibri" pitchFamily="34" charset="0"/>
                <a:ea typeface="Calibri" pitchFamily="34" charset="-122"/>
                <a:cs typeface="Calibri" pitchFamily="34" charset="-120"/>
              </a:rPr>
              <a:t>Feature branches per agent. PR-based code review across 4 team members. CLAUDE.md served as the AI context file for Claude Code in the repo.</a:t>
            </a:r>
            <a:endParaRPr lang="en-US" sz="1000"/>
          </a:p>
        </p:txBody>
      </p:sp>
      <p:sp>
        <p:nvSpPr>
          <p:cNvPr id="25" name="Shape 23"/>
          <p:cNvSpPr/>
          <p:nvPr/>
        </p:nvSpPr>
        <p:spPr>
          <a:xfrm>
            <a:off x="4846320" y="2240280"/>
            <a:ext cx="4114800" cy="118872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26" name="Shape 24"/>
          <p:cNvSpPr/>
          <p:nvPr/>
        </p:nvSpPr>
        <p:spPr>
          <a:xfrm>
            <a:off x="4846320" y="2240280"/>
            <a:ext cx="54864" cy="1188720"/>
          </a:xfrm>
          <a:prstGeom prst="rect">
            <a:avLst/>
          </a:prstGeom>
          <a:solidFill>
            <a:srgbClr val="00C2C7"/>
          </a:solidFill>
          <a:ln/>
        </p:spPr>
        <p:txBody>
          <a:bodyPr/>
          <a:lstStyle/>
          <a:p>
            <a:endParaRPr lang="en-US"/>
          </a:p>
        </p:txBody>
      </p:sp>
      <p:sp>
        <p:nvSpPr>
          <p:cNvPr id="27" name="Text 25"/>
          <p:cNvSpPr/>
          <p:nvPr/>
        </p:nvSpPr>
        <p:spPr>
          <a:xfrm>
            <a:off x="5010912" y="2313432"/>
            <a:ext cx="457200" cy="274320"/>
          </a:xfrm>
          <a:prstGeom prst="rect">
            <a:avLst/>
          </a:prstGeom>
          <a:noFill/>
          <a:ln/>
        </p:spPr>
        <p:txBody>
          <a:bodyPr wrap="square" lIns="0" tIns="0" rIns="0" bIns="0" rtlCol="0" anchor="ctr"/>
          <a:lstStyle/>
          <a:p>
            <a:pPr marL="0" indent="0">
              <a:buNone/>
            </a:pPr>
            <a:r>
              <a:rPr lang="en-US" sz="1600" b="1">
                <a:solidFill>
                  <a:srgbClr val="00C2C7"/>
                </a:solidFill>
                <a:latin typeface="Calibri" pitchFamily="34" charset="0"/>
                <a:ea typeface="Calibri" pitchFamily="34" charset="-122"/>
                <a:cs typeface="Calibri" pitchFamily="34" charset="-120"/>
              </a:rPr>
              <a:t>05</a:t>
            </a:r>
            <a:endParaRPr lang="en-US" sz="1600"/>
          </a:p>
        </p:txBody>
      </p:sp>
      <p:sp>
        <p:nvSpPr>
          <p:cNvPr id="28" name="Text 26"/>
          <p:cNvSpPr/>
          <p:nvPr/>
        </p:nvSpPr>
        <p:spPr>
          <a:xfrm>
            <a:off x="5010912" y="2606040"/>
            <a:ext cx="3749040" cy="274320"/>
          </a:xfrm>
          <a:prstGeom prst="rect">
            <a:avLst/>
          </a:prstGeom>
          <a:noFill/>
          <a:ln/>
        </p:spPr>
        <p:txBody>
          <a:bodyPr wrap="square" lIns="0" tIns="0" rIns="0" bIns="0" rtlCol="0" anchor="ctr"/>
          <a:lstStyle/>
          <a:p>
            <a:pPr marL="0" indent="0">
              <a:buNone/>
            </a:pPr>
            <a:r>
              <a:rPr lang="en-US" sz="1200" b="1">
                <a:solidFill>
                  <a:srgbClr val="1E293B"/>
                </a:solidFill>
                <a:latin typeface="Calibri" pitchFamily="34" charset="0"/>
                <a:ea typeface="Calibri" pitchFamily="34" charset="-122"/>
                <a:cs typeface="Calibri" pitchFamily="34" charset="-120"/>
              </a:rPr>
              <a:t>Iterative Agent Testing</a:t>
            </a:r>
            <a:endParaRPr lang="en-US" sz="1200"/>
          </a:p>
        </p:txBody>
      </p:sp>
      <p:sp>
        <p:nvSpPr>
          <p:cNvPr id="29" name="Text 27"/>
          <p:cNvSpPr/>
          <p:nvPr/>
        </p:nvSpPr>
        <p:spPr>
          <a:xfrm>
            <a:off x="5010912" y="2907792"/>
            <a:ext cx="3749040" cy="457200"/>
          </a:xfrm>
          <a:prstGeom prst="rect">
            <a:avLst/>
          </a:prstGeom>
          <a:noFill/>
          <a:ln/>
        </p:spPr>
        <p:txBody>
          <a:bodyPr wrap="square" lIns="0" tIns="0" rIns="0" bIns="0" rtlCol="0" anchor="ctr"/>
          <a:lstStyle/>
          <a:p>
            <a:pPr marL="0" indent="0">
              <a:buNone/>
            </a:pPr>
            <a:r>
              <a:rPr lang="en-US" sz="1000">
                <a:solidFill>
                  <a:srgbClr val="475569"/>
                </a:solidFill>
                <a:latin typeface="Calibri" pitchFamily="34" charset="0"/>
                <a:ea typeface="Calibri" pitchFamily="34" charset="-122"/>
                <a:cs typeface="Calibri" pitchFamily="34" charset="-120"/>
              </a:rPr>
              <a:t>ADK dev server + per-agent log files in SuperAgent/logs/agents/. Each agent validated independently before integration into SuperAgent.</a:t>
            </a:r>
            <a:endParaRPr lang="en-US" sz="1000"/>
          </a:p>
        </p:txBody>
      </p:sp>
      <p:sp>
        <p:nvSpPr>
          <p:cNvPr id="30" name="Shape 28"/>
          <p:cNvSpPr/>
          <p:nvPr/>
        </p:nvSpPr>
        <p:spPr>
          <a:xfrm>
            <a:off x="4846320" y="3566160"/>
            <a:ext cx="4114800" cy="118872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31" name="Shape 29"/>
          <p:cNvSpPr/>
          <p:nvPr/>
        </p:nvSpPr>
        <p:spPr>
          <a:xfrm>
            <a:off x="4846320" y="3566160"/>
            <a:ext cx="54864" cy="1188720"/>
          </a:xfrm>
          <a:prstGeom prst="rect">
            <a:avLst/>
          </a:prstGeom>
          <a:solidFill>
            <a:srgbClr val="00C2C7"/>
          </a:solidFill>
          <a:ln/>
        </p:spPr>
        <p:txBody>
          <a:bodyPr/>
          <a:lstStyle/>
          <a:p>
            <a:endParaRPr lang="en-US"/>
          </a:p>
        </p:txBody>
      </p:sp>
      <p:sp>
        <p:nvSpPr>
          <p:cNvPr id="32" name="Text 30"/>
          <p:cNvSpPr/>
          <p:nvPr/>
        </p:nvSpPr>
        <p:spPr>
          <a:xfrm>
            <a:off x="5010912" y="3639312"/>
            <a:ext cx="457200" cy="274320"/>
          </a:xfrm>
          <a:prstGeom prst="rect">
            <a:avLst/>
          </a:prstGeom>
          <a:noFill/>
          <a:ln/>
        </p:spPr>
        <p:txBody>
          <a:bodyPr wrap="square" lIns="0" tIns="0" rIns="0" bIns="0" rtlCol="0" anchor="ctr"/>
          <a:lstStyle/>
          <a:p>
            <a:pPr marL="0" indent="0">
              <a:buNone/>
            </a:pPr>
            <a:r>
              <a:rPr lang="en-US" sz="1600" b="1">
                <a:solidFill>
                  <a:srgbClr val="00C2C7"/>
                </a:solidFill>
                <a:latin typeface="Calibri" pitchFamily="34" charset="0"/>
                <a:ea typeface="Calibri" pitchFamily="34" charset="-122"/>
                <a:cs typeface="Calibri" pitchFamily="34" charset="-120"/>
              </a:rPr>
              <a:t>06</a:t>
            </a:r>
            <a:endParaRPr lang="en-US" sz="1600"/>
          </a:p>
        </p:txBody>
      </p:sp>
      <p:sp>
        <p:nvSpPr>
          <p:cNvPr id="33" name="Text 31"/>
          <p:cNvSpPr/>
          <p:nvPr/>
        </p:nvSpPr>
        <p:spPr>
          <a:xfrm>
            <a:off x="5010912" y="3931920"/>
            <a:ext cx="3749040" cy="274320"/>
          </a:xfrm>
          <a:prstGeom prst="rect">
            <a:avLst/>
          </a:prstGeom>
          <a:noFill/>
          <a:ln/>
        </p:spPr>
        <p:txBody>
          <a:bodyPr wrap="square" lIns="0" tIns="0" rIns="0" bIns="0" rtlCol="0" anchor="ctr"/>
          <a:lstStyle/>
          <a:p>
            <a:pPr marL="0" indent="0">
              <a:buNone/>
            </a:pPr>
            <a:r>
              <a:rPr lang="en-US" sz="1200" b="1">
                <a:solidFill>
                  <a:srgbClr val="1E293B"/>
                </a:solidFill>
                <a:latin typeface="Calibri" pitchFamily="34" charset="0"/>
                <a:ea typeface="Calibri" pitchFamily="34" charset="-122"/>
                <a:cs typeface="Calibri" pitchFamily="34" charset="-120"/>
              </a:rPr>
              <a:t>Spec-Driven Development</a:t>
            </a:r>
            <a:endParaRPr lang="en-US" sz="1200"/>
          </a:p>
        </p:txBody>
      </p:sp>
      <p:sp>
        <p:nvSpPr>
          <p:cNvPr id="34" name="Text 32"/>
          <p:cNvSpPr/>
          <p:nvPr/>
        </p:nvSpPr>
        <p:spPr>
          <a:xfrm>
            <a:off x="5010912" y="4233672"/>
            <a:ext cx="3749040" cy="457200"/>
          </a:xfrm>
          <a:prstGeom prst="rect">
            <a:avLst/>
          </a:prstGeom>
          <a:noFill/>
          <a:ln/>
        </p:spPr>
        <p:txBody>
          <a:bodyPr wrap="square" lIns="0" tIns="0" rIns="0" bIns="0" rtlCol="0" anchor="ctr"/>
          <a:lstStyle/>
          <a:p>
            <a:pPr marL="0" indent="0">
              <a:buNone/>
            </a:pPr>
            <a:r>
              <a:rPr lang="en-US" sz="1000">
                <a:solidFill>
                  <a:srgbClr val="475569"/>
                </a:solidFill>
                <a:latin typeface="Calibri" pitchFamily="34" charset="0"/>
                <a:ea typeface="Calibri" pitchFamily="34" charset="-122"/>
                <a:cs typeface="Calibri" pitchFamily="34" charset="-120"/>
              </a:rPr>
              <a:t>AGENTS.md and Openspec files defined tool contracts before implementation. Prevented agent drift — each agent knew exactly what to own and what not to touch.</a:t>
            </a:r>
            <a:endParaRPr lang="en-US" sz="1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0D1B3E"/>
        </a:solidFill>
        <a:effectLst/>
      </p:bgPr>
    </p:bg>
    <p:spTree>
      <p:nvGrpSpPr>
        <p:cNvPr id="1" name=""/>
        <p:cNvGrpSpPr/>
        <p:nvPr/>
      </p:nvGrpSpPr>
      <p:grpSpPr>
        <a:xfrm>
          <a:off x="0" y="0"/>
          <a:ext cx="0" cy="0"/>
          <a:chOff x="0" y="0"/>
          <a:chExt cx="0" cy="0"/>
        </a:xfrm>
      </p:grpSpPr>
      <p:sp>
        <p:nvSpPr>
          <p:cNvPr id="2" name="Text 0"/>
          <p:cNvSpPr/>
          <p:nvPr/>
        </p:nvSpPr>
        <p:spPr>
          <a:xfrm>
            <a:off x="8686800" y="4800600"/>
            <a:ext cx="365760" cy="228600"/>
          </a:xfrm>
          <a:prstGeom prst="rect">
            <a:avLst/>
          </a:prstGeom>
          <a:noFill/>
          <a:ln/>
        </p:spPr>
        <p:txBody>
          <a:bodyPr wrap="square" rtlCol="0" anchor="ctr"/>
          <a:lstStyle/>
          <a:p>
            <a:pPr marL="0" indent="0" algn="r">
              <a:buNone/>
            </a:pPr>
            <a:r>
              <a:rPr lang="en-US" sz="900">
                <a:solidFill>
                  <a:srgbClr val="94A3B8"/>
                </a:solidFill>
              </a:rPr>
              <a:t>9</a:t>
            </a:r>
            <a:endParaRPr lang="en-US" sz="900"/>
          </a:p>
        </p:txBody>
      </p:sp>
      <p:sp>
        <p:nvSpPr>
          <p:cNvPr id="3" name="Text 1"/>
          <p:cNvSpPr/>
          <p:nvPr/>
        </p:nvSpPr>
        <p:spPr>
          <a:xfrm>
            <a:off x="457200" y="182880"/>
            <a:ext cx="8229600" cy="457200"/>
          </a:xfrm>
          <a:prstGeom prst="rect">
            <a:avLst/>
          </a:prstGeom>
          <a:noFill/>
          <a:ln/>
        </p:spPr>
        <p:txBody>
          <a:bodyPr wrap="square" rtlCol="0" anchor="ctr"/>
          <a:lstStyle/>
          <a:p>
            <a:pPr marL="0" indent="0">
              <a:buNone/>
            </a:pPr>
            <a:r>
              <a:rPr lang="en-US" sz="2800" b="1">
                <a:solidFill>
                  <a:srgbClr val="FFFFFF"/>
                </a:solidFill>
                <a:latin typeface="Calibri" pitchFamily="34" charset="0"/>
                <a:ea typeface="Calibri" pitchFamily="34" charset="-122"/>
                <a:cs typeface="Calibri" pitchFamily="34" charset="-120"/>
              </a:rPr>
              <a:t>Research Foundation &amp; Grounding</a:t>
            </a:r>
            <a:endParaRPr lang="en-US" sz="2800"/>
          </a:p>
        </p:txBody>
      </p:sp>
      <p:sp>
        <p:nvSpPr>
          <p:cNvPr id="4" name="Shape 2"/>
          <p:cNvSpPr/>
          <p:nvPr/>
        </p:nvSpPr>
        <p:spPr>
          <a:xfrm>
            <a:off x="457200" y="685800"/>
            <a:ext cx="8229600" cy="54864"/>
          </a:xfrm>
          <a:prstGeom prst="rect">
            <a:avLst/>
          </a:prstGeom>
          <a:solidFill>
            <a:srgbClr val="00C2C7"/>
          </a:solidFill>
          <a:ln/>
        </p:spPr>
        <p:txBody>
          <a:bodyPr/>
          <a:lstStyle/>
          <a:p>
            <a:endParaRPr lang="en-US"/>
          </a:p>
        </p:txBody>
      </p:sp>
      <p:sp>
        <p:nvSpPr>
          <p:cNvPr id="5" name="Shape 3"/>
          <p:cNvSpPr/>
          <p:nvPr/>
        </p:nvSpPr>
        <p:spPr>
          <a:xfrm>
            <a:off x="457200" y="914400"/>
            <a:ext cx="2011680" cy="3931920"/>
          </a:xfrm>
          <a:prstGeom prst="rect">
            <a:avLst/>
          </a:prstGeom>
          <a:solidFill>
            <a:srgbClr val="102B5A"/>
          </a:solidFill>
          <a:ln/>
          <a:effectLst>
            <a:outerShdw blurRad="101600" dist="25400" dir="8100000" algn="bl" rotWithShape="0">
              <a:srgbClr val="000000">
                <a:alpha val="30000"/>
              </a:srgbClr>
            </a:outerShdw>
          </a:effectLst>
        </p:spPr>
        <p:txBody>
          <a:bodyPr/>
          <a:lstStyle/>
          <a:p>
            <a:endParaRPr lang="en-US"/>
          </a:p>
        </p:txBody>
      </p:sp>
      <p:sp>
        <p:nvSpPr>
          <p:cNvPr id="6" name="Shape 4"/>
          <p:cNvSpPr/>
          <p:nvPr/>
        </p:nvSpPr>
        <p:spPr>
          <a:xfrm>
            <a:off x="457200" y="914400"/>
            <a:ext cx="2011680" cy="64008"/>
          </a:xfrm>
          <a:prstGeom prst="rect">
            <a:avLst/>
          </a:prstGeom>
          <a:solidFill>
            <a:srgbClr val="028090"/>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188720" y="1097280"/>
            <a:ext cx="502920" cy="502920"/>
          </a:xfrm>
          <a:prstGeom prst="rect">
            <a:avLst/>
          </a:prstGeom>
        </p:spPr>
      </p:pic>
      <p:sp>
        <p:nvSpPr>
          <p:cNvPr id="8" name="Text 5"/>
          <p:cNvSpPr/>
          <p:nvPr/>
        </p:nvSpPr>
        <p:spPr>
          <a:xfrm>
            <a:off x="548640" y="1691640"/>
            <a:ext cx="1828800" cy="365760"/>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Google ADK</a:t>
            </a:r>
            <a:endParaRPr lang="en-US" sz="1300"/>
          </a:p>
        </p:txBody>
      </p:sp>
      <p:sp>
        <p:nvSpPr>
          <p:cNvPr id="9" name="Text 6"/>
          <p:cNvSpPr/>
          <p:nvPr/>
        </p:nvSpPr>
        <p:spPr>
          <a:xfrm>
            <a:off x="548640" y="2148840"/>
            <a:ext cx="1828800" cy="731520"/>
          </a:xfrm>
          <a:prstGeom prst="rect">
            <a:avLst/>
          </a:prstGeom>
          <a:noFill/>
          <a:ln/>
        </p:spPr>
        <p:txBody>
          <a:bodyPr wrap="square" lIns="0" tIns="0" rIns="0" bIns="0" rtlCol="0" anchor="ctr"/>
          <a:lstStyle/>
          <a:p>
            <a:pPr marL="0" indent="0">
              <a:buNone/>
            </a:pPr>
            <a:r>
              <a:rPr lang="en-US" sz="1000">
                <a:solidFill>
                  <a:srgbClr val="028090"/>
                </a:solidFill>
                <a:latin typeface="Calibri" pitchFamily="34" charset="0"/>
                <a:ea typeface="Calibri" pitchFamily="34" charset="-122"/>
                <a:cs typeface="Calibri" pitchFamily="34" charset="-120"/>
              </a:rPr>
              <a:t>· </a:t>
            </a:r>
            <a:r>
              <a:rPr lang="en-US" sz="1000">
                <a:solidFill>
                  <a:srgbClr val="E8F4F8"/>
                </a:solidFill>
                <a:latin typeface="Calibri" pitchFamily="34" charset="0"/>
                <a:ea typeface="Calibri" pitchFamily="34" charset="-122"/>
                <a:cs typeface="Calibri" pitchFamily="34" charset="-120"/>
              </a:rPr>
              <a:t>Native hierarchical agent orchestration</a:t>
            </a:r>
            <a:endParaRPr lang="en-US" sz="1000"/>
          </a:p>
        </p:txBody>
      </p:sp>
      <p:sp>
        <p:nvSpPr>
          <p:cNvPr id="10" name="Text 7"/>
          <p:cNvSpPr/>
          <p:nvPr/>
        </p:nvSpPr>
        <p:spPr>
          <a:xfrm>
            <a:off x="548640" y="2971800"/>
            <a:ext cx="1828800" cy="731520"/>
          </a:xfrm>
          <a:prstGeom prst="rect">
            <a:avLst/>
          </a:prstGeom>
          <a:noFill/>
          <a:ln/>
        </p:spPr>
        <p:txBody>
          <a:bodyPr wrap="square" lIns="0" tIns="0" rIns="0" bIns="0" rtlCol="0" anchor="ctr"/>
          <a:lstStyle/>
          <a:p>
            <a:pPr marL="0" indent="0">
              <a:buNone/>
            </a:pPr>
            <a:r>
              <a:rPr lang="en-US" sz="1000">
                <a:solidFill>
                  <a:srgbClr val="028090"/>
                </a:solidFill>
                <a:latin typeface="Calibri" pitchFamily="34" charset="0"/>
                <a:ea typeface="Calibri" pitchFamily="34" charset="-122"/>
                <a:cs typeface="Calibri" pitchFamily="34" charset="-120"/>
              </a:rPr>
              <a:t>· </a:t>
            </a:r>
            <a:r>
              <a:rPr lang="en-US" sz="1000">
                <a:solidFill>
                  <a:srgbClr val="E8F4F8"/>
                </a:solidFill>
                <a:latin typeface="Calibri" pitchFamily="34" charset="0"/>
                <a:ea typeface="Calibri" pitchFamily="34" charset="-122"/>
                <a:cs typeface="Calibri" pitchFamily="34" charset="-120"/>
              </a:rPr>
              <a:t>transfer_to_agent() as the primary delegation primitive</a:t>
            </a:r>
            <a:endParaRPr lang="en-US" sz="1000"/>
          </a:p>
        </p:txBody>
      </p:sp>
      <p:sp>
        <p:nvSpPr>
          <p:cNvPr id="11" name="Text 8"/>
          <p:cNvSpPr/>
          <p:nvPr/>
        </p:nvSpPr>
        <p:spPr>
          <a:xfrm>
            <a:off x="548640" y="3794760"/>
            <a:ext cx="1828800" cy="731520"/>
          </a:xfrm>
          <a:prstGeom prst="rect">
            <a:avLst/>
          </a:prstGeom>
          <a:noFill/>
          <a:ln/>
        </p:spPr>
        <p:txBody>
          <a:bodyPr wrap="square" lIns="0" tIns="0" rIns="0" bIns="0" rtlCol="0" anchor="ctr"/>
          <a:lstStyle/>
          <a:p>
            <a:pPr marL="0" indent="0">
              <a:buNone/>
            </a:pPr>
            <a:r>
              <a:rPr lang="en-US" sz="1000">
                <a:solidFill>
                  <a:srgbClr val="028090"/>
                </a:solidFill>
                <a:latin typeface="Calibri" pitchFamily="34" charset="0"/>
                <a:ea typeface="Calibri" pitchFamily="34" charset="-122"/>
                <a:cs typeface="Calibri" pitchFamily="34" charset="-120"/>
              </a:rPr>
              <a:t>· </a:t>
            </a:r>
            <a:r>
              <a:rPr lang="en-US" sz="1000">
                <a:solidFill>
                  <a:srgbClr val="E8F4F8"/>
                </a:solidFill>
                <a:latin typeface="Calibri" pitchFamily="34" charset="0"/>
                <a:ea typeface="Calibri" pitchFamily="34" charset="-122"/>
                <a:cs typeface="Calibri" pitchFamily="34" charset="-120"/>
              </a:rPr>
              <a:t>Session state shared across all agents without custom sync</a:t>
            </a:r>
            <a:endParaRPr lang="en-US" sz="1000"/>
          </a:p>
        </p:txBody>
      </p:sp>
      <p:sp>
        <p:nvSpPr>
          <p:cNvPr id="12" name="Shape 9"/>
          <p:cNvSpPr/>
          <p:nvPr/>
        </p:nvSpPr>
        <p:spPr>
          <a:xfrm>
            <a:off x="2651760" y="914400"/>
            <a:ext cx="2011680" cy="3931920"/>
          </a:xfrm>
          <a:prstGeom prst="rect">
            <a:avLst/>
          </a:prstGeom>
          <a:solidFill>
            <a:srgbClr val="102B5A"/>
          </a:solidFill>
          <a:ln/>
          <a:effectLst>
            <a:outerShdw blurRad="101600" dist="25400" dir="8100000" algn="bl" rotWithShape="0">
              <a:srgbClr val="000000">
                <a:alpha val="30000"/>
              </a:srgbClr>
            </a:outerShdw>
          </a:effectLst>
        </p:spPr>
        <p:txBody>
          <a:bodyPr/>
          <a:lstStyle/>
          <a:p>
            <a:endParaRPr lang="en-US"/>
          </a:p>
        </p:txBody>
      </p:sp>
      <p:sp>
        <p:nvSpPr>
          <p:cNvPr id="13" name="Shape 10"/>
          <p:cNvSpPr/>
          <p:nvPr/>
        </p:nvSpPr>
        <p:spPr>
          <a:xfrm>
            <a:off x="2651760" y="914400"/>
            <a:ext cx="2011680" cy="64008"/>
          </a:xfrm>
          <a:prstGeom prst="rect">
            <a:avLst/>
          </a:prstGeom>
          <a:solidFill>
            <a:srgbClr val="22D3A5"/>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3383280" y="1097280"/>
            <a:ext cx="502920" cy="502920"/>
          </a:xfrm>
          <a:prstGeom prst="rect">
            <a:avLst/>
          </a:prstGeom>
        </p:spPr>
      </p:pic>
      <p:sp>
        <p:nvSpPr>
          <p:cNvPr id="15" name="Text 11"/>
          <p:cNvSpPr/>
          <p:nvPr/>
        </p:nvSpPr>
        <p:spPr>
          <a:xfrm>
            <a:off x="2743200" y="1691640"/>
            <a:ext cx="1828800" cy="365760"/>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Cable/MSO Domain</a:t>
            </a:r>
            <a:endParaRPr lang="en-US" sz="1300"/>
          </a:p>
        </p:txBody>
      </p:sp>
      <p:sp>
        <p:nvSpPr>
          <p:cNvPr id="16" name="Text 12"/>
          <p:cNvSpPr/>
          <p:nvPr/>
        </p:nvSpPr>
        <p:spPr>
          <a:xfrm>
            <a:off x="2743200" y="2148840"/>
            <a:ext cx="1828800" cy="731520"/>
          </a:xfrm>
          <a:prstGeom prst="rect">
            <a:avLst/>
          </a:prstGeom>
          <a:noFill/>
          <a:ln/>
        </p:spPr>
        <p:txBody>
          <a:bodyPr wrap="square" lIns="0" tIns="0" rIns="0" bIns="0" rtlCol="0" anchor="ctr"/>
          <a:lstStyle/>
          <a:p>
            <a:pPr marL="0" indent="0">
              <a:buNone/>
            </a:pPr>
            <a:r>
              <a:rPr lang="en-US" sz="1000">
                <a:solidFill>
                  <a:srgbClr val="22D3A5"/>
                </a:solidFill>
                <a:latin typeface="Calibri" pitchFamily="34" charset="0"/>
                <a:ea typeface="Calibri" pitchFamily="34" charset="-122"/>
                <a:cs typeface="Calibri" pitchFamily="34" charset="-120"/>
              </a:rPr>
              <a:t>· </a:t>
            </a:r>
            <a:r>
              <a:rPr lang="en-US" sz="1000">
                <a:solidFill>
                  <a:srgbClr val="E8F4F8"/>
                </a:solidFill>
                <a:latin typeface="Calibri" pitchFamily="34" charset="0"/>
                <a:ea typeface="Calibri" pitchFamily="34" charset="-122"/>
                <a:cs typeface="Calibri" pitchFamily="34" charset="-120"/>
              </a:rPr>
              <a:t>Real Comcast B2B product taxonomy mapped to agents</a:t>
            </a:r>
            <a:endParaRPr lang="en-US" sz="1000"/>
          </a:p>
        </p:txBody>
      </p:sp>
      <p:sp>
        <p:nvSpPr>
          <p:cNvPr id="17" name="Text 13"/>
          <p:cNvSpPr/>
          <p:nvPr/>
        </p:nvSpPr>
        <p:spPr>
          <a:xfrm>
            <a:off x="2743200" y="2971800"/>
            <a:ext cx="1828800" cy="731520"/>
          </a:xfrm>
          <a:prstGeom prst="rect">
            <a:avLst/>
          </a:prstGeom>
          <a:noFill/>
          <a:ln/>
        </p:spPr>
        <p:txBody>
          <a:bodyPr wrap="square" lIns="0" tIns="0" rIns="0" bIns="0" rtlCol="0" anchor="ctr"/>
          <a:lstStyle/>
          <a:p>
            <a:pPr marL="0" indent="0">
              <a:buNone/>
            </a:pPr>
            <a:r>
              <a:rPr lang="en-US" sz="1000">
                <a:solidFill>
                  <a:srgbClr val="22D3A5"/>
                </a:solidFill>
                <a:latin typeface="Calibri" pitchFamily="34" charset="0"/>
                <a:ea typeface="Calibri" pitchFamily="34" charset="-122"/>
                <a:cs typeface="Calibri" pitchFamily="34" charset="-120"/>
              </a:rPr>
              <a:t>· </a:t>
            </a:r>
            <a:r>
              <a:rPr lang="en-US" sz="1000">
                <a:solidFill>
                  <a:srgbClr val="E8F4F8"/>
                </a:solidFill>
                <a:latin typeface="Calibri" pitchFamily="34" charset="0"/>
                <a:ea typeface="Calibri" pitchFamily="34" charset="-122"/>
                <a:cs typeface="Calibri" pitchFamily="34" charset="-120"/>
              </a:rPr>
              <a:t>Serviceability check mirrors actual BSS/OSS pre-sales flow</a:t>
            </a:r>
            <a:endParaRPr lang="en-US" sz="1000"/>
          </a:p>
        </p:txBody>
      </p:sp>
      <p:sp>
        <p:nvSpPr>
          <p:cNvPr id="18" name="Text 14"/>
          <p:cNvSpPr/>
          <p:nvPr/>
        </p:nvSpPr>
        <p:spPr>
          <a:xfrm>
            <a:off x="2743200" y="3794760"/>
            <a:ext cx="1828800" cy="731520"/>
          </a:xfrm>
          <a:prstGeom prst="rect">
            <a:avLst/>
          </a:prstGeom>
          <a:noFill/>
          <a:ln/>
        </p:spPr>
        <p:txBody>
          <a:bodyPr wrap="square" lIns="0" tIns="0" rIns="0" bIns="0" rtlCol="0" anchor="ctr"/>
          <a:lstStyle/>
          <a:p>
            <a:pPr marL="0" indent="0">
              <a:buNone/>
            </a:pPr>
            <a:r>
              <a:rPr lang="en-US" sz="1000">
                <a:solidFill>
                  <a:srgbClr val="22D3A5"/>
                </a:solidFill>
                <a:latin typeface="Calibri" pitchFamily="34" charset="0"/>
                <a:ea typeface="Calibri" pitchFamily="34" charset="-122"/>
                <a:cs typeface="Calibri" pitchFamily="34" charset="-120"/>
              </a:rPr>
              <a:t>· </a:t>
            </a:r>
            <a:r>
              <a:rPr lang="en-US" sz="1000">
                <a:solidFill>
                  <a:srgbClr val="E8F4F8"/>
                </a:solidFill>
                <a:latin typeface="Calibri" pitchFamily="34" charset="0"/>
                <a:ea typeface="Calibri" pitchFamily="34" charset="-122"/>
                <a:cs typeface="Calibri" pitchFamily="34" charset="-120"/>
              </a:rPr>
              <a:t>Pricing/discount logic mirrors real enterprise telco quoting</a:t>
            </a:r>
            <a:endParaRPr lang="en-US" sz="1000"/>
          </a:p>
        </p:txBody>
      </p:sp>
      <p:sp>
        <p:nvSpPr>
          <p:cNvPr id="19" name="Shape 15"/>
          <p:cNvSpPr/>
          <p:nvPr/>
        </p:nvSpPr>
        <p:spPr>
          <a:xfrm>
            <a:off x="4846320" y="914400"/>
            <a:ext cx="2011680" cy="3931920"/>
          </a:xfrm>
          <a:prstGeom prst="rect">
            <a:avLst/>
          </a:prstGeom>
          <a:solidFill>
            <a:srgbClr val="102B5A"/>
          </a:solidFill>
          <a:ln/>
          <a:effectLst>
            <a:outerShdw blurRad="101600" dist="25400" dir="8100000" algn="bl" rotWithShape="0">
              <a:srgbClr val="000000">
                <a:alpha val="30000"/>
              </a:srgbClr>
            </a:outerShdw>
          </a:effectLst>
        </p:spPr>
        <p:txBody>
          <a:bodyPr/>
          <a:lstStyle/>
          <a:p>
            <a:endParaRPr lang="en-US"/>
          </a:p>
        </p:txBody>
      </p:sp>
      <p:sp>
        <p:nvSpPr>
          <p:cNvPr id="20" name="Shape 16"/>
          <p:cNvSpPr/>
          <p:nvPr/>
        </p:nvSpPr>
        <p:spPr>
          <a:xfrm>
            <a:off x="4846320" y="914400"/>
            <a:ext cx="2011680" cy="64008"/>
          </a:xfrm>
          <a:prstGeom prst="rect">
            <a:avLst/>
          </a:prstGeom>
          <a:solidFill>
            <a:srgbClr val="F59E0B"/>
          </a:solidFill>
          <a:ln/>
        </p:spPr>
        <p:txBody>
          <a:bodyPr/>
          <a:lstStyle/>
          <a:p>
            <a:endParaRPr lang="en-US"/>
          </a:p>
        </p:txBody>
      </p:sp>
      <p:pic>
        <p:nvPicPr>
          <p:cNvPr id="21" name="Image 2" descr="preencoded.png"/>
          <p:cNvPicPr>
            <a:picLocks noChangeAspect="1"/>
          </p:cNvPicPr>
          <p:nvPr/>
        </p:nvPicPr>
        <p:blipFill>
          <a:blip r:embed="rId5"/>
          <a:stretch>
            <a:fillRect/>
          </a:stretch>
        </p:blipFill>
        <p:spPr>
          <a:xfrm>
            <a:off x="5577840" y="1097280"/>
            <a:ext cx="502920" cy="502920"/>
          </a:xfrm>
          <a:prstGeom prst="rect">
            <a:avLst/>
          </a:prstGeom>
        </p:spPr>
      </p:pic>
      <p:sp>
        <p:nvSpPr>
          <p:cNvPr id="22" name="Text 17"/>
          <p:cNvSpPr/>
          <p:nvPr/>
        </p:nvSpPr>
        <p:spPr>
          <a:xfrm>
            <a:off x="4937760" y="1691640"/>
            <a:ext cx="1828800" cy="365760"/>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Academic Grounding</a:t>
            </a:r>
            <a:endParaRPr lang="en-US" sz="1300"/>
          </a:p>
        </p:txBody>
      </p:sp>
      <p:sp>
        <p:nvSpPr>
          <p:cNvPr id="23" name="Text 18"/>
          <p:cNvSpPr/>
          <p:nvPr/>
        </p:nvSpPr>
        <p:spPr>
          <a:xfrm>
            <a:off x="4937760" y="2148840"/>
            <a:ext cx="1828800" cy="731520"/>
          </a:xfrm>
          <a:prstGeom prst="rect">
            <a:avLst/>
          </a:prstGeom>
          <a:noFill/>
          <a:ln/>
        </p:spPr>
        <p:txBody>
          <a:bodyPr wrap="square" lIns="0" tIns="0" rIns="0" bIns="0" rtlCol="0" anchor="ctr"/>
          <a:lstStyle/>
          <a:p>
            <a:pPr marL="0" indent="0">
              <a:buNone/>
            </a:pPr>
            <a:r>
              <a:rPr lang="en-US" sz="1000">
                <a:solidFill>
                  <a:srgbClr val="F59E0B"/>
                </a:solidFill>
                <a:latin typeface="Calibri" pitchFamily="34" charset="0"/>
                <a:ea typeface="Calibri" pitchFamily="34" charset="-122"/>
                <a:cs typeface="Calibri" pitchFamily="34" charset="-120"/>
              </a:rPr>
              <a:t>· </a:t>
            </a:r>
            <a:r>
              <a:rPr lang="en-US" sz="1000">
                <a:solidFill>
                  <a:srgbClr val="E8F4F8"/>
                </a:solidFill>
                <a:latin typeface="Calibri" pitchFamily="34" charset="0"/>
                <a:ea typeface="Calibri" pitchFamily="34" charset="-122"/>
                <a:cs typeface="Calibri" pitchFamily="34" charset="-120"/>
              </a:rPr>
              <a:t>Multi-agent LLM orchestration literature</a:t>
            </a:r>
            <a:endParaRPr lang="en-US" sz="1000"/>
          </a:p>
        </p:txBody>
      </p:sp>
      <p:sp>
        <p:nvSpPr>
          <p:cNvPr id="24" name="Text 19"/>
          <p:cNvSpPr/>
          <p:nvPr/>
        </p:nvSpPr>
        <p:spPr>
          <a:xfrm>
            <a:off x="4937760" y="2971800"/>
            <a:ext cx="1828800" cy="731520"/>
          </a:xfrm>
          <a:prstGeom prst="rect">
            <a:avLst/>
          </a:prstGeom>
          <a:noFill/>
          <a:ln/>
        </p:spPr>
        <p:txBody>
          <a:bodyPr wrap="square" lIns="0" tIns="0" rIns="0" bIns="0" rtlCol="0" anchor="ctr"/>
          <a:lstStyle/>
          <a:p>
            <a:pPr marL="0" indent="0">
              <a:buNone/>
            </a:pPr>
            <a:r>
              <a:rPr lang="en-US" sz="1000">
                <a:solidFill>
                  <a:srgbClr val="F59E0B"/>
                </a:solidFill>
                <a:latin typeface="Calibri" pitchFamily="34" charset="0"/>
                <a:ea typeface="Calibri" pitchFamily="34" charset="-122"/>
                <a:cs typeface="Calibri" pitchFamily="34" charset="-120"/>
              </a:rPr>
              <a:t>· </a:t>
            </a:r>
            <a:r>
              <a:rPr lang="en-US" sz="1000">
                <a:solidFill>
                  <a:srgbClr val="E8F4F8"/>
                </a:solidFill>
                <a:latin typeface="Calibri" pitchFamily="34" charset="0"/>
                <a:ea typeface="Calibri" pitchFamily="34" charset="-122"/>
                <a:cs typeface="Calibri" pitchFamily="34" charset="-120"/>
              </a:rPr>
              <a:t>Hierarchical decomposition patterns for domain-specific agents</a:t>
            </a:r>
            <a:endParaRPr lang="en-US" sz="1000"/>
          </a:p>
        </p:txBody>
      </p:sp>
      <p:sp>
        <p:nvSpPr>
          <p:cNvPr id="25" name="Text 20"/>
          <p:cNvSpPr/>
          <p:nvPr/>
        </p:nvSpPr>
        <p:spPr>
          <a:xfrm>
            <a:off x="4937760" y="3794760"/>
            <a:ext cx="1828800" cy="731520"/>
          </a:xfrm>
          <a:prstGeom prst="rect">
            <a:avLst/>
          </a:prstGeom>
          <a:noFill/>
          <a:ln/>
        </p:spPr>
        <p:txBody>
          <a:bodyPr wrap="square" lIns="0" tIns="0" rIns="0" bIns="0" rtlCol="0" anchor="ctr"/>
          <a:lstStyle/>
          <a:p>
            <a:pPr marL="0" indent="0">
              <a:buNone/>
            </a:pPr>
            <a:r>
              <a:rPr lang="en-US" sz="1000">
                <a:solidFill>
                  <a:srgbClr val="F59E0B"/>
                </a:solidFill>
                <a:latin typeface="Calibri" pitchFamily="34" charset="0"/>
                <a:ea typeface="Calibri" pitchFamily="34" charset="-122"/>
                <a:cs typeface="Calibri" pitchFamily="34" charset="-120"/>
              </a:rPr>
              <a:t>· </a:t>
            </a:r>
            <a:r>
              <a:rPr lang="en-US" sz="1000">
                <a:solidFill>
                  <a:srgbClr val="E8F4F8"/>
                </a:solidFill>
                <a:latin typeface="Calibri" pitchFamily="34" charset="0"/>
                <a:ea typeface="Calibri" pitchFamily="34" charset="-122"/>
                <a:cs typeface="Calibri" pitchFamily="34" charset="-120"/>
              </a:rPr>
              <a:t>Tool-augmented LLM reasoning</a:t>
            </a:r>
            <a:endParaRPr lang="en-US" sz="1000"/>
          </a:p>
        </p:txBody>
      </p:sp>
      <p:sp>
        <p:nvSpPr>
          <p:cNvPr id="26" name="Shape 21"/>
          <p:cNvSpPr/>
          <p:nvPr/>
        </p:nvSpPr>
        <p:spPr>
          <a:xfrm>
            <a:off x="7040880" y="914400"/>
            <a:ext cx="2011680" cy="3931920"/>
          </a:xfrm>
          <a:prstGeom prst="rect">
            <a:avLst/>
          </a:prstGeom>
          <a:solidFill>
            <a:srgbClr val="102B5A"/>
          </a:solidFill>
          <a:ln/>
          <a:effectLst>
            <a:outerShdw blurRad="101600" dist="25400" dir="8100000" algn="bl" rotWithShape="0">
              <a:srgbClr val="000000">
                <a:alpha val="30000"/>
              </a:srgbClr>
            </a:outerShdw>
          </a:effectLst>
        </p:spPr>
        <p:txBody>
          <a:bodyPr/>
          <a:lstStyle/>
          <a:p>
            <a:endParaRPr lang="en-US"/>
          </a:p>
        </p:txBody>
      </p:sp>
      <p:sp>
        <p:nvSpPr>
          <p:cNvPr id="27" name="Shape 22"/>
          <p:cNvSpPr/>
          <p:nvPr/>
        </p:nvSpPr>
        <p:spPr>
          <a:xfrm>
            <a:off x="7040880" y="914400"/>
            <a:ext cx="2011680" cy="64008"/>
          </a:xfrm>
          <a:prstGeom prst="rect">
            <a:avLst/>
          </a:prstGeom>
          <a:solidFill>
            <a:srgbClr val="C084FC"/>
          </a:solidFill>
          <a:ln/>
        </p:spPr>
        <p:txBody>
          <a:bodyPr/>
          <a:lstStyle/>
          <a:p>
            <a:endParaRPr lang="en-US"/>
          </a:p>
        </p:txBody>
      </p:sp>
      <p:pic>
        <p:nvPicPr>
          <p:cNvPr id="28" name="Image 3" descr="preencoded.png"/>
          <p:cNvPicPr>
            <a:picLocks noChangeAspect="1"/>
          </p:cNvPicPr>
          <p:nvPr/>
        </p:nvPicPr>
        <p:blipFill>
          <a:blip r:embed="rId6"/>
          <a:stretch>
            <a:fillRect/>
          </a:stretch>
        </p:blipFill>
        <p:spPr>
          <a:xfrm>
            <a:off x="7772400" y="1097280"/>
            <a:ext cx="502920" cy="502920"/>
          </a:xfrm>
          <a:prstGeom prst="rect">
            <a:avLst/>
          </a:prstGeom>
        </p:spPr>
      </p:pic>
      <p:sp>
        <p:nvSpPr>
          <p:cNvPr id="29" name="Text 23"/>
          <p:cNvSpPr/>
          <p:nvPr/>
        </p:nvSpPr>
        <p:spPr>
          <a:xfrm>
            <a:off x="7132320" y="1691640"/>
            <a:ext cx="1828800" cy="365760"/>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Gemini API / ADK Shell</a:t>
            </a:r>
            <a:endParaRPr lang="en-US" sz="1300"/>
          </a:p>
        </p:txBody>
      </p:sp>
      <p:sp>
        <p:nvSpPr>
          <p:cNvPr id="30" name="Text 24"/>
          <p:cNvSpPr/>
          <p:nvPr/>
        </p:nvSpPr>
        <p:spPr>
          <a:xfrm>
            <a:off x="7132320" y="2148840"/>
            <a:ext cx="1828800" cy="731520"/>
          </a:xfrm>
          <a:prstGeom prst="rect">
            <a:avLst/>
          </a:prstGeom>
          <a:noFill/>
          <a:ln/>
        </p:spPr>
        <p:txBody>
          <a:bodyPr wrap="square" lIns="0" tIns="0" rIns="0" bIns="0" rtlCol="0" anchor="ctr"/>
          <a:lstStyle/>
          <a:p>
            <a:pPr marL="0" indent="0">
              <a:buNone/>
            </a:pPr>
            <a:r>
              <a:rPr lang="en-US" sz="1000">
                <a:solidFill>
                  <a:srgbClr val="C084FC"/>
                </a:solidFill>
                <a:latin typeface="Calibri" pitchFamily="34" charset="0"/>
                <a:ea typeface="Calibri" pitchFamily="34" charset="-122"/>
                <a:cs typeface="Calibri" pitchFamily="34" charset="-120"/>
              </a:rPr>
              <a:t>· </a:t>
            </a:r>
            <a:r>
              <a:rPr lang="en-US" sz="1000">
                <a:solidFill>
                  <a:srgbClr val="E8F4F8"/>
                </a:solidFill>
                <a:latin typeface="Calibri" pitchFamily="34" charset="0"/>
                <a:ea typeface="Calibri" pitchFamily="34" charset="-122"/>
                <a:cs typeface="Calibri" pitchFamily="34" charset="-120"/>
              </a:rPr>
              <a:t>Gemini Flash for cost/speed tradeoff in production-grade use</a:t>
            </a:r>
            <a:endParaRPr lang="en-US" sz="1000"/>
          </a:p>
        </p:txBody>
      </p:sp>
      <p:sp>
        <p:nvSpPr>
          <p:cNvPr id="31" name="Text 25"/>
          <p:cNvSpPr/>
          <p:nvPr/>
        </p:nvSpPr>
        <p:spPr>
          <a:xfrm>
            <a:off x="7132320" y="2971800"/>
            <a:ext cx="1828800" cy="731520"/>
          </a:xfrm>
          <a:prstGeom prst="rect">
            <a:avLst/>
          </a:prstGeom>
          <a:noFill/>
          <a:ln/>
        </p:spPr>
        <p:txBody>
          <a:bodyPr wrap="square" lIns="0" tIns="0" rIns="0" bIns="0" rtlCol="0" anchor="ctr"/>
          <a:lstStyle/>
          <a:p>
            <a:pPr marL="0" indent="0">
              <a:buNone/>
            </a:pPr>
            <a:r>
              <a:rPr lang="en-US" sz="1000">
                <a:solidFill>
                  <a:srgbClr val="C084FC"/>
                </a:solidFill>
                <a:latin typeface="Calibri" pitchFamily="34" charset="0"/>
                <a:ea typeface="Calibri" pitchFamily="34" charset="-122"/>
                <a:cs typeface="Calibri" pitchFamily="34" charset="-120"/>
              </a:rPr>
              <a:t>· </a:t>
            </a:r>
            <a:r>
              <a:rPr lang="en-US" sz="1000">
                <a:solidFill>
                  <a:srgbClr val="E8F4F8"/>
                </a:solidFill>
                <a:latin typeface="Calibri" pitchFamily="34" charset="0"/>
                <a:ea typeface="Calibri" pitchFamily="34" charset="-122"/>
                <a:cs typeface="Calibri" pitchFamily="34" charset="-120"/>
              </a:rPr>
              <a:t>ADK shell provides CLI + dev server for rapid agent iteration</a:t>
            </a:r>
            <a:endParaRPr lang="en-US" sz="1000"/>
          </a:p>
        </p:txBody>
      </p:sp>
      <p:sp>
        <p:nvSpPr>
          <p:cNvPr id="32" name="Text 26"/>
          <p:cNvSpPr/>
          <p:nvPr/>
        </p:nvSpPr>
        <p:spPr>
          <a:xfrm>
            <a:off x="7132320" y="3794760"/>
            <a:ext cx="1828800" cy="731520"/>
          </a:xfrm>
          <a:prstGeom prst="rect">
            <a:avLst/>
          </a:prstGeom>
          <a:noFill/>
          <a:ln/>
        </p:spPr>
        <p:txBody>
          <a:bodyPr wrap="square" lIns="0" tIns="0" rIns="0" bIns="0" rtlCol="0" anchor="ctr"/>
          <a:lstStyle/>
          <a:p>
            <a:pPr marL="0" indent="0">
              <a:buNone/>
            </a:pPr>
            <a:r>
              <a:rPr lang="en-US" sz="1000">
                <a:solidFill>
                  <a:srgbClr val="C084FC"/>
                </a:solidFill>
                <a:latin typeface="Calibri" pitchFamily="34" charset="0"/>
                <a:ea typeface="Calibri" pitchFamily="34" charset="-122"/>
                <a:cs typeface="Calibri" pitchFamily="34" charset="-120"/>
              </a:rPr>
              <a:t>· </a:t>
            </a:r>
            <a:r>
              <a:rPr lang="en-US" sz="1000">
                <a:solidFill>
                  <a:srgbClr val="E8F4F8"/>
                </a:solidFill>
                <a:latin typeface="Calibri" pitchFamily="34" charset="0"/>
                <a:ea typeface="Calibri" pitchFamily="34" charset="-122"/>
                <a:cs typeface="Calibri" pitchFamily="34" charset="-120"/>
              </a:rPr>
              <a:t>Google AI Studio for prompt engineering and evals</a:t>
            </a:r>
            <a:endParaRPr lang="en-US" sz="1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0D1B3E"/>
        </a:solidFill>
        <a:effectLst/>
      </p:bgPr>
    </p:bg>
    <p:spTree>
      <p:nvGrpSpPr>
        <p:cNvPr id="1" name=""/>
        <p:cNvGrpSpPr/>
        <p:nvPr/>
      </p:nvGrpSpPr>
      <p:grpSpPr>
        <a:xfrm>
          <a:off x="0" y="0"/>
          <a:ext cx="0" cy="0"/>
          <a:chOff x="0" y="0"/>
          <a:chExt cx="0" cy="0"/>
        </a:xfrm>
      </p:grpSpPr>
      <p:sp>
        <p:nvSpPr>
          <p:cNvPr id="2" name="Text 0"/>
          <p:cNvSpPr/>
          <p:nvPr/>
        </p:nvSpPr>
        <p:spPr>
          <a:xfrm>
            <a:off x="8686800" y="4800600"/>
            <a:ext cx="365760" cy="228600"/>
          </a:xfrm>
          <a:prstGeom prst="rect">
            <a:avLst/>
          </a:prstGeom>
          <a:noFill/>
          <a:ln/>
        </p:spPr>
        <p:txBody>
          <a:bodyPr wrap="square" rtlCol="0" anchor="ctr"/>
          <a:lstStyle/>
          <a:p>
            <a:pPr marL="0" indent="0" algn="r">
              <a:buNone/>
            </a:pPr>
            <a:r>
              <a:rPr lang="en-US" sz="900">
                <a:solidFill>
                  <a:srgbClr val="94A3B8"/>
                </a:solidFill>
              </a:rPr>
              <a:t>11</a:t>
            </a:r>
            <a:endParaRPr lang="en-US" sz="900"/>
          </a:p>
        </p:txBody>
      </p:sp>
      <p:sp>
        <p:nvSpPr>
          <p:cNvPr id="3" name="Text 1"/>
          <p:cNvSpPr/>
          <p:nvPr/>
        </p:nvSpPr>
        <p:spPr>
          <a:xfrm>
            <a:off x="457200" y="182880"/>
            <a:ext cx="8229600" cy="457200"/>
          </a:xfrm>
          <a:prstGeom prst="rect">
            <a:avLst/>
          </a:prstGeom>
          <a:noFill/>
          <a:ln/>
        </p:spPr>
        <p:txBody>
          <a:bodyPr wrap="square" rtlCol="0" anchor="ctr"/>
          <a:lstStyle/>
          <a:p>
            <a:pPr marL="0" indent="0">
              <a:buNone/>
            </a:pPr>
            <a:r>
              <a:rPr lang="en-US" sz="2800" b="1">
                <a:solidFill>
                  <a:srgbClr val="FFFFFF"/>
                </a:solidFill>
                <a:latin typeface="Calibri" pitchFamily="34" charset="0"/>
                <a:ea typeface="Calibri" pitchFamily="34" charset="-122"/>
                <a:cs typeface="Calibri" pitchFamily="34" charset="-120"/>
              </a:rPr>
              <a:t>What This Means for Comcast</a:t>
            </a:r>
            <a:endParaRPr lang="en-US" sz="2800"/>
          </a:p>
        </p:txBody>
      </p:sp>
      <p:sp>
        <p:nvSpPr>
          <p:cNvPr id="4" name="Shape 2"/>
          <p:cNvSpPr/>
          <p:nvPr/>
        </p:nvSpPr>
        <p:spPr>
          <a:xfrm>
            <a:off x="457200" y="685800"/>
            <a:ext cx="8229600" cy="54864"/>
          </a:xfrm>
          <a:prstGeom prst="rect">
            <a:avLst/>
          </a:prstGeom>
          <a:solidFill>
            <a:srgbClr val="00C2C7"/>
          </a:solidFill>
          <a:ln/>
        </p:spPr>
        <p:txBody>
          <a:bodyPr/>
          <a:lstStyle/>
          <a:p>
            <a:endParaRPr lang="en-US"/>
          </a:p>
        </p:txBody>
      </p:sp>
      <p:sp>
        <p:nvSpPr>
          <p:cNvPr id="5" name="Shape 3"/>
          <p:cNvSpPr/>
          <p:nvPr/>
        </p:nvSpPr>
        <p:spPr>
          <a:xfrm>
            <a:off x="457200" y="822960"/>
            <a:ext cx="8229600" cy="777240"/>
          </a:xfrm>
          <a:prstGeom prst="rect">
            <a:avLst/>
          </a:prstGeom>
          <a:solidFill>
            <a:srgbClr val="0D3328"/>
          </a:solidFill>
          <a:ln/>
          <a:effectLst>
            <a:outerShdw blurRad="101600" dist="25400" dir="8100000" algn="bl" rotWithShape="0">
              <a:srgbClr val="000000">
                <a:alpha val="40000"/>
              </a:srgbClr>
            </a:outerShdw>
          </a:effectLst>
        </p:spPr>
        <p:txBody>
          <a:bodyPr/>
          <a:lstStyle/>
          <a:p>
            <a:endParaRPr lang="en-US"/>
          </a:p>
        </p:txBody>
      </p:sp>
      <p:sp>
        <p:nvSpPr>
          <p:cNvPr id="6" name="Shape 4"/>
          <p:cNvSpPr/>
          <p:nvPr/>
        </p:nvSpPr>
        <p:spPr>
          <a:xfrm>
            <a:off x="457200" y="822960"/>
            <a:ext cx="91440" cy="777240"/>
          </a:xfrm>
          <a:prstGeom prst="rect">
            <a:avLst/>
          </a:prstGeom>
          <a:solidFill>
            <a:srgbClr val="22D3A5"/>
          </a:solidFill>
          <a:ln/>
        </p:spPr>
        <p:txBody>
          <a:bodyPr/>
          <a:lstStyle/>
          <a:p>
            <a:endParaRPr lang="en-US"/>
          </a:p>
        </p:txBody>
      </p:sp>
      <p:sp>
        <p:nvSpPr>
          <p:cNvPr id="7" name="Text 5"/>
          <p:cNvSpPr/>
          <p:nvPr/>
        </p:nvSpPr>
        <p:spPr>
          <a:xfrm>
            <a:off x="685800" y="886968"/>
            <a:ext cx="7863840" cy="640080"/>
          </a:xfrm>
          <a:prstGeom prst="rect">
            <a:avLst/>
          </a:prstGeom>
          <a:noFill/>
          <a:ln/>
        </p:spPr>
        <p:txBody>
          <a:bodyPr wrap="square" rtlCol="0" anchor="ctr"/>
          <a:lstStyle/>
          <a:p>
            <a:pPr marL="0" indent="0">
              <a:buNone/>
            </a:pPr>
            <a:r>
              <a:rPr lang="en-US" sz="1200" b="1">
                <a:solidFill>
                  <a:srgbClr val="22D3A5"/>
                </a:solidFill>
                <a:latin typeface="Calibri" pitchFamily="34" charset="0"/>
                <a:ea typeface="Calibri" pitchFamily="34" charset="-122"/>
                <a:cs typeface="Calibri" pitchFamily="34" charset="-120"/>
              </a:rPr>
              <a:t>Immediate Fit: </a:t>
            </a:r>
            <a:r>
              <a:rPr lang="en-US" sz="1200">
                <a:solidFill>
                  <a:srgbClr val="E8F4F8"/>
                </a:solidFill>
                <a:latin typeface="Calibri" pitchFamily="34" charset="0"/>
                <a:ea typeface="Calibri" pitchFamily="34" charset="-122"/>
                <a:cs typeface="Calibri" pitchFamily="34" charset="-120"/>
              </a:rPr>
              <a:t>Comcast Business SMB segment — the exact profile this agent is designed for. Sub-100 employee businesses with multi-location needs, high churn from slow quoting cycles.</a:t>
            </a:r>
            <a:endParaRPr lang="en-US" sz="1200"/>
          </a:p>
        </p:txBody>
      </p:sp>
      <p:sp>
        <p:nvSpPr>
          <p:cNvPr id="8" name="Shape 6"/>
          <p:cNvSpPr/>
          <p:nvPr/>
        </p:nvSpPr>
        <p:spPr>
          <a:xfrm>
            <a:off x="457200" y="1783080"/>
            <a:ext cx="2743200" cy="1371600"/>
          </a:xfrm>
          <a:prstGeom prst="rect">
            <a:avLst/>
          </a:prstGeom>
          <a:solidFill>
            <a:srgbClr val="102B5A"/>
          </a:solidFill>
          <a:ln/>
          <a:effectLst>
            <a:outerShdw blurRad="101600" dist="25400" dir="8100000" algn="bl" rotWithShape="0">
              <a:srgbClr val="000000">
                <a:alpha val="30000"/>
              </a:srgbClr>
            </a:outerShdw>
          </a:effectLst>
        </p:spPr>
        <p:txBody>
          <a:bodyPr/>
          <a:lstStyle/>
          <a:p>
            <a:endParaRPr lang="en-US"/>
          </a:p>
        </p:txBody>
      </p:sp>
      <p:sp>
        <p:nvSpPr>
          <p:cNvPr id="9" name="Shape 7"/>
          <p:cNvSpPr/>
          <p:nvPr/>
        </p:nvSpPr>
        <p:spPr>
          <a:xfrm>
            <a:off x="457200" y="1783080"/>
            <a:ext cx="2743200" cy="54864"/>
          </a:xfrm>
          <a:prstGeom prst="rect">
            <a:avLst/>
          </a:prstGeom>
          <a:solidFill>
            <a:srgbClr val="22D3A5"/>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594360" y="1965960"/>
            <a:ext cx="384048" cy="384048"/>
          </a:xfrm>
          <a:prstGeom prst="rect">
            <a:avLst/>
          </a:prstGeom>
        </p:spPr>
      </p:pic>
      <p:sp>
        <p:nvSpPr>
          <p:cNvPr id="11" name="Text 8"/>
          <p:cNvSpPr/>
          <p:nvPr/>
        </p:nvSpPr>
        <p:spPr>
          <a:xfrm>
            <a:off x="1051560" y="1947672"/>
            <a:ext cx="2057400" cy="347472"/>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Churn Prediction Agent</a:t>
            </a:r>
            <a:endParaRPr lang="en-US" sz="1200"/>
          </a:p>
        </p:txBody>
      </p:sp>
      <p:sp>
        <p:nvSpPr>
          <p:cNvPr id="12" name="Text 9"/>
          <p:cNvSpPr/>
          <p:nvPr/>
        </p:nvSpPr>
        <p:spPr>
          <a:xfrm>
            <a:off x="566928" y="2441448"/>
            <a:ext cx="2523744" cy="640080"/>
          </a:xfrm>
          <a:prstGeom prst="rect">
            <a:avLst/>
          </a:prstGeom>
          <a:noFill/>
          <a:ln/>
        </p:spPr>
        <p:txBody>
          <a:bodyPr wrap="square" lIns="0" tIns="0" rIns="0" bIns="0" rtlCol="0" anchor="ctr"/>
          <a:lstStyle/>
          <a:p>
            <a:pPr marL="0" indent="0">
              <a:buNone/>
            </a:pPr>
            <a:r>
              <a:rPr lang="en-US" sz="1000">
                <a:solidFill>
                  <a:srgbClr val="E8F4F8"/>
                </a:solidFill>
                <a:latin typeface="Calibri" pitchFamily="34" charset="0"/>
                <a:ea typeface="Calibri" pitchFamily="34" charset="-122"/>
                <a:cs typeface="Calibri" pitchFamily="34" charset="-120"/>
              </a:rPr>
              <a:t>Sub-agent that flags at-risk accounts mid-conversation and proactively generates retention offers</a:t>
            </a:r>
            <a:endParaRPr lang="en-US" sz="1000"/>
          </a:p>
        </p:txBody>
      </p:sp>
      <p:sp>
        <p:nvSpPr>
          <p:cNvPr id="13" name="Shape 10"/>
          <p:cNvSpPr/>
          <p:nvPr/>
        </p:nvSpPr>
        <p:spPr>
          <a:xfrm>
            <a:off x="3337560" y="1783080"/>
            <a:ext cx="2743200" cy="1371600"/>
          </a:xfrm>
          <a:prstGeom prst="rect">
            <a:avLst/>
          </a:prstGeom>
          <a:solidFill>
            <a:srgbClr val="102B5A"/>
          </a:solidFill>
          <a:ln/>
          <a:effectLst>
            <a:outerShdw blurRad="101600" dist="25400" dir="8100000" algn="bl" rotWithShape="0">
              <a:srgbClr val="000000">
                <a:alpha val="30000"/>
              </a:srgbClr>
            </a:outerShdw>
          </a:effectLst>
        </p:spPr>
        <p:txBody>
          <a:bodyPr/>
          <a:lstStyle/>
          <a:p>
            <a:endParaRPr lang="en-US"/>
          </a:p>
        </p:txBody>
      </p:sp>
      <p:sp>
        <p:nvSpPr>
          <p:cNvPr id="14" name="Shape 11"/>
          <p:cNvSpPr/>
          <p:nvPr/>
        </p:nvSpPr>
        <p:spPr>
          <a:xfrm>
            <a:off x="3337560" y="1783080"/>
            <a:ext cx="2743200" cy="54864"/>
          </a:xfrm>
          <a:prstGeom prst="rect">
            <a:avLst/>
          </a:prstGeom>
          <a:solidFill>
            <a:srgbClr val="6366F1"/>
          </a:solidFill>
          <a:ln/>
        </p:spPr>
        <p:txBody>
          <a:bodyPr/>
          <a:lstStyle/>
          <a:p>
            <a:endParaRPr lang="en-US"/>
          </a:p>
        </p:txBody>
      </p:sp>
      <p:pic>
        <p:nvPicPr>
          <p:cNvPr id="15" name="Image 1" descr="preencoded.png"/>
          <p:cNvPicPr>
            <a:picLocks noChangeAspect="1"/>
          </p:cNvPicPr>
          <p:nvPr/>
        </p:nvPicPr>
        <p:blipFill>
          <a:blip r:embed="rId4"/>
          <a:stretch>
            <a:fillRect/>
          </a:stretch>
        </p:blipFill>
        <p:spPr>
          <a:xfrm>
            <a:off x="3474720" y="1965960"/>
            <a:ext cx="384048" cy="384048"/>
          </a:xfrm>
          <a:prstGeom prst="rect">
            <a:avLst/>
          </a:prstGeom>
        </p:spPr>
      </p:pic>
      <p:sp>
        <p:nvSpPr>
          <p:cNvPr id="16" name="Text 12"/>
          <p:cNvSpPr/>
          <p:nvPr/>
        </p:nvSpPr>
        <p:spPr>
          <a:xfrm>
            <a:off x="3931920" y="1947672"/>
            <a:ext cx="2057400" cy="347472"/>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CRM Integration Layer</a:t>
            </a:r>
            <a:endParaRPr lang="en-US" sz="1200"/>
          </a:p>
        </p:txBody>
      </p:sp>
      <p:sp>
        <p:nvSpPr>
          <p:cNvPr id="17" name="Text 13"/>
          <p:cNvSpPr/>
          <p:nvPr/>
        </p:nvSpPr>
        <p:spPr>
          <a:xfrm>
            <a:off x="3447288" y="2441448"/>
            <a:ext cx="2523744" cy="640080"/>
          </a:xfrm>
          <a:prstGeom prst="rect">
            <a:avLst/>
          </a:prstGeom>
          <a:noFill/>
          <a:ln/>
        </p:spPr>
        <p:txBody>
          <a:bodyPr wrap="square" lIns="0" tIns="0" rIns="0" bIns="0" rtlCol="0" anchor="ctr"/>
          <a:lstStyle/>
          <a:p>
            <a:pPr marL="0" indent="0">
              <a:buNone/>
            </a:pPr>
            <a:r>
              <a:rPr lang="en-US" sz="1000">
                <a:solidFill>
                  <a:srgbClr val="E8F4F8"/>
                </a:solidFill>
                <a:latin typeface="Calibri" pitchFamily="34" charset="0"/>
                <a:ea typeface="Calibri" pitchFamily="34" charset="-122"/>
                <a:cs typeface="Calibri" pitchFamily="34" charset="-120"/>
              </a:rPr>
              <a:t>Connect to </a:t>
            </a:r>
            <a:r>
              <a:rPr lang="en-US" sz="1000" err="1">
                <a:solidFill>
                  <a:srgbClr val="E8F4F8"/>
                </a:solidFill>
                <a:latin typeface="Calibri" pitchFamily="34" charset="0"/>
                <a:ea typeface="Calibri" pitchFamily="34" charset="-122"/>
                <a:cs typeface="Calibri" pitchFamily="34" charset="-120"/>
              </a:rPr>
              <a:t>Dynamicsvia</a:t>
            </a:r>
            <a:r>
              <a:rPr lang="en-US" sz="1000">
                <a:solidFill>
                  <a:srgbClr val="E8F4F8"/>
                </a:solidFill>
                <a:latin typeface="Calibri" pitchFamily="34" charset="0"/>
                <a:ea typeface="Calibri" pitchFamily="34" charset="-122"/>
                <a:cs typeface="Calibri" pitchFamily="34" charset="-120"/>
              </a:rPr>
              <a:t> MCP — auto-log every conversation turn as a CRM activity, zero rep effort</a:t>
            </a:r>
            <a:endParaRPr lang="en-US" sz="1000"/>
          </a:p>
        </p:txBody>
      </p:sp>
      <p:sp>
        <p:nvSpPr>
          <p:cNvPr id="18" name="Shape 14"/>
          <p:cNvSpPr/>
          <p:nvPr/>
        </p:nvSpPr>
        <p:spPr>
          <a:xfrm>
            <a:off x="6217920" y="1783080"/>
            <a:ext cx="2743200" cy="1371600"/>
          </a:xfrm>
          <a:prstGeom prst="rect">
            <a:avLst/>
          </a:prstGeom>
          <a:solidFill>
            <a:srgbClr val="102B5A"/>
          </a:solidFill>
          <a:ln/>
          <a:effectLst>
            <a:outerShdw blurRad="101600" dist="25400" dir="8100000" algn="bl" rotWithShape="0">
              <a:srgbClr val="000000">
                <a:alpha val="30000"/>
              </a:srgbClr>
            </a:outerShdw>
          </a:effectLst>
        </p:spPr>
        <p:txBody>
          <a:bodyPr/>
          <a:lstStyle/>
          <a:p>
            <a:endParaRPr lang="en-US"/>
          </a:p>
        </p:txBody>
      </p:sp>
      <p:sp>
        <p:nvSpPr>
          <p:cNvPr id="19" name="Shape 15"/>
          <p:cNvSpPr/>
          <p:nvPr/>
        </p:nvSpPr>
        <p:spPr>
          <a:xfrm>
            <a:off x="6217920" y="1783080"/>
            <a:ext cx="2743200" cy="54864"/>
          </a:xfrm>
          <a:prstGeom prst="rect">
            <a:avLst/>
          </a:prstGeom>
          <a:solidFill>
            <a:srgbClr val="F59E0B"/>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6355080" y="1965960"/>
            <a:ext cx="384048" cy="384048"/>
          </a:xfrm>
          <a:prstGeom prst="rect">
            <a:avLst/>
          </a:prstGeom>
        </p:spPr>
      </p:pic>
      <p:sp>
        <p:nvSpPr>
          <p:cNvPr id="21" name="Text 16"/>
          <p:cNvSpPr/>
          <p:nvPr/>
        </p:nvSpPr>
        <p:spPr>
          <a:xfrm>
            <a:off x="6812280" y="1947672"/>
            <a:ext cx="2057400" cy="347472"/>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Upsell Intelligence – using Sub Agents</a:t>
            </a:r>
            <a:endParaRPr lang="en-US" sz="1200"/>
          </a:p>
        </p:txBody>
      </p:sp>
      <p:sp>
        <p:nvSpPr>
          <p:cNvPr id="22" name="Text 17"/>
          <p:cNvSpPr/>
          <p:nvPr/>
        </p:nvSpPr>
        <p:spPr>
          <a:xfrm>
            <a:off x="6327648" y="2441448"/>
            <a:ext cx="2523744" cy="640080"/>
          </a:xfrm>
          <a:prstGeom prst="rect">
            <a:avLst/>
          </a:prstGeom>
          <a:noFill/>
          <a:ln/>
        </p:spPr>
        <p:txBody>
          <a:bodyPr wrap="square" lIns="0" tIns="0" rIns="0" bIns="0" rtlCol="0" anchor="ctr"/>
          <a:lstStyle/>
          <a:p>
            <a:pPr marL="0" indent="0">
              <a:buNone/>
            </a:pPr>
            <a:r>
              <a:rPr lang="en-US" sz="1000">
                <a:solidFill>
                  <a:srgbClr val="E8F4F8"/>
                </a:solidFill>
                <a:latin typeface="Calibri" pitchFamily="34" charset="0"/>
                <a:ea typeface="Calibri" pitchFamily="34" charset="-122"/>
                <a:cs typeface="Calibri" pitchFamily="34" charset="-120"/>
              </a:rPr>
              <a:t>Cross-agent signal: if Fulfillment sees 80% bandwidth utilization, trigger OfferMgmt for proactive upgrade quote</a:t>
            </a:r>
            <a:endParaRPr lang="en-US" sz="1000"/>
          </a:p>
        </p:txBody>
      </p:sp>
      <p:sp>
        <p:nvSpPr>
          <p:cNvPr id="23" name="Shape 18"/>
          <p:cNvSpPr/>
          <p:nvPr/>
        </p:nvSpPr>
        <p:spPr>
          <a:xfrm>
            <a:off x="457200" y="3291840"/>
            <a:ext cx="2743200" cy="1371600"/>
          </a:xfrm>
          <a:prstGeom prst="rect">
            <a:avLst/>
          </a:prstGeom>
          <a:solidFill>
            <a:srgbClr val="102B5A"/>
          </a:solidFill>
          <a:ln/>
          <a:effectLst>
            <a:outerShdw blurRad="101600" dist="25400" dir="8100000" algn="bl" rotWithShape="0">
              <a:srgbClr val="000000">
                <a:alpha val="30000"/>
              </a:srgbClr>
            </a:outerShdw>
          </a:effectLst>
        </p:spPr>
        <p:txBody>
          <a:bodyPr/>
          <a:lstStyle/>
          <a:p>
            <a:endParaRPr lang="en-US"/>
          </a:p>
        </p:txBody>
      </p:sp>
      <p:sp>
        <p:nvSpPr>
          <p:cNvPr id="24" name="Shape 19"/>
          <p:cNvSpPr/>
          <p:nvPr/>
        </p:nvSpPr>
        <p:spPr>
          <a:xfrm>
            <a:off x="457200" y="3291840"/>
            <a:ext cx="2743200" cy="54864"/>
          </a:xfrm>
          <a:prstGeom prst="rect">
            <a:avLst/>
          </a:prstGeom>
          <a:solidFill>
            <a:srgbClr val="EC4899"/>
          </a:solidFill>
          <a:ln/>
        </p:spPr>
        <p:txBody>
          <a:bodyPr/>
          <a:lstStyle/>
          <a:p>
            <a:endParaRPr lang="en-US"/>
          </a:p>
        </p:txBody>
      </p:sp>
      <p:pic>
        <p:nvPicPr>
          <p:cNvPr id="25" name="Image 3" descr="preencoded.png"/>
          <p:cNvPicPr>
            <a:picLocks noChangeAspect="1"/>
          </p:cNvPicPr>
          <p:nvPr/>
        </p:nvPicPr>
        <p:blipFill>
          <a:blip r:embed="rId6"/>
          <a:stretch>
            <a:fillRect/>
          </a:stretch>
        </p:blipFill>
        <p:spPr>
          <a:xfrm>
            <a:off x="594360" y="3474720"/>
            <a:ext cx="384048" cy="384048"/>
          </a:xfrm>
          <a:prstGeom prst="rect">
            <a:avLst/>
          </a:prstGeom>
        </p:spPr>
      </p:pic>
      <p:sp>
        <p:nvSpPr>
          <p:cNvPr id="26" name="Text 20"/>
          <p:cNvSpPr/>
          <p:nvPr/>
        </p:nvSpPr>
        <p:spPr>
          <a:xfrm>
            <a:off x="1051560" y="3456432"/>
            <a:ext cx="2057400" cy="347472"/>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RFP Response Generator</a:t>
            </a:r>
            <a:endParaRPr lang="en-US" sz="1200"/>
          </a:p>
        </p:txBody>
      </p:sp>
      <p:sp>
        <p:nvSpPr>
          <p:cNvPr id="27" name="Text 21"/>
          <p:cNvSpPr/>
          <p:nvPr/>
        </p:nvSpPr>
        <p:spPr>
          <a:xfrm>
            <a:off x="566928" y="3950208"/>
            <a:ext cx="2523744" cy="640080"/>
          </a:xfrm>
          <a:prstGeom prst="rect">
            <a:avLst/>
          </a:prstGeom>
          <a:noFill/>
          <a:ln/>
        </p:spPr>
        <p:txBody>
          <a:bodyPr wrap="square" lIns="0" tIns="0" rIns="0" bIns="0" rtlCol="0" anchor="ctr"/>
          <a:lstStyle/>
          <a:p>
            <a:pPr marL="0" indent="0">
              <a:buNone/>
            </a:pPr>
            <a:r>
              <a:rPr lang="en-US" sz="1000">
                <a:solidFill>
                  <a:srgbClr val="E8F4F8"/>
                </a:solidFill>
                <a:latin typeface="Calibri" pitchFamily="34" charset="0"/>
                <a:ea typeface="Calibri" pitchFamily="34" charset="-122"/>
                <a:cs typeface="Calibri" pitchFamily="34" charset="-120"/>
              </a:rPr>
              <a:t>Customer uploads an RFP PDF; agent generates a structured response using live product catalog + current pricing</a:t>
            </a:r>
            <a:endParaRPr lang="en-US" sz="1000"/>
          </a:p>
        </p:txBody>
      </p:sp>
      <p:sp>
        <p:nvSpPr>
          <p:cNvPr id="28" name="Shape 22"/>
          <p:cNvSpPr/>
          <p:nvPr/>
        </p:nvSpPr>
        <p:spPr>
          <a:xfrm>
            <a:off x="3337560" y="3291840"/>
            <a:ext cx="2743200" cy="1371600"/>
          </a:xfrm>
          <a:prstGeom prst="rect">
            <a:avLst/>
          </a:prstGeom>
          <a:solidFill>
            <a:srgbClr val="102B5A"/>
          </a:solidFill>
          <a:ln/>
          <a:effectLst>
            <a:outerShdw blurRad="101600" dist="25400" dir="8100000" algn="bl" rotWithShape="0">
              <a:srgbClr val="000000">
                <a:alpha val="30000"/>
              </a:srgbClr>
            </a:outerShdw>
          </a:effectLst>
        </p:spPr>
        <p:txBody>
          <a:bodyPr/>
          <a:lstStyle/>
          <a:p>
            <a:endParaRPr lang="en-US"/>
          </a:p>
        </p:txBody>
      </p:sp>
      <p:sp>
        <p:nvSpPr>
          <p:cNvPr id="29" name="Shape 23"/>
          <p:cNvSpPr/>
          <p:nvPr/>
        </p:nvSpPr>
        <p:spPr>
          <a:xfrm>
            <a:off x="3337560" y="3291840"/>
            <a:ext cx="2743200" cy="54864"/>
          </a:xfrm>
          <a:prstGeom prst="rect">
            <a:avLst/>
          </a:prstGeom>
          <a:solidFill>
            <a:srgbClr val="14B8A6"/>
          </a:solidFill>
          <a:ln/>
        </p:spPr>
        <p:txBody>
          <a:bodyPr/>
          <a:lstStyle/>
          <a:p>
            <a:endParaRPr lang="en-US"/>
          </a:p>
        </p:txBody>
      </p:sp>
      <p:pic>
        <p:nvPicPr>
          <p:cNvPr id="30" name="Image 4" descr="preencoded.png"/>
          <p:cNvPicPr>
            <a:picLocks noChangeAspect="1"/>
          </p:cNvPicPr>
          <p:nvPr/>
        </p:nvPicPr>
        <p:blipFill>
          <a:blip r:embed="rId7"/>
          <a:stretch>
            <a:fillRect/>
          </a:stretch>
        </p:blipFill>
        <p:spPr>
          <a:xfrm>
            <a:off x="3474720" y="3474720"/>
            <a:ext cx="384048" cy="384048"/>
          </a:xfrm>
          <a:prstGeom prst="rect">
            <a:avLst/>
          </a:prstGeom>
        </p:spPr>
      </p:pic>
      <p:sp>
        <p:nvSpPr>
          <p:cNvPr id="31" name="Text 24"/>
          <p:cNvSpPr/>
          <p:nvPr/>
        </p:nvSpPr>
        <p:spPr>
          <a:xfrm>
            <a:off x="3931920" y="3456432"/>
            <a:ext cx="2057400" cy="347472"/>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Multi-tenant Architecture</a:t>
            </a:r>
            <a:endParaRPr lang="en-US" sz="1200"/>
          </a:p>
        </p:txBody>
      </p:sp>
      <p:sp>
        <p:nvSpPr>
          <p:cNvPr id="32" name="Text 25"/>
          <p:cNvSpPr/>
          <p:nvPr/>
        </p:nvSpPr>
        <p:spPr>
          <a:xfrm>
            <a:off x="3447288" y="3950208"/>
            <a:ext cx="2523744" cy="640080"/>
          </a:xfrm>
          <a:prstGeom prst="rect">
            <a:avLst/>
          </a:prstGeom>
          <a:noFill/>
          <a:ln/>
        </p:spPr>
        <p:txBody>
          <a:bodyPr wrap="square" lIns="0" tIns="0" rIns="0" bIns="0" rtlCol="0" anchor="ctr"/>
          <a:lstStyle/>
          <a:p>
            <a:pPr marL="0" indent="0">
              <a:buNone/>
            </a:pPr>
            <a:r>
              <a:rPr lang="en-US" sz="1000">
                <a:solidFill>
                  <a:srgbClr val="E8F4F8"/>
                </a:solidFill>
                <a:latin typeface="Calibri" pitchFamily="34" charset="0"/>
                <a:ea typeface="Calibri" pitchFamily="34" charset="-122"/>
                <a:cs typeface="Calibri" pitchFamily="34" charset="-120"/>
              </a:rPr>
              <a:t>Namespace agents per market segment (SMB vs Enterprise vs Wholesale) — same orchestration pattern, different policy layers</a:t>
            </a:r>
            <a:endParaRPr lang="en-US" sz="1000"/>
          </a:p>
        </p:txBody>
      </p:sp>
      <p:sp>
        <p:nvSpPr>
          <p:cNvPr id="33" name="Shape 26"/>
          <p:cNvSpPr/>
          <p:nvPr/>
        </p:nvSpPr>
        <p:spPr>
          <a:xfrm>
            <a:off x="6217920" y="3291840"/>
            <a:ext cx="2743200" cy="1371600"/>
          </a:xfrm>
          <a:prstGeom prst="rect">
            <a:avLst/>
          </a:prstGeom>
          <a:solidFill>
            <a:srgbClr val="102B5A"/>
          </a:solidFill>
          <a:ln/>
          <a:effectLst>
            <a:outerShdw blurRad="101600" dist="25400" dir="8100000" algn="bl" rotWithShape="0">
              <a:srgbClr val="000000">
                <a:alpha val="30000"/>
              </a:srgbClr>
            </a:outerShdw>
          </a:effectLst>
        </p:spPr>
        <p:txBody>
          <a:bodyPr/>
          <a:lstStyle/>
          <a:p>
            <a:endParaRPr lang="en-US"/>
          </a:p>
        </p:txBody>
      </p:sp>
      <p:sp>
        <p:nvSpPr>
          <p:cNvPr id="34" name="Shape 27"/>
          <p:cNvSpPr/>
          <p:nvPr/>
        </p:nvSpPr>
        <p:spPr>
          <a:xfrm>
            <a:off x="6217920" y="3291840"/>
            <a:ext cx="2743200" cy="54864"/>
          </a:xfrm>
          <a:prstGeom prst="rect">
            <a:avLst/>
          </a:prstGeom>
          <a:solidFill>
            <a:srgbClr val="FB923C"/>
          </a:solidFill>
          <a:ln/>
        </p:spPr>
        <p:txBody>
          <a:bodyPr/>
          <a:lstStyle/>
          <a:p>
            <a:endParaRPr lang="en-US"/>
          </a:p>
        </p:txBody>
      </p:sp>
      <p:pic>
        <p:nvPicPr>
          <p:cNvPr id="35" name="Image 5" descr="preencoded.png"/>
          <p:cNvPicPr>
            <a:picLocks noChangeAspect="1"/>
          </p:cNvPicPr>
          <p:nvPr/>
        </p:nvPicPr>
        <p:blipFill>
          <a:blip r:embed="rId8"/>
          <a:stretch>
            <a:fillRect/>
          </a:stretch>
        </p:blipFill>
        <p:spPr>
          <a:xfrm>
            <a:off x="6355080" y="3474720"/>
            <a:ext cx="384048" cy="384048"/>
          </a:xfrm>
          <a:prstGeom prst="rect">
            <a:avLst/>
          </a:prstGeom>
        </p:spPr>
      </p:pic>
      <p:sp>
        <p:nvSpPr>
          <p:cNvPr id="36" name="Text 28"/>
          <p:cNvSpPr/>
          <p:nvPr/>
        </p:nvSpPr>
        <p:spPr>
          <a:xfrm>
            <a:off x="6812280" y="3456432"/>
            <a:ext cx="2057400" cy="347472"/>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SRE / NOC Agent Variant</a:t>
            </a:r>
            <a:endParaRPr lang="en-US" sz="1200"/>
          </a:p>
        </p:txBody>
      </p:sp>
      <p:sp>
        <p:nvSpPr>
          <p:cNvPr id="37" name="Text 29"/>
          <p:cNvSpPr/>
          <p:nvPr/>
        </p:nvSpPr>
        <p:spPr>
          <a:xfrm>
            <a:off x="6327648" y="3950208"/>
            <a:ext cx="2523744" cy="640080"/>
          </a:xfrm>
          <a:prstGeom prst="rect">
            <a:avLst/>
          </a:prstGeom>
          <a:noFill/>
          <a:ln/>
        </p:spPr>
        <p:txBody>
          <a:bodyPr wrap="square" lIns="0" tIns="0" rIns="0" bIns="0" rtlCol="0" anchor="ctr"/>
          <a:lstStyle/>
          <a:p>
            <a:pPr marL="0" indent="0">
              <a:buNone/>
            </a:pPr>
            <a:r>
              <a:rPr lang="en-US" sz="1000">
                <a:solidFill>
                  <a:srgbClr val="E8F4F8"/>
                </a:solidFill>
                <a:latin typeface="Calibri" pitchFamily="34" charset="0"/>
                <a:ea typeface="Calibri" pitchFamily="34" charset="-122"/>
                <a:cs typeface="Calibri" pitchFamily="34" charset="-120"/>
              </a:rPr>
              <a:t>Reuse SuperAgent pattern for internal ops: customer reports outage → DiscoveryAgent → ServiceFulfillment → ticket auto-generated</a:t>
            </a:r>
            <a:endParaRPr lang="en-US" sz="1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F6FA"/>
        </a:solidFill>
        <a:effectLst/>
      </p:bgPr>
    </p:bg>
    <p:spTree>
      <p:nvGrpSpPr>
        <p:cNvPr id="1" name=""/>
        <p:cNvGrpSpPr/>
        <p:nvPr/>
      </p:nvGrpSpPr>
      <p:grpSpPr>
        <a:xfrm>
          <a:off x="0" y="0"/>
          <a:ext cx="0" cy="0"/>
          <a:chOff x="0" y="0"/>
          <a:chExt cx="0" cy="0"/>
        </a:xfrm>
      </p:grpSpPr>
      <p:sp>
        <p:nvSpPr>
          <p:cNvPr id="2" name="Shape 0"/>
          <p:cNvSpPr/>
          <p:nvPr/>
        </p:nvSpPr>
        <p:spPr>
          <a:xfrm>
            <a:off x="452534" y="737113"/>
            <a:ext cx="8325706" cy="54864"/>
          </a:xfrm>
          <a:prstGeom prst="rect">
            <a:avLst/>
          </a:prstGeom>
          <a:solidFill>
            <a:srgbClr val="3B82F6"/>
          </a:solidFill>
          <a:ln/>
        </p:spPr>
        <p:txBody>
          <a:bodyPr/>
          <a:lstStyle/>
          <a:p>
            <a:endParaRPr lang="en-US"/>
          </a:p>
        </p:txBody>
      </p:sp>
      <p:sp>
        <p:nvSpPr>
          <p:cNvPr id="3" name="Text 1"/>
          <p:cNvSpPr/>
          <p:nvPr/>
        </p:nvSpPr>
        <p:spPr>
          <a:xfrm>
            <a:off x="410547" y="223003"/>
            <a:ext cx="8691465" cy="502920"/>
          </a:xfrm>
          <a:prstGeom prst="rect">
            <a:avLst/>
          </a:prstGeom>
          <a:noFill/>
          <a:ln/>
        </p:spPr>
        <p:txBody>
          <a:bodyPr wrap="square" lIns="0" tIns="0" rIns="0" bIns="0" rtlCol="0" anchor="ctr"/>
          <a:lstStyle/>
          <a:p>
            <a:r>
              <a:rPr lang="en-US" sz="2800" b="1">
                <a:latin typeface="Calibri" pitchFamily="34" charset="0"/>
                <a:ea typeface="Calibri" pitchFamily="34" charset="-122"/>
                <a:cs typeface="Calibri" pitchFamily="34" charset="-120"/>
              </a:rPr>
              <a:t>What This Means for Telecom +</a:t>
            </a:r>
            <a:endParaRPr lang="en-US" sz="2800"/>
          </a:p>
        </p:txBody>
      </p:sp>
      <p:sp>
        <p:nvSpPr>
          <p:cNvPr id="4" name="Text 2"/>
          <p:cNvSpPr/>
          <p:nvPr/>
        </p:nvSpPr>
        <p:spPr>
          <a:xfrm>
            <a:off x="7772400" y="4754880"/>
            <a:ext cx="1097280" cy="274320"/>
          </a:xfrm>
          <a:prstGeom prst="rect">
            <a:avLst/>
          </a:prstGeom>
          <a:noFill/>
          <a:ln/>
        </p:spPr>
        <p:txBody>
          <a:bodyPr wrap="square" rtlCol="0" anchor="ctr"/>
          <a:lstStyle/>
          <a:p>
            <a:pPr marL="0" indent="0" algn="r">
              <a:buNone/>
            </a:pPr>
            <a:r>
              <a:rPr lang="en-US" sz="900">
                <a:solidFill>
                  <a:srgbClr val="64748B"/>
                </a:solidFill>
                <a:latin typeface="Calibri" pitchFamily="34" charset="0"/>
                <a:ea typeface="Calibri" pitchFamily="34" charset="-122"/>
                <a:cs typeface="Calibri" pitchFamily="34" charset="-120"/>
              </a:rPr>
              <a:t>5 / 21</a:t>
            </a:r>
            <a:endParaRPr lang="en-US" sz="900"/>
          </a:p>
        </p:txBody>
      </p:sp>
      <p:sp>
        <p:nvSpPr>
          <p:cNvPr id="6" name="Shape 4"/>
          <p:cNvSpPr/>
          <p:nvPr/>
        </p:nvSpPr>
        <p:spPr>
          <a:xfrm>
            <a:off x="457200" y="1143000"/>
            <a:ext cx="4023360" cy="10058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7" name="Shape 5"/>
          <p:cNvSpPr/>
          <p:nvPr/>
        </p:nvSpPr>
        <p:spPr>
          <a:xfrm>
            <a:off x="457200" y="1143000"/>
            <a:ext cx="45720" cy="1005840"/>
          </a:xfrm>
          <a:prstGeom prst="rect">
            <a:avLst/>
          </a:prstGeom>
          <a:solidFill>
            <a:srgbClr val="3B82F6"/>
          </a:solidFill>
          <a:ln/>
        </p:spPr>
        <p:txBody>
          <a:bodyPr/>
          <a:lstStyle/>
          <a:p>
            <a:endParaRPr lang="en-US"/>
          </a:p>
        </p:txBody>
      </p:sp>
      <p:pic>
        <p:nvPicPr>
          <p:cNvPr id="8" name="Image 0" descr="preencoded.png"/>
          <p:cNvPicPr>
            <a:picLocks noChangeAspect="1"/>
          </p:cNvPicPr>
          <p:nvPr/>
        </p:nvPicPr>
        <p:blipFill>
          <a:blip r:embed="rId2"/>
          <a:stretch>
            <a:fillRect/>
          </a:stretch>
        </p:blipFill>
        <p:spPr>
          <a:xfrm>
            <a:off x="640080" y="1325880"/>
            <a:ext cx="274320" cy="274320"/>
          </a:xfrm>
          <a:prstGeom prst="rect">
            <a:avLst/>
          </a:prstGeom>
        </p:spPr>
      </p:pic>
      <p:sp>
        <p:nvSpPr>
          <p:cNvPr id="9" name="Text 6"/>
          <p:cNvSpPr/>
          <p:nvPr/>
        </p:nvSpPr>
        <p:spPr>
          <a:xfrm>
            <a:off x="1005840" y="1280160"/>
            <a:ext cx="3291840" cy="274320"/>
          </a:xfrm>
          <a:prstGeom prst="rect">
            <a:avLst/>
          </a:prstGeom>
          <a:noFill/>
          <a:ln/>
        </p:spPr>
        <p:txBody>
          <a:bodyPr wrap="square" lIns="0" tIns="0" rIns="0" bIns="0" rtlCol="0" anchor="ctr"/>
          <a:lstStyle/>
          <a:p>
            <a:pPr marL="0" indent="0">
              <a:buNone/>
            </a:pPr>
            <a:r>
              <a:rPr lang="en-US" sz="1200" b="1">
                <a:solidFill>
                  <a:srgbClr val="1E293B"/>
                </a:solidFill>
                <a:latin typeface="Trebuchet MS" pitchFamily="34" charset="0"/>
                <a:ea typeface="Trebuchet MS" pitchFamily="34" charset="-122"/>
                <a:cs typeface="Trebuchet MS" pitchFamily="34" charset="-120"/>
              </a:rPr>
              <a:t>Massive Market Opportunity</a:t>
            </a:r>
            <a:endParaRPr lang="en-US" sz="1200"/>
          </a:p>
        </p:txBody>
      </p:sp>
      <p:sp>
        <p:nvSpPr>
          <p:cNvPr id="10" name="Text 7"/>
          <p:cNvSpPr/>
          <p:nvPr/>
        </p:nvSpPr>
        <p:spPr>
          <a:xfrm>
            <a:off x="640080" y="1645920"/>
            <a:ext cx="3657600" cy="411480"/>
          </a:xfrm>
          <a:prstGeom prst="rect">
            <a:avLst/>
          </a:prstGeom>
          <a:noFill/>
          <a:ln/>
        </p:spPr>
        <p:txBody>
          <a:bodyPr wrap="square" lIns="0" tIns="0" rIns="0" bIns="0" rtlCol="0" anchor="ctr"/>
          <a:lstStyle/>
          <a:p>
            <a:pPr marL="0" indent="0">
              <a:buNone/>
            </a:pPr>
            <a:r>
              <a:rPr lang="en-US" sz="950">
                <a:solidFill>
                  <a:srgbClr val="64748B"/>
                </a:solidFill>
                <a:latin typeface="Calibri" pitchFamily="34" charset="0"/>
                <a:ea typeface="Calibri" pitchFamily="34" charset="-122"/>
                <a:cs typeface="Calibri" pitchFamily="34" charset="-120"/>
              </a:rPr>
              <a:t>Global telecom market is ~$1.7 trillion. Every major provider employs thousands of inside sales reps doing similar workflows.</a:t>
            </a:r>
            <a:endParaRPr lang="en-US" sz="950"/>
          </a:p>
        </p:txBody>
      </p:sp>
      <p:sp>
        <p:nvSpPr>
          <p:cNvPr id="11" name="Shape 8"/>
          <p:cNvSpPr/>
          <p:nvPr/>
        </p:nvSpPr>
        <p:spPr>
          <a:xfrm>
            <a:off x="4754880" y="1143000"/>
            <a:ext cx="4023360" cy="10058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2" name="Shape 9"/>
          <p:cNvSpPr/>
          <p:nvPr/>
        </p:nvSpPr>
        <p:spPr>
          <a:xfrm>
            <a:off x="4754880" y="1143000"/>
            <a:ext cx="45720" cy="1005840"/>
          </a:xfrm>
          <a:prstGeom prst="rect">
            <a:avLst/>
          </a:prstGeom>
          <a:solidFill>
            <a:srgbClr val="8B5CF6"/>
          </a:solidFill>
          <a:ln/>
        </p:spPr>
        <p:txBody>
          <a:bodyPr/>
          <a:lstStyle/>
          <a:p>
            <a:endParaRPr lang="en-US"/>
          </a:p>
        </p:txBody>
      </p:sp>
      <p:pic>
        <p:nvPicPr>
          <p:cNvPr id="13" name="Image 1" descr="preencoded.png"/>
          <p:cNvPicPr>
            <a:picLocks noChangeAspect="1"/>
          </p:cNvPicPr>
          <p:nvPr/>
        </p:nvPicPr>
        <p:blipFill>
          <a:blip r:embed="rId3"/>
          <a:stretch>
            <a:fillRect/>
          </a:stretch>
        </p:blipFill>
        <p:spPr>
          <a:xfrm>
            <a:off x="4937760" y="1325880"/>
            <a:ext cx="274320" cy="274320"/>
          </a:xfrm>
          <a:prstGeom prst="rect">
            <a:avLst/>
          </a:prstGeom>
        </p:spPr>
      </p:pic>
      <p:sp>
        <p:nvSpPr>
          <p:cNvPr id="14" name="Text 10"/>
          <p:cNvSpPr/>
          <p:nvPr/>
        </p:nvSpPr>
        <p:spPr>
          <a:xfrm>
            <a:off x="5303520" y="1280160"/>
            <a:ext cx="3291840" cy="274320"/>
          </a:xfrm>
          <a:prstGeom prst="rect">
            <a:avLst/>
          </a:prstGeom>
          <a:noFill/>
          <a:ln/>
        </p:spPr>
        <p:txBody>
          <a:bodyPr wrap="square" lIns="0" tIns="0" rIns="0" bIns="0" rtlCol="0" anchor="ctr"/>
          <a:lstStyle/>
          <a:p>
            <a:pPr marL="0" indent="0">
              <a:buNone/>
            </a:pPr>
            <a:r>
              <a:rPr lang="en-US" sz="1200" b="1">
                <a:solidFill>
                  <a:srgbClr val="1E293B"/>
                </a:solidFill>
                <a:latin typeface="Trebuchet MS" pitchFamily="34" charset="0"/>
                <a:ea typeface="Trebuchet MS" pitchFamily="34" charset="-122"/>
                <a:cs typeface="Trebuchet MS" pitchFamily="34" charset="-120"/>
              </a:rPr>
              <a:t>Sales Cycle: Weeks to Minutes</a:t>
            </a:r>
            <a:endParaRPr lang="en-US" sz="1200"/>
          </a:p>
        </p:txBody>
      </p:sp>
      <p:sp>
        <p:nvSpPr>
          <p:cNvPr id="15" name="Text 11"/>
          <p:cNvSpPr/>
          <p:nvPr/>
        </p:nvSpPr>
        <p:spPr>
          <a:xfrm>
            <a:off x="4937760" y="1645920"/>
            <a:ext cx="3657600" cy="411480"/>
          </a:xfrm>
          <a:prstGeom prst="rect">
            <a:avLst/>
          </a:prstGeom>
          <a:noFill/>
          <a:ln/>
        </p:spPr>
        <p:txBody>
          <a:bodyPr wrap="square" lIns="0" tIns="0" rIns="0" bIns="0" rtlCol="0" anchor="ctr"/>
          <a:lstStyle/>
          <a:p>
            <a:r>
              <a:rPr lang="en-US" sz="950">
                <a:solidFill>
                  <a:srgbClr val="64748B"/>
                </a:solidFill>
                <a:latin typeface="Calibri" pitchFamily="34" charset="0"/>
                <a:ea typeface="Calibri" pitchFamily="34" charset="-122"/>
                <a:cs typeface="Calibri" pitchFamily="34" charset="-120"/>
              </a:rPr>
              <a:t>The full sales cycle — from prospect to signed, paid order — completes in a single conversation. No human rep picks up the phone. </a:t>
            </a:r>
          </a:p>
          <a:p>
            <a:endParaRPr lang="en-US" sz="950"/>
          </a:p>
        </p:txBody>
      </p:sp>
      <p:sp>
        <p:nvSpPr>
          <p:cNvPr id="16" name="Shape 12"/>
          <p:cNvSpPr/>
          <p:nvPr/>
        </p:nvSpPr>
        <p:spPr>
          <a:xfrm>
            <a:off x="457200" y="2286000"/>
            <a:ext cx="4023360" cy="10058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7" name="Shape 13"/>
          <p:cNvSpPr/>
          <p:nvPr/>
        </p:nvSpPr>
        <p:spPr>
          <a:xfrm>
            <a:off x="457200" y="2286000"/>
            <a:ext cx="45720" cy="1005840"/>
          </a:xfrm>
          <a:prstGeom prst="rect">
            <a:avLst/>
          </a:prstGeom>
          <a:solidFill>
            <a:srgbClr val="06B6D4"/>
          </a:solidFill>
          <a:ln/>
        </p:spPr>
        <p:txBody>
          <a:bodyPr/>
          <a:lstStyle/>
          <a:p>
            <a:endParaRPr lang="en-US"/>
          </a:p>
        </p:txBody>
      </p:sp>
      <p:pic>
        <p:nvPicPr>
          <p:cNvPr id="18" name="Image 2" descr="preencoded.png"/>
          <p:cNvPicPr>
            <a:picLocks noChangeAspect="1"/>
          </p:cNvPicPr>
          <p:nvPr/>
        </p:nvPicPr>
        <p:blipFill>
          <a:blip r:embed="rId4"/>
          <a:stretch>
            <a:fillRect/>
          </a:stretch>
        </p:blipFill>
        <p:spPr>
          <a:xfrm>
            <a:off x="640080" y="2468880"/>
            <a:ext cx="274320" cy="274320"/>
          </a:xfrm>
          <a:prstGeom prst="rect">
            <a:avLst/>
          </a:prstGeom>
        </p:spPr>
      </p:pic>
      <p:sp>
        <p:nvSpPr>
          <p:cNvPr id="19" name="Text 14"/>
          <p:cNvSpPr/>
          <p:nvPr/>
        </p:nvSpPr>
        <p:spPr>
          <a:xfrm>
            <a:off x="1005840" y="2423160"/>
            <a:ext cx="3291840" cy="274320"/>
          </a:xfrm>
          <a:prstGeom prst="rect">
            <a:avLst/>
          </a:prstGeom>
          <a:noFill/>
          <a:ln/>
        </p:spPr>
        <p:txBody>
          <a:bodyPr wrap="square" lIns="0" tIns="0" rIns="0" bIns="0" rtlCol="0" anchor="ctr"/>
          <a:lstStyle/>
          <a:p>
            <a:pPr marL="0" indent="0">
              <a:buNone/>
            </a:pPr>
            <a:r>
              <a:rPr lang="en-US" sz="1200" b="1">
                <a:solidFill>
                  <a:srgbClr val="1E293B"/>
                </a:solidFill>
                <a:latin typeface="Trebuchet MS" pitchFamily="34" charset="0"/>
                <a:ea typeface="Trebuchet MS" pitchFamily="34" charset="-122"/>
                <a:cs typeface="Trebuchet MS" pitchFamily="34" charset="-120"/>
              </a:rPr>
              <a:t>Scales Without Headcount</a:t>
            </a:r>
            <a:endParaRPr lang="en-US" sz="1200"/>
          </a:p>
        </p:txBody>
      </p:sp>
      <p:sp>
        <p:nvSpPr>
          <p:cNvPr id="20" name="Text 15"/>
          <p:cNvSpPr/>
          <p:nvPr/>
        </p:nvSpPr>
        <p:spPr>
          <a:xfrm>
            <a:off x="640080" y="2788920"/>
            <a:ext cx="3657600" cy="411480"/>
          </a:xfrm>
          <a:prstGeom prst="rect">
            <a:avLst/>
          </a:prstGeom>
          <a:noFill/>
          <a:ln/>
        </p:spPr>
        <p:txBody>
          <a:bodyPr wrap="square" lIns="0" tIns="0" rIns="0" bIns="0" rtlCol="0" anchor="ctr"/>
          <a:lstStyle/>
          <a:p>
            <a:pPr marL="0" indent="0">
              <a:buNone/>
            </a:pPr>
            <a:r>
              <a:rPr lang="en-US" sz="950">
                <a:solidFill>
                  <a:srgbClr val="64748B"/>
                </a:solidFill>
                <a:latin typeface="Calibri" pitchFamily="34" charset="0"/>
                <a:ea typeface="Calibri" pitchFamily="34" charset="-122"/>
                <a:cs typeface="Calibri" pitchFamily="34" charset="-120"/>
              </a:rPr>
              <a:t>System handles 10,000 concurrent B2B prospect conversations with no additional headcount. Smaller ISPs gain capability that only large enterprises could previously afford.</a:t>
            </a:r>
            <a:endParaRPr lang="en-US" sz="950"/>
          </a:p>
        </p:txBody>
      </p:sp>
      <p:sp>
        <p:nvSpPr>
          <p:cNvPr id="21" name="Shape 16"/>
          <p:cNvSpPr/>
          <p:nvPr/>
        </p:nvSpPr>
        <p:spPr>
          <a:xfrm>
            <a:off x="4754880" y="2286000"/>
            <a:ext cx="4023360" cy="10058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22" name="Shape 17"/>
          <p:cNvSpPr/>
          <p:nvPr/>
        </p:nvSpPr>
        <p:spPr>
          <a:xfrm>
            <a:off x="4754880" y="2286000"/>
            <a:ext cx="45720" cy="1005840"/>
          </a:xfrm>
          <a:prstGeom prst="rect">
            <a:avLst/>
          </a:prstGeom>
          <a:solidFill>
            <a:srgbClr val="10B981"/>
          </a:solidFill>
          <a:ln/>
        </p:spPr>
        <p:txBody>
          <a:bodyPr/>
          <a:lstStyle/>
          <a:p>
            <a:endParaRPr lang="en-US"/>
          </a:p>
        </p:txBody>
      </p:sp>
      <p:pic>
        <p:nvPicPr>
          <p:cNvPr id="23" name="Image 3" descr="preencoded.png"/>
          <p:cNvPicPr>
            <a:picLocks noChangeAspect="1"/>
          </p:cNvPicPr>
          <p:nvPr/>
        </p:nvPicPr>
        <p:blipFill>
          <a:blip r:embed="rId5"/>
          <a:stretch>
            <a:fillRect/>
          </a:stretch>
        </p:blipFill>
        <p:spPr>
          <a:xfrm>
            <a:off x="4937760" y="2468880"/>
            <a:ext cx="274320" cy="274320"/>
          </a:xfrm>
          <a:prstGeom prst="rect">
            <a:avLst/>
          </a:prstGeom>
        </p:spPr>
      </p:pic>
      <p:sp>
        <p:nvSpPr>
          <p:cNvPr id="24" name="Text 18"/>
          <p:cNvSpPr/>
          <p:nvPr/>
        </p:nvSpPr>
        <p:spPr>
          <a:xfrm>
            <a:off x="5303520" y="2423160"/>
            <a:ext cx="3291840" cy="274320"/>
          </a:xfrm>
          <a:prstGeom prst="rect">
            <a:avLst/>
          </a:prstGeom>
          <a:noFill/>
          <a:ln/>
        </p:spPr>
        <p:txBody>
          <a:bodyPr wrap="square" lIns="0" tIns="0" rIns="0" bIns="0" rtlCol="0" anchor="ctr"/>
          <a:lstStyle/>
          <a:p>
            <a:pPr marL="0" indent="0">
              <a:buNone/>
            </a:pPr>
            <a:r>
              <a:rPr lang="en-US" sz="1200" b="1">
                <a:solidFill>
                  <a:srgbClr val="1E293B"/>
                </a:solidFill>
                <a:latin typeface="Trebuchet MS" pitchFamily="34" charset="0"/>
                <a:ea typeface="Trebuchet MS" pitchFamily="34" charset="-122"/>
                <a:cs typeface="Trebuchet MS" pitchFamily="34" charset="-120"/>
              </a:rPr>
              <a:t>Architecture Is Generalizable</a:t>
            </a:r>
            <a:endParaRPr lang="en-US" sz="1200"/>
          </a:p>
        </p:txBody>
      </p:sp>
      <p:sp>
        <p:nvSpPr>
          <p:cNvPr id="25" name="Text 19"/>
          <p:cNvSpPr/>
          <p:nvPr/>
        </p:nvSpPr>
        <p:spPr>
          <a:xfrm>
            <a:off x="4937760" y="2788920"/>
            <a:ext cx="3657600" cy="411480"/>
          </a:xfrm>
          <a:prstGeom prst="rect">
            <a:avLst/>
          </a:prstGeom>
          <a:noFill/>
          <a:ln/>
        </p:spPr>
        <p:txBody>
          <a:bodyPr wrap="square" lIns="0" tIns="0" rIns="0" bIns="0" rtlCol="0" anchor="ctr"/>
          <a:lstStyle/>
          <a:p>
            <a:pPr marL="0" indent="0">
              <a:buNone/>
            </a:pPr>
            <a:r>
              <a:rPr lang="en-US" sz="950" err="1">
                <a:solidFill>
                  <a:srgbClr val="64748B"/>
                </a:solidFill>
                <a:latin typeface="Calibri" pitchFamily="34" charset="0"/>
                <a:ea typeface="Calibri" pitchFamily="34" charset="-122"/>
                <a:cs typeface="Calibri" pitchFamily="34" charset="-120"/>
              </a:rPr>
              <a:t>SuperAgent</a:t>
            </a:r>
            <a:r>
              <a:rPr lang="en-US" sz="950">
                <a:solidFill>
                  <a:srgbClr val="64748B"/>
                </a:solidFill>
                <a:latin typeface="Calibri" pitchFamily="34" charset="0"/>
                <a:ea typeface="Calibri" pitchFamily="34" charset="-122"/>
                <a:cs typeface="Calibri" pitchFamily="34" charset="-120"/>
              </a:rPr>
              <a:t> / Sub-Agent hierarchical orchestration applies to any multi-step workflow: insurance quoting, healthcare enrollment, commercial real estate leasing, banking loan origination.</a:t>
            </a:r>
            <a:endParaRPr lang="en-US" sz="950"/>
          </a:p>
        </p:txBody>
      </p:sp>
      <p:sp>
        <p:nvSpPr>
          <p:cNvPr id="26" name="Shape 20"/>
          <p:cNvSpPr/>
          <p:nvPr/>
        </p:nvSpPr>
        <p:spPr>
          <a:xfrm>
            <a:off x="2836373" y="3566160"/>
            <a:ext cx="4023360" cy="10058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27" name="Shape 21"/>
          <p:cNvSpPr/>
          <p:nvPr/>
        </p:nvSpPr>
        <p:spPr>
          <a:xfrm>
            <a:off x="2836373" y="3566160"/>
            <a:ext cx="45720" cy="1005840"/>
          </a:xfrm>
          <a:prstGeom prst="rect">
            <a:avLst/>
          </a:prstGeom>
          <a:solidFill>
            <a:srgbClr val="F59E0B"/>
          </a:solidFill>
          <a:ln/>
        </p:spPr>
        <p:txBody>
          <a:bodyPr/>
          <a:lstStyle/>
          <a:p>
            <a:endParaRPr lang="en-US"/>
          </a:p>
        </p:txBody>
      </p:sp>
      <p:pic>
        <p:nvPicPr>
          <p:cNvPr id="28" name="Image 4" descr="preencoded.png"/>
          <p:cNvPicPr>
            <a:picLocks noChangeAspect="1"/>
          </p:cNvPicPr>
          <p:nvPr/>
        </p:nvPicPr>
        <p:blipFill>
          <a:blip r:embed="rId6"/>
          <a:stretch>
            <a:fillRect/>
          </a:stretch>
        </p:blipFill>
        <p:spPr>
          <a:xfrm>
            <a:off x="3019253" y="3749040"/>
            <a:ext cx="274320" cy="274320"/>
          </a:xfrm>
          <a:prstGeom prst="rect">
            <a:avLst/>
          </a:prstGeom>
        </p:spPr>
      </p:pic>
      <p:sp>
        <p:nvSpPr>
          <p:cNvPr id="29" name="Text 22"/>
          <p:cNvSpPr/>
          <p:nvPr/>
        </p:nvSpPr>
        <p:spPr>
          <a:xfrm>
            <a:off x="3385013" y="3703320"/>
            <a:ext cx="3291840" cy="274320"/>
          </a:xfrm>
          <a:prstGeom prst="rect">
            <a:avLst/>
          </a:prstGeom>
          <a:noFill/>
          <a:ln/>
        </p:spPr>
        <p:txBody>
          <a:bodyPr wrap="square" lIns="0" tIns="0" rIns="0" bIns="0" rtlCol="0" anchor="ctr"/>
          <a:lstStyle/>
          <a:p>
            <a:pPr marL="0" indent="0">
              <a:buNone/>
            </a:pPr>
            <a:r>
              <a:rPr lang="en-US" sz="1200" b="1">
                <a:solidFill>
                  <a:srgbClr val="1E293B"/>
                </a:solidFill>
                <a:latin typeface="Trebuchet MS" pitchFamily="34" charset="0"/>
                <a:ea typeface="Trebuchet MS" pitchFamily="34" charset="-122"/>
                <a:cs typeface="Trebuchet MS" pitchFamily="34" charset="-120"/>
              </a:rPr>
              <a:t>Eliminates Human Error</a:t>
            </a:r>
            <a:endParaRPr lang="en-US" sz="1200"/>
          </a:p>
        </p:txBody>
      </p:sp>
      <p:sp>
        <p:nvSpPr>
          <p:cNvPr id="30" name="Text 23"/>
          <p:cNvSpPr/>
          <p:nvPr/>
        </p:nvSpPr>
        <p:spPr>
          <a:xfrm>
            <a:off x="3019253" y="4069080"/>
            <a:ext cx="3657600" cy="411480"/>
          </a:xfrm>
          <a:prstGeom prst="rect">
            <a:avLst/>
          </a:prstGeom>
          <a:noFill/>
          <a:ln/>
        </p:spPr>
        <p:txBody>
          <a:bodyPr wrap="square" lIns="0" tIns="0" rIns="0" bIns="0" rtlCol="0" anchor="ctr"/>
          <a:lstStyle/>
          <a:p>
            <a:pPr marL="0" indent="0">
              <a:buNone/>
            </a:pPr>
            <a:r>
              <a:rPr lang="en-US" sz="950">
                <a:solidFill>
                  <a:srgbClr val="64748B"/>
                </a:solidFill>
                <a:latin typeface="Calibri" pitchFamily="34" charset="0"/>
                <a:cs typeface="Calibri" pitchFamily="34" charset="-120"/>
              </a:rPr>
              <a:t>All critical values (addresses, zip codes, prices, order IDs) come from deterministic Python tools. LLM reasoning never generates facts. No place  for data entry error.</a:t>
            </a:r>
            <a:endParaRPr lang="en-US" sz="95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51414" y="732280"/>
            <a:ext cx="8229600" cy="54864"/>
          </a:xfrm>
          <a:prstGeom prst="rect">
            <a:avLst/>
          </a:prstGeom>
          <a:solidFill>
            <a:srgbClr val="3B82F6"/>
          </a:solidFill>
          <a:ln/>
        </p:spPr>
        <p:txBody>
          <a:bodyPr/>
          <a:lstStyle/>
          <a:p>
            <a:endParaRPr lang="en-US"/>
          </a:p>
        </p:txBody>
      </p:sp>
      <p:sp>
        <p:nvSpPr>
          <p:cNvPr id="3" name="Text 1"/>
          <p:cNvSpPr/>
          <p:nvPr/>
        </p:nvSpPr>
        <p:spPr>
          <a:xfrm>
            <a:off x="451414" y="242316"/>
            <a:ext cx="7863840" cy="502920"/>
          </a:xfrm>
          <a:prstGeom prst="rect">
            <a:avLst/>
          </a:prstGeom>
          <a:noFill/>
          <a:ln/>
        </p:spPr>
        <p:txBody>
          <a:bodyPr wrap="square" lIns="0" tIns="0" rIns="0" bIns="0" rtlCol="0" anchor="ctr"/>
          <a:lstStyle/>
          <a:p>
            <a:pPr marL="0" indent="0">
              <a:buNone/>
            </a:pPr>
            <a:r>
              <a:rPr lang="en-US" sz="2600" b="1">
                <a:solidFill>
                  <a:srgbClr val="1E293B"/>
                </a:solidFill>
                <a:ea typeface="Trebuchet MS" pitchFamily="34" charset="-122"/>
                <a:cs typeface="Trebuchet MS" pitchFamily="34" charset="-120"/>
              </a:rPr>
              <a:t>Work Completed</a:t>
            </a:r>
            <a:endParaRPr lang="en-US" sz="2600"/>
          </a:p>
        </p:txBody>
      </p:sp>
      <p:sp>
        <p:nvSpPr>
          <p:cNvPr id="4" name="Text 2"/>
          <p:cNvSpPr/>
          <p:nvPr/>
        </p:nvSpPr>
        <p:spPr>
          <a:xfrm>
            <a:off x="7772400" y="4754880"/>
            <a:ext cx="1097280" cy="274320"/>
          </a:xfrm>
          <a:prstGeom prst="rect">
            <a:avLst/>
          </a:prstGeom>
          <a:noFill/>
          <a:ln/>
        </p:spPr>
        <p:txBody>
          <a:bodyPr wrap="square" rtlCol="0" anchor="ctr"/>
          <a:lstStyle/>
          <a:p>
            <a:pPr marL="0" indent="0" algn="r">
              <a:buNone/>
            </a:pPr>
            <a:r>
              <a:rPr lang="en-US" sz="900">
                <a:solidFill>
                  <a:srgbClr val="64748B"/>
                </a:solidFill>
                <a:latin typeface="Calibri" pitchFamily="34" charset="0"/>
                <a:ea typeface="Calibri" pitchFamily="34" charset="-122"/>
                <a:cs typeface="Calibri" pitchFamily="34" charset="-120"/>
              </a:rPr>
              <a:t>15 / 17</a:t>
            </a:r>
            <a:endParaRPr lang="en-US" sz="900"/>
          </a:p>
        </p:txBody>
      </p:sp>
      <p:sp>
        <p:nvSpPr>
          <p:cNvPr id="5" name="Shape 3"/>
          <p:cNvSpPr/>
          <p:nvPr/>
        </p:nvSpPr>
        <p:spPr>
          <a:xfrm>
            <a:off x="457200" y="914400"/>
            <a:ext cx="3993502" cy="30175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6" name="Shape 4"/>
          <p:cNvSpPr/>
          <p:nvPr/>
        </p:nvSpPr>
        <p:spPr>
          <a:xfrm rot="16200000">
            <a:off x="-1039057" y="2419235"/>
            <a:ext cx="3017520" cy="36576"/>
          </a:xfrm>
          <a:prstGeom prst="rect">
            <a:avLst/>
          </a:prstGeom>
          <a:solidFill>
            <a:srgbClr val="10B981"/>
          </a:solidFill>
          <a:ln/>
        </p:spPr>
        <p:txBody>
          <a:bodyPr/>
          <a:lstStyle/>
          <a:p>
            <a:endParaRPr lang="en-US"/>
          </a:p>
        </p:txBody>
      </p:sp>
      <p:sp>
        <p:nvSpPr>
          <p:cNvPr id="7" name="Text 5"/>
          <p:cNvSpPr/>
          <p:nvPr/>
        </p:nvSpPr>
        <p:spPr>
          <a:xfrm>
            <a:off x="640080" y="1051560"/>
            <a:ext cx="3566160" cy="274320"/>
          </a:xfrm>
          <a:prstGeom prst="rect">
            <a:avLst/>
          </a:prstGeom>
          <a:noFill/>
          <a:ln/>
        </p:spPr>
        <p:txBody>
          <a:bodyPr wrap="square" lIns="0" tIns="0" rIns="0" bIns="0" rtlCol="0" anchor="ctr"/>
          <a:lstStyle/>
          <a:p>
            <a:pPr marL="0" indent="0">
              <a:buNone/>
            </a:pPr>
            <a:r>
              <a:rPr lang="en-US" sz="1400" b="1">
                <a:solidFill>
                  <a:srgbClr val="10B981"/>
                </a:solidFill>
                <a:latin typeface="Trebuchet MS" pitchFamily="34" charset="0"/>
              </a:rPr>
              <a:t>Winter</a:t>
            </a:r>
            <a:endParaRPr lang="en-US" sz="1400"/>
          </a:p>
        </p:txBody>
      </p:sp>
      <p:sp>
        <p:nvSpPr>
          <p:cNvPr id="8" name="Shape 6"/>
          <p:cNvSpPr/>
          <p:nvPr/>
        </p:nvSpPr>
        <p:spPr>
          <a:xfrm>
            <a:off x="685800" y="1515043"/>
            <a:ext cx="109728" cy="109728"/>
          </a:xfrm>
          <a:prstGeom prst="ellipse">
            <a:avLst/>
          </a:prstGeom>
          <a:solidFill>
            <a:srgbClr val="10B981"/>
          </a:solidFill>
          <a:ln/>
        </p:spPr>
        <p:txBody>
          <a:bodyPr/>
          <a:lstStyle/>
          <a:p>
            <a:endParaRPr lang="en-US"/>
          </a:p>
        </p:txBody>
      </p:sp>
      <p:sp>
        <p:nvSpPr>
          <p:cNvPr id="9" name="Text 7"/>
          <p:cNvSpPr/>
          <p:nvPr/>
        </p:nvSpPr>
        <p:spPr>
          <a:xfrm>
            <a:off x="868680" y="1380744"/>
            <a:ext cx="3337560" cy="365760"/>
          </a:xfrm>
          <a:prstGeom prst="rect">
            <a:avLst/>
          </a:prstGeom>
          <a:noFill/>
          <a:ln/>
        </p:spPr>
        <p:txBody>
          <a:bodyPr wrap="square" lIns="0" tIns="0" rIns="0" bIns="0" rtlCol="0" anchor="ctr"/>
          <a:lstStyle/>
          <a:p>
            <a:pPr marL="0" indent="0">
              <a:lnSpc>
                <a:spcPct val="110000"/>
              </a:lnSpc>
              <a:buNone/>
            </a:pPr>
            <a:r>
              <a:rPr lang="en-US" sz="900">
                <a:solidFill>
                  <a:srgbClr val="1E293B"/>
                </a:solidFill>
                <a:latin typeface="Calibri" pitchFamily="34" charset="0"/>
                <a:ea typeface="Calibri" pitchFamily="34" charset="-122"/>
                <a:cs typeface="Calibri" pitchFamily="34" charset="-120"/>
              </a:rPr>
              <a:t>10 agents built and integrated</a:t>
            </a:r>
            <a:endParaRPr lang="en-US" sz="900"/>
          </a:p>
        </p:txBody>
      </p:sp>
      <p:sp>
        <p:nvSpPr>
          <p:cNvPr id="10" name="Shape 8"/>
          <p:cNvSpPr/>
          <p:nvPr/>
        </p:nvSpPr>
        <p:spPr>
          <a:xfrm>
            <a:off x="685800" y="1926523"/>
            <a:ext cx="109728" cy="109728"/>
          </a:xfrm>
          <a:prstGeom prst="ellipse">
            <a:avLst/>
          </a:prstGeom>
          <a:solidFill>
            <a:srgbClr val="10B981"/>
          </a:solidFill>
          <a:ln/>
        </p:spPr>
        <p:txBody>
          <a:bodyPr/>
          <a:lstStyle/>
          <a:p>
            <a:endParaRPr lang="en-US"/>
          </a:p>
        </p:txBody>
      </p:sp>
      <p:sp>
        <p:nvSpPr>
          <p:cNvPr id="11" name="Text 9"/>
          <p:cNvSpPr/>
          <p:nvPr/>
        </p:nvSpPr>
        <p:spPr>
          <a:xfrm>
            <a:off x="868680" y="1801368"/>
            <a:ext cx="3337560" cy="365760"/>
          </a:xfrm>
          <a:prstGeom prst="rect">
            <a:avLst/>
          </a:prstGeom>
          <a:noFill/>
          <a:ln/>
        </p:spPr>
        <p:txBody>
          <a:bodyPr wrap="square" lIns="0" tIns="0" rIns="0" bIns="0" rtlCol="0" anchor="ctr"/>
          <a:lstStyle/>
          <a:p>
            <a:pPr marL="0" indent="0">
              <a:lnSpc>
                <a:spcPct val="110000"/>
              </a:lnSpc>
              <a:buNone/>
            </a:pPr>
            <a:r>
              <a:rPr lang="en-US" sz="900">
                <a:solidFill>
                  <a:srgbClr val="1E293B"/>
                </a:solidFill>
                <a:latin typeface="Calibri" pitchFamily="34" charset="0"/>
                <a:ea typeface="Calibri" pitchFamily="34" charset="-122"/>
                <a:cs typeface="Calibri" pitchFamily="34" charset="-120"/>
              </a:rPr>
              <a:t>Full end-to-end sales flow working</a:t>
            </a:r>
            <a:endParaRPr lang="en-US" sz="900"/>
          </a:p>
        </p:txBody>
      </p:sp>
      <p:sp>
        <p:nvSpPr>
          <p:cNvPr id="12" name="Shape 10"/>
          <p:cNvSpPr/>
          <p:nvPr/>
        </p:nvSpPr>
        <p:spPr>
          <a:xfrm>
            <a:off x="685800" y="2355339"/>
            <a:ext cx="109728" cy="109728"/>
          </a:xfrm>
          <a:prstGeom prst="ellipse">
            <a:avLst/>
          </a:prstGeom>
          <a:solidFill>
            <a:srgbClr val="10B981"/>
          </a:solidFill>
          <a:ln/>
        </p:spPr>
        <p:txBody>
          <a:bodyPr/>
          <a:lstStyle/>
          <a:p>
            <a:endParaRPr lang="en-US"/>
          </a:p>
        </p:txBody>
      </p:sp>
      <p:sp>
        <p:nvSpPr>
          <p:cNvPr id="13" name="Text 11"/>
          <p:cNvSpPr/>
          <p:nvPr/>
        </p:nvSpPr>
        <p:spPr>
          <a:xfrm>
            <a:off x="868680" y="2221992"/>
            <a:ext cx="3337560" cy="365760"/>
          </a:xfrm>
          <a:prstGeom prst="rect">
            <a:avLst/>
          </a:prstGeom>
          <a:noFill/>
          <a:ln/>
        </p:spPr>
        <p:txBody>
          <a:bodyPr wrap="square" lIns="0" tIns="0" rIns="0" bIns="0" rtlCol="0" anchor="ctr"/>
          <a:lstStyle/>
          <a:p>
            <a:pPr marL="0" indent="0">
              <a:lnSpc>
                <a:spcPct val="110000"/>
              </a:lnSpc>
              <a:buNone/>
            </a:pPr>
            <a:r>
              <a:rPr lang="en-US" sz="900">
                <a:solidFill>
                  <a:srgbClr val="1E293B"/>
                </a:solidFill>
                <a:latin typeface="Calibri" pitchFamily="34" charset="0"/>
                <a:ea typeface="Calibri" pitchFamily="34" charset="-122"/>
                <a:cs typeface="Calibri" pitchFamily="34" charset="-120"/>
              </a:rPr>
              <a:t>Multi-turn coordination pattern</a:t>
            </a:r>
            <a:endParaRPr lang="en-US" sz="900"/>
          </a:p>
        </p:txBody>
      </p:sp>
      <p:sp>
        <p:nvSpPr>
          <p:cNvPr id="14" name="Shape 12"/>
          <p:cNvSpPr/>
          <p:nvPr/>
        </p:nvSpPr>
        <p:spPr>
          <a:xfrm>
            <a:off x="685800" y="2775487"/>
            <a:ext cx="109728" cy="109728"/>
          </a:xfrm>
          <a:prstGeom prst="ellipse">
            <a:avLst/>
          </a:prstGeom>
          <a:solidFill>
            <a:srgbClr val="10B981"/>
          </a:solidFill>
          <a:ln/>
        </p:spPr>
        <p:txBody>
          <a:bodyPr/>
          <a:lstStyle/>
          <a:p>
            <a:endParaRPr lang="en-US"/>
          </a:p>
        </p:txBody>
      </p:sp>
      <p:sp>
        <p:nvSpPr>
          <p:cNvPr id="15" name="Text 13"/>
          <p:cNvSpPr/>
          <p:nvPr/>
        </p:nvSpPr>
        <p:spPr>
          <a:xfrm>
            <a:off x="868680" y="2642616"/>
            <a:ext cx="3337560" cy="365760"/>
          </a:xfrm>
          <a:prstGeom prst="rect">
            <a:avLst/>
          </a:prstGeom>
          <a:noFill/>
          <a:ln/>
        </p:spPr>
        <p:txBody>
          <a:bodyPr wrap="square" lIns="0" tIns="0" rIns="0" bIns="0" rtlCol="0" anchor="ctr"/>
          <a:lstStyle/>
          <a:p>
            <a:pPr marL="0" indent="0">
              <a:lnSpc>
                <a:spcPct val="110000"/>
              </a:lnSpc>
              <a:buNone/>
            </a:pPr>
            <a:r>
              <a:rPr lang="en-US" sz="900">
                <a:solidFill>
                  <a:srgbClr val="1E293B"/>
                </a:solidFill>
                <a:latin typeface="Calibri" pitchFamily="34" charset="0"/>
                <a:ea typeface="Calibri" pitchFamily="34" charset="-122"/>
                <a:cs typeface="Calibri" pitchFamily="34" charset="-120"/>
              </a:rPr>
              <a:t>React UI with SSE streaming — real-time agent responses</a:t>
            </a:r>
            <a:endParaRPr lang="en-US" sz="900"/>
          </a:p>
        </p:txBody>
      </p:sp>
      <p:sp>
        <p:nvSpPr>
          <p:cNvPr id="16" name="Shape 14"/>
          <p:cNvSpPr/>
          <p:nvPr/>
        </p:nvSpPr>
        <p:spPr>
          <a:xfrm>
            <a:off x="685800" y="3195635"/>
            <a:ext cx="109728" cy="109728"/>
          </a:xfrm>
          <a:prstGeom prst="ellipse">
            <a:avLst/>
          </a:prstGeom>
          <a:solidFill>
            <a:srgbClr val="10B981"/>
          </a:solidFill>
          <a:ln/>
        </p:spPr>
        <p:txBody>
          <a:bodyPr/>
          <a:lstStyle/>
          <a:p>
            <a:endParaRPr lang="en-US"/>
          </a:p>
        </p:txBody>
      </p:sp>
      <p:sp>
        <p:nvSpPr>
          <p:cNvPr id="17" name="Text 15"/>
          <p:cNvSpPr/>
          <p:nvPr/>
        </p:nvSpPr>
        <p:spPr>
          <a:xfrm>
            <a:off x="868680" y="3063240"/>
            <a:ext cx="3337560" cy="365760"/>
          </a:xfrm>
          <a:prstGeom prst="rect">
            <a:avLst/>
          </a:prstGeom>
          <a:noFill/>
          <a:ln/>
        </p:spPr>
        <p:txBody>
          <a:bodyPr wrap="square" lIns="0" tIns="0" rIns="0" bIns="0" rtlCol="0" anchor="ctr"/>
          <a:lstStyle/>
          <a:p>
            <a:pPr marL="0" indent="0">
              <a:lnSpc>
                <a:spcPct val="110000"/>
              </a:lnSpc>
              <a:buNone/>
            </a:pPr>
            <a:r>
              <a:rPr lang="en-US" sz="900">
                <a:solidFill>
                  <a:srgbClr val="1E293B"/>
                </a:solidFill>
                <a:latin typeface="Calibri" pitchFamily="34" charset="0"/>
                <a:ea typeface="Calibri" pitchFamily="34" charset="-122"/>
                <a:cs typeface="Calibri" pitchFamily="34" charset="-120"/>
              </a:rPr>
              <a:t>Structured JSON tool outputs — solved cross-agent hallucination</a:t>
            </a:r>
            <a:endParaRPr lang="en-US" sz="900"/>
          </a:p>
        </p:txBody>
      </p:sp>
      <p:sp>
        <p:nvSpPr>
          <p:cNvPr id="18" name="Shape 16"/>
          <p:cNvSpPr/>
          <p:nvPr/>
        </p:nvSpPr>
        <p:spPr>
          <a:xfrm>
            <a:off x="4754880" y="914400"/>
            <a:ext cx="3931920" cy="30175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9" name="Shape 17"/>
          <p:cNvSpPr/>
          <p:nvPr/>
        </p:nvSpPr>
        <p:spPr>
          <a:xfrm rot="5400000">
            <a:off x="3258623" y="2395728"/>
            <a:ext cx="3017520" cy="36576"/>
          </a:xfrm>
          <a:prstGeom prst="rect">
            <a:avLst/>
          </a:prstGeom>
          <a:solidFill>
            <a:srgbClr val="F59E0B"/>
          </a:solidFill>
          <a:ln/>
        </p:spPr>
        <p:txBody>
          <a:bodyPr/>
          <a:lstStyle/>
          <a:p>
            <a:endParaRPr lang="en-US"/>
          </a:p>
        </p:txBody>
      </p:sp>
      <p:sp>
        <p:nvSpPr>
          <p:cNvPr id="20" name="Text 18"/>
          <p:cNvSpPr/>
          <p:nvPr/>
        </p:nvSpPr>
        <p:spPr>
          <a:xfrm>
            <a:off x="4937760" y="1051560"/>
            <a:ext cx="3566160" cy="274320"/>
          </a:xfrm>
          <a:prstGeom prst="rect">
            <a:avLst/>
          </a:prstGeom>
          <a:noFill/>
          <a:ln/>
        </p:spPr>
        <p:txBody>
          <a:bodyPr wrap="square" lIns="0" tIns="0" rIns="0" bIns="0" rtlCol="0" anchor="ctr"/>
          <a:lstStyle/>
          <a:p>
            <a:pPr marL="0" indent="0">
              <a:buNone/>
            </a:pPr>
            <a:r>
              <a:rPr lang="en-US" sz="1400" b="1">
                <a:solidFill>
                  <a:srgbClr val="F59E0B"/>
                </a:solidFill>
                <a:latin typeface="Trebuchet MS" pitchFamily="34" charset="0"/>
              </a:rPr>
              <a:t>Spring</a:t>
            </a:r>
            <a:endParaRPr lang="en-US" sz="1400"/>
          </a:p>
        </p:txBody>
      </p:sp>
      <p:sp>
        <p:nvSpPr>
          <p:cNvPr id="21" name="Shape 19"/>
          <p:cNvSpPr/>
          <p:nvPr/>
        </p:nvSpPr>
        <p:spPr>
          <a:xfrm>
            <a:off x="4983480" y="1453896"/>
            <a:ext cx="109728" cy="109728"/>
          </a:xfrm>
          <a:prstGeom prst="ellipse">
            <a:avLst/>
          </a:prstGeom>
          <a:solidFill>
            <a:srgbClr val="FFFFFF"/>
          </a:solidFill>
          <a:ln w="19050">
            <a:solidFill>
              <a:srgbClr val="F59E0B"/>
            </a:solidFill>
            <a:prstDash val="solid"/>
          </a:ln>
        </p:spPr>
        <p:txBody>
          <a:bodyPr/>
          <a:lstStyle/>
          <a:p>
            <a:endParaRPr lang="en-US"/>
          </a:p>
        </p:txBody>
      </p:sp>
      <p:sp>
        <p:nvSpPr>
          <p:cNvPr id="22" name="Text 20"/>
          <p:cNvSpPr/>
          <p:nvPr/>
        </p:nvSpPr>
        <p:spPr>
          <a:xfrm>
            <a:off x="5166360" y="1313391"/>
            <a:ext cx="3337560" cy="365760"/>
          </a:xfrm>
          <a:prstGeom prst="rect">
            <a:avLst/>
          </a:prstGeom>
          <a:noFill/>
          <a:ln/>
        </p:spPr>
        <p:txBody>
          <a:bodyPr wrap="square" lIns="0" tIns="0" rIns="0" bIns="0" rtlCol="0" anchor="ctr"/>
          <a:lstStyle/>
          <a:p>
            <a:pPr marL="0" indent="0">
              <a:lnSpc>
                <a:spcPct val="110000"/>
              </a:lnSpc>
              <a:buNone/>
            </a:pPr>
            <a:r>
              <a:rPr lang="en-US" sz="900">
                <a:solidFill>
                  <a:srgbClr val="1E293B"/>
                </a:solidFill>
                <a:latin typeface="Calibri" pitchFamily="34" charset="0"/>
                <a:ea typeface="Calibri" pitchFamily="34" charset="-122"/>
                <a:cs typeface="Calibri" pitchFamily="34" charset="-120"/>
              </a:rPr>
              <a:t>ChromaDB / RAG for product Q&amp;A</a:t>
            </a:r>
            <a:endParaRPr lang="en-US" sz="900"/>
          </a:p>
        </p:txBody>
      </p:sp>
      <p:sp>
        <p:nvSpPr>
          <p:cNvPr id="25" name="Shape 23"/>
          <p:cNvSpPr/>
          <p:nvPr/>
        </p:nvSpPr>
        <p:spPr>
          <a:xfrm>
            <a:off x="4983480" y="1792802"/>
            <a:ext cx="109728" cy="109728"/>
          </a:xfrm>
          <a:prstGeom prst="ellipse">
            <a:avLst/>
          </a:prstGeom>
          <a:solidFill>
            <a:srgbClr val="FFFFFF"/>
          </a:solidFill>
          <a:ln w="19050">
            <a:solidFill>
              <a:srgbClr val="F59E0B"/>
            </a:solidFill>
            <a:prstDash val="solid"/>
          </a:ln>
        </p:spPr>
        <p:txBody>
          <a:bodyPr/>
          <a:lstStyle/>
          <a:p>
            <a:endParaRPr lang="en-US"/>
          </a:p>
        </p:txBody>
      </p:sp>
      <p:sp>
        <p:nvSpPr>
          <p:cNvPr id="26" name="Text 24"/>
          <p:cNvSpPr/>
          <p:nvPr/>
        </p:nvSpPr>
        <p:spPr>
          <a:xfrm>
            <a:off x="5166360" y="1652297"/>
            <a:ext cx="3337560" cy="365760"/>
          </a:xfrm>
          <a:prstGeom prst="rect">
            <a:avLst/>
          </a:prstGeom>
          <a:noFill/>
          <a:ln/>
        </p:spPr>
        <p:txBody>
          <a:bodyPr wrap="square" lIns="0" tIns="0" rIns="0" bIns="0" rtlCol="0" anchor="ctr"/>
          <a:lstStyle/>
          <a:p>
            <a:pPr marL="0" indent="0">
              <a:lnSpc>
                <a:spcPct val="110000"/>
              </a:lnSpc>
              <a:buNone/>
            </a:pPr>
            <a:r>
              <a:rPr lang="en-US" sz="900">
                <a:solidFill>
                  <a:srgbClr val="1E293B"/>
                </a:solidFill>
                <a:latin typeface="Calibri" pitchFamily="34" charset="0"/>
                <a:ea typeface="Calibri" pitchFamily="34" charset="-122"/>
                <a:cs typeface="Calibri" pitchFamily="34" charset="-120"/>
              </a:rPr>
              <a:t>Observability dashboard</a:t>
            </a:r>
            <a:endParaRPr lang="en-US" sz="900"/>
          </a:p>
        </p:txBody>
      </p:sp>
      <p:sp>
        <p:nvSpPr>
          <p:cNvPr id="27" name="Shape 25"/>
          <p:cNvSpPr/>
          <p:nvPr/>
        </p:nvSpPr>
        <p:spPr>
          <a:xfrm>
            <a:off x="4983480" y="2131708"/>
            <a:ext cx="109728" cy="109728"/>
          </a:xfrm>
          <a:prstGeom prst="ellipse">
            <a:avLst/>
          </a:prstGeom>
          <a:solidFill>
            <a:srgbClr val="FFFFFF"/>
          </a:solidFill>
          <a:ln w="19050">
            <a:solidFill>
              <a:srgbClr val="F59E0B"/>
            </a:solidFill>
            <a:prstDash val="solid"/>
          </a:ln>
        </p:spPr>
        <p:txBody>
          <a:bodyPr/>
          <a:lstStyle/>
          <a:p>
            <a:endParaRPr lang="en-US"/>
          </a:p>
        </p:txBody>
      </p:sp>
      <p:sp>
        <p:nvSpPr>
          <p:cNvPr id="28" name="Text 26"/>
          <p:cNvSpPr/>
          <p:nvPr/>
        </p:nvSpPr>
        <p:spPr>
          <a:xfrm>
            <a:off x="5166360" y="1991203"/>
            <a:ext cx="3337560" cy="365760"/>
          </a:xfrm>
          <a:prstGeom prst="rect">
            <a:avLst/>
          </a:prstGeom>
          <a:noFill/>
          <a:ln/>
        </p:spPr>
        <p:txBody>
          <a:bodyPr wrap="square" lIns="0" tIns="0" rIns="0" bIns="0" rtlCol="0" anchor="ctr"/>
          <a:lstStyle/>
          <a:p>
            <a:pPr marL="0" indent="0">
              <a:lnSpc>
                <a:spcPct val="110000"/>
              </a:lnSpc>
              <a:buNone/>
            </a:pPr>
            <a:r>
              <a:rPr lang="en-US" sz="900">
                <a:solidFill>
                  <a:srgbClr val="1E293B"/>
                </a:solidFill>
                <a:latin typeface="Calibri" pitchFamily="34" charset="0"/>
                <a:ea typeface="Calibri" pitchFamily="34" charset="-122"/>
                <a:cs typeface="Calibri" pitchFamily="34" charset="-120"/>
              </a:rPr>
              <a:t>Persistent quote/order databases</a:t>
            </a:r>
            <a:endParaRPr lang="en-US" sz="900"/>
          </a:p>
        </p:txBody>
      </p:sp>
      <p:sp>
        <p:nvSpPr>
          <p:cNvPr id="31" name="Shape 29"/>
          <p:cNvSpPr/>
          <p:nvPr/>
        </p:nvSpPr>
        <p:spPr>
          <a:xfrm>
            <a:off x="4983480" y="2470614"/>
            <a:ext cx="109728" cy="109728"/>
          </a:xfrm>
          <a:prstGeom prst="ellipse">
            <a:avLst/>
          </a:prstGeom>
          <a:solidFill>
            <a:srgbClr val="FFFFFF"/>
          </a:solidFill>
          <a:ln w="19050">
            <a:solidFill>
              <a:srgbClr val="F59E0B"/>
            </a:solidFill>
            <a:prstDash val="solid"/>
          </a:ln>
        </p:spPr>
        <p:txBody>
          <a:bodyPr/>
          <a:lstStyle/>
          <a:p>
            <a:endParaRPr lang="en-US"/>
          </a:p>
        </p:txBody>
      </p:sp>
      <p:sp>
        <p:nvSpPr>
          <p:cNvPr id="32" name="Text 30"/>
          <p:cNvSpPr/>
          <p:nvPr/>
        </p:nvSpPr>
        <p:spPr>
          <a:xfrm>
            <a:off x="5166360" y="2330109"/>
            <a:ext cx="3337560" cy="365760"/>
          </a:xfrm>
          <a:prstGeom prst="rect">
            <a:avLst/>
          </a:prstGeom>
          <a:noFill/>
          <a:ln/>
        </p:spPr>
        <p:txBody>
          <a:bodyPr wrap="square" lIns="0" tIns="0" rIns="0" bIns="0" rtlCol="0" anchor="ctr"/>
          <a:lstStyle/>
          <a:p>
            <a:pPr marL="0" indent="0">
              <a:lnSpc>
                <a:spcPct val="110000"/>
              </a:lnSpc>
              <a:buNone/>
            </a:pPr>
            <a:r>
              <a:rPr lang="en-US" sz="900">
                <a:solidFill>
                  <a:srgbClr val="1E293B"/>
                </a:solidFill>
                <a:latin typeface="Calibri" pitchFamily="34" charset="0"/>
                <a:ea typeface="Calibri" pitchFamily="34" charset="-122"/>
                <a:cs typeface="Calibri" pitchFamily="34" charset="-120"/>
              </a:rPr>
              <a:t>Deploy to Vertex/GCP</a:t>
            </a:r>
            <a:endParaRPr lang="en-US" sz="900"/>
          </a:p>
        </p:txBody>
      </p:sp>
      <p:sp>
        <p:nvSpPr>
          <p:cNvPr id="36" name="Shape 29">
            <a:extLst>
              <a:ext uri="{FF2B5EF4-FFF2-40B4-BE49-F238E27FC236}">
                <a16:creationId xmlns:a16="http://schemas.microsoft.com/office/drawing/2014/main" id="{AE38A0E5-F757-52F9-5EB1-E65F22C9FCB1}"/>
              </a:ext>
            </a:extLst>
          </p:cNvPr>
          <p:cNvSpPr/>
          <p:nvPr/>
        </p:nvSpPr>
        <p:spPr>
          <a:xfrm>
            <a:off x="4983480" y="2809520"/>
            <a:ext cx="109728" cy="109728"/>
          </a:xfrm>
          <a:prstGeom prst="ellipse">
            <a:avLst/>
          </a:prstGeom>
          <a:solidFill>
            <a:srgbClr val="FFFFFF"/>
          </a:solidFill>
          <a:ln w="19050">
            <a:solidFill>
              <a:srgbClr val="F59E0B"/>
            </a:solidFill>
            <a:prstDash val="solid"/>
          </a:ln>
        </p:spPr>
        <p:txBody>
          <a:bodyPr/>
          <a:lstStyle/>
          <a:p>
            <a:endParaRPr lang="en-US"/>
          </a:p>
        </p:txBody>
      </p:sp>
      <p:sp>
        <p:nvSpPr>
          <p:cNvPr id="37" name="Text 30">
            <a:extLst>
              <a:ext uri="{FF2B5EF4-FFF2-40B4-BE49-F238E27FC236}">
                <a16:creationId xmlns:a16="http://schemas.microsoft.com/office/drawing/2014/main" id="{920C4F54-0344-BA20-C2CE-E814957FA119}"/>
              </a:ext>
            </a:extLst>
          </p:cNvPr>
          <p:cNvSpPr/>
          <p:nvPr/>
        </p:nvSpPr>
        <p:spPr>
          <a:xfrm>
            <a:off x="5166360" y="2669015"/>
            <a:ext cx="3337560" cy="365760"/>
          </a:xfrm>
          <a:prstGeom prst="rect">
            <a:avLst/>
          </a:prstGeom>
          <a:noFill/>
          <a:ln/>
        </p:spPr>
        <p:txBody>
          <a:bodyPr wrap="square" lIns="0" tIns="0" rIns="0" bIns="0" rtlCol="0" anchor="ctr"/>
          <a:lstStyle/>
          <a:p>
            <a:pPr marL="0" indent="0">
              <a:lnSpc>
                <a:spcPct val="110000"/>
              </a:lnSpc>
              <a:buNone/>
            </a:pPr>
            <a:r>
              <a:rPr lang="en-US" sz="900">
                <a:solidFill>
                  <a:srgbClr val="1E293B"/>
                </a:solidFill>
                <a:latin typeface="Calibri" pitchFamily="34" charset="0"/>
                <a:ea typeface="Calibri" pitchFamily="34" charset="-122"/>
                <a:cs typeface="Calibri" pitchFamily="34" charset="-120"/>
              </a:rPr>
              <a:t>Full integration testing across all sales scenarios</a:t>
            </a:r>
            <a:endParaRPr lang="en-US" sz="900"/>
          </a:p>
        </p:txBody>
      </p:sp>
      <p:sp>
        <p:nvSpPr>
          <p:cNvPr id="38" name="Text 30">
            <a:extLst>
              <a:ext uri="{FF2B5EF4-FFF2-40B4-BE49-F238E27FC236}">
                <a16:creationId xmlns:a16="http://schemas.microsoft.com/office/drawing/2014/main" id="{920C4F54-0344-BA20-C2CE-E814957FA119}"/>
              </a:ext>
            </a:extLst>
          </p:cNvPr>
          <p:cNvSpPr/>
          <p:nvPr/>
        </p:nvSpPr>
        <p:spPr>
          <a:xfrm>
            <a:off x="5166360" y="3007921"/>
            <a:ext cx="3337560" cy="365760"/>
          </a:xfrm>
          <a:prstGeom prst="rect">
            <a:avLst/>
          </a:prstGeom>
          <a:noFill/>
          <a:ln/>
        </p:spPr>
        <p:txBody>
          <a:bodyPr wrap="square" lIns="0" tIns="0" rIns="0" bIns="0" rtlCol="0" anchor="ctr"/>
          <a:lstStyle/>
          <a:p>
            <a:pPr marL="0" indent="0">
              <a:lnSpc>
                <a:spcPct val="110000"/>
              </a:lnSpc>
              <a:buNone/>
            </a:pPr>
            <a:r>
              <a:rPr lang="en-US" sz="900">
                <a:solidFill>
                  <a:srgbClr val="1E293B"/>
                </a:solidFill>
                <a:latin typeface="Calibri" pitchFamily="34" charset="0"/>
                <a:ea typeface="Calibri" pitchFamily="34" charset="-122"/>
                <a:cs typeface="Calibri" pitchFamily="34" charset="-120"/>
              </a:rPr>
              <a:t>Customer Comms Agent</a:t>
            </a:r>
            <a:endParaRPr lang="en-US" sz="900"/>
          </a:p>
        </p:txBody>
      </p:sp>
      <p:sp>
        <p:nvSpPr>
          <p:cNvPr id="39" name="Shape 29">
            <a:extLst>
              <a:ext uri="{FF2B5EF4-FFF2-40B4-BE49-F238E27FC236}">
                <a16:creationId xmlns:a16="http://schemas.microsoft.com/office/drawing/2014/main" id="{AE38A0E5-F757-52F9-5EB1-E65F22C9FCB1}"/>
              </a:ext>
            </a:extLst>
          </p:cNvPr>
          <p:cNvSpPr/>
          <p:nvPr/>
        </p:nvSpPr>
        <p:spPr>
          <a:xfrm>
            <a:off x="4983480" y="3148426"/>
            <a:ext cx="109728" cy="109728"/>
          </a:xfrm>
          <a:prstGeom prst="ellipse">
            <a:avLst/>
          </a:prstGeom>
          <a:solidFill>
            <a:srgbClr val="FFFFFF"/>
          </a:solidFill>
          <a:ln w="19050">
            <a:solidFill>
              <a:srgbClr val="F59E0B"/>
            </a:solidFill>
            <a:prstDash val="solid"/>
          </a:ln>
        </p:spPr>
        <p:txBody>
          <a:bodyPr/>
          <a:lstStyle/>
          <a:p>
            <a:endParaRPr lang="en-US"/>
          </a:p>
        </p:txBody>
      </p:sp>
      <p:sp>
        <p:nvSpPr>
          <p:cNvPr id="40" name="Text 30">
            <a:extLst>
              <a:ext uri="{FF2B5EF4-FFF2-40B4-BE49-F238E27FC236}">
                <a16:creationId xmlns:a16="http://schemas.microsoft.com/office/drawing/2014/main" id="{920C4F54-0344-BA20-C2CE-E814957FA119}"/>
              </a:ext>
            </a:extLst>
          </p:cNvPr>
          <p:cNvSpPr/>
          <p:nvPr/>
        </p:nvSpPr>
        <p:spPr>
          <a:xfrm>
            <a:off x="5166359" y="3346829"/>
            <a:ext cx="3422933" cy="365760"/>
          </a:xfrm>
          <a:prstGeom prst="rect">
            <a:avLst/>
          </a:prstGeom>
          <a:noFill/>
          <a:ln/>
        </p:spPr>
        <p:txBody>
          <a:bodyPr wrap="square" lIns="0" tIns="0" rIns="0" bIns="0" rtlCol="0" anchor="ctr"/>
          <a:lstStyle/>
          <a:p>
            <a:pPr marL="0" indent="0">
              <a:lnSpc>
                <a:spcPct val="110000"/>
              </a:lnSpc>
              <a:buNone/>
            </a:pPr>
            <a:r>
              <a:rPr lang="en-US" sz="900">
                <a:solidFill>
                  <a:srgbClr val="1E293B"/>
                </a:solidFill>
                <a:latin typeface="Calibri" pitchFamily="34" charset="0"/>
                <a:ea typeface="Calibri" pitchFamily="34" charset="-122"/>
                <a:cs typeface="Calibri" pitchFamily="34" charset="-120"/>
              </a:rPr>
              <a:t>ServiceFulfillmentAgent — Equipment shipment, provisioning &amp; Activation</a:t>
            </a:r>
            <a:endParaRPr lang="en-US" sz="900"/>
          </a:p>
        </p:txBody>
      </p:sp>
      <p:sp>
        <p:nvSpPr>
          <p:cNvPr id="41" name="Shape 29">
            <a:extLst>
              <a:ext uri="{FF2B5EF4-FFF2-40B4-BE49-F238E27FC236}">
                <a16:creationId xmlns:a16="http://schemas.microsoft.com/office/drawing/2014/main" id="{AE38A0E5-F757-52F9-5EB1-E65F22C9FCB1}"/>
              </a:ext>
            </a:extLst>
          </p:cNvPr>
          <p:cNvSpPr/>
          <p:nvPr/>
        </p:nvSpPr>
        <p:spPr>
          <a:xfrm>
            <a:off x="4983480" y="3487332"/>
            <a:ext cx="109728" cy="109728"/>
          </a:xfrm>
          <a:prstGeom prst="ellipse">
            <a:avLst/>
          </a:prstGeom>
          <a:solidFill>
            <a:srgbClr val="FFFFFF"/>
          </a:solidFill>
          <a:ln w="19050">
            <a:solidFill>
              <a:srgbClr val="F59E0B"/>
            </a:solidFill>
            <a:prstDash val="solid"/>
          </a:ln>
        </p:spPr>
        <p:txBody>
          <a:bodyPr/>
          <a:lstStyle/>
          <a:p>
            <a:endParaRPr lang="en-US"/>
          </a:p>
        </p:txBody>
      </p:sp>
      <p:sp>
        <p:nvSpPr>
          <p:cNvPr id="44" name="Shape 27">
            <a:extLst>
              <a:ext uri="{FF2B5EF4-FFF2-40B4-BE49-F238E27FC236}">
                <a16:creationId xmlns:a16="http://schemas.microsoft.com/office/drawing/2014/main" id="{2F99E6E7-9213-8B9C-3200-4B87D87FE7A2}"/>
              </a:ext>
            </a:extLst>
          </p:cNvPr>
          <p:cNvSpPr/>
          <p:nvPr/>
        </p:nvSpPr>
        <p:spPr>
          <a:xfrm>
            <a:off x="457200" y="4434840"/>
            <a:ext cx="45720" cy="502920"/>
          </a:xfrm>
          <a:prstGeom prst="rect">
            <a:avLst/>
          </a:prstGeom>
          <a:solidFill>
            <a:srgbClr val="3B82F6"/>
          </a:solidFill>
          <a:ln/>
        </p:spPr>
        <p:txBody>
          <a:bodyPr/>
          <a:lstStyle/>
          <a:p>
            <a:endParaRPr lang="en-US"/>
          </a:p>
        </p:txBody>
      </p:sp>
      <p:sp>
        <p:nvSpPr>
          <p:cNvPr id="45" name="Text 28">
            <a:extLst>
              <a:ext uri="{FF2B5EF4-FFF2-40B4-BE49-F238E27FC236}">
                <a16:creationId xmlns:a16="http://schemas.microsoft.com/office/drawing/2014/main" id="{01620793-B8D1-8DED-4894-B06A0A81FD47}"/>
              </a:ext>
            </a:extLst>
          </p:cNvPr>
          <p:cNvSpPr/>
          <p:nvPr/>
        </p:nvSpPr>
        <p:spPr>
          <a:xfrm>
            <a:off x="593427" y="4415749"/>
            <a:ext cx="7863840" cy="502920"/>
          </a:xfrm>
          <a:prstGeom prst="rect">
            <a:avLst/>
          </a:prstGeom>
          <a:noFill/>
          <a:ln/>
        </p:spPr>
        <p:txBody>
          <a:bodyPr wrap="square" lIns="0" tIns="0" rIns="0" bIns="0" rtlCol="0" anchor="ctr"/>
          <a:lstStyle/>
          <a:p>
            <a:pPr marL="0" indent="0">
              <a:buNone/>
            </a:pPr>
            <a:r>
              <a:rPr lang="en-US" sz="1000" b="1" i="1">
                <a:solidFill>
                  <a:srgbClr val="1E293B"/>
                </a:solidFill>
                <a:latin typeface="Calibri" pitchFamily="34" charset="0"/>
                <a:ea typeface="Calibri" pitchFamily="34" charset="-122"/>
                <a:cs typeface="Calibri" pitchFamily="34" charset="-120"/>
              </a:rPr>
              <a:t>153 Commits by the team over a period of 4 months</a:t>
            </a:r>
            <a:endParaRPr lang="en-US" sz="1000" b="1"/>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txBody>
          <a:bodyPr/>
          <a:lstStyle/>
          <a:p>
            <a:endParaRPr lang="en-US"/>
          </a:p>
        </p:txBody>
      </p:sp>
      <p:sp>
        <p:nvSpPr>
          <p:cNvPr id="3" name="Text 1"/>
          <p:cNvSpPr/>
          <p:nvPr/>
        </p:nvSpPr>
        <p:spPr>
          <a:xfrm>
            <a:off x="640080" y="274320"/>
            <a:ext cx="7863840" cy="502920"/>
          </a:xfrm>
          <a:prstGeom prst="rect">
            <a:avLst/>
          </a:prstGeom>
          <a:noFill/>
          <a:ln/>
        </p:spPr>
        <p:txBody>
          <a:bodyPr wrap="square" lIns="0" tIns="0" rIns="0" bIns="0" rtlCol="0" anchor="ctr"/>
          <a:lstStyle/>
          <a:p>
            <a:pPr marL="0" indent="0">
              <a:buNone/>
            </a:pPr>
            <a:r>
              <a:rPr lang="en-US" sz="2800" b="1">
                <a:solidFill>
                  <a:srgbClr val="1E293B"/>
                </a:solidFill>
                <a:latin typeface="Trebuchet MS" pitchFamily="34" charset="0"/>
                <a:ea typeface="Trebuchet MS" pitchFamily="34" charset="-122"/>
                <a:cs typeface="Trebuchet MS" pitchFamily="34" charset="-120"/>
              </a:rPr>
              <a:t>Who Did What</a:t>
            </a:r>
            <a:endParaRPr lang="en-US" sz="2800"/>
          </a:p>
        </p:txBody>
      </p:sp>
      <p:sp>
        <p:nvSpPr>
          <p:cNvPr id="4" name="Text 2"/>
          <p:cNvSpPr/>
          <p:nvPr/>
        </p:nvSpPr>
        <p:spPr>
          <a:xfrm>
            <a:off x="7772400" y="4754880"/>
            <a:ext cx="1097280" cy="274320"/>
          </a:xfrm>
          <a:prstGeom prst="rect">
            <a:avLst/>
          </a:prstGeom>
          <a:noFill/>
          <a:ln/>
        </p:spPr>
        <p:txBody>
          <a:bodyPr wrap="square" rtlCol="0" anchor="ctr"/>
          <a:lstStyle/>
          <a:p>
            <a:pPr marL="0" indent="0" algn="r">
              <a:buNone/>
            </a:pPr>
            <a:r>
              <a:rPr lang="en-US" sz="900">
                <a:solidFill>
                  <a:srgbClr val="64748B"/>
                </a:solidFill>
                <a:latin typeface="Calibri" pitchFamily="34" charset="0"/>
                <a:ea typeface="Calibri" pitchFamily="34" charset="-122"/>
                <a:cs typeface="Calibri" pitchFamily="34" charset="-120"/>
              </a:rPr>
              <a:t>16 / 21</a:t>
            </a:r>
            <a:endParaRPr lang="en-US" sz="900"/>
          </a:p>
        </p:txBody>
      </p:sp>
      <p:sp>
        <p:nvSpPr>
          <p:cNvPr id="5" name="Shape 3"/>
          <p:cNvSpPr/>
          <p:nvPr/>
        </p:nvSpPr>
        <p:spPr>
          <a:xfrm>
            <a:off x="457200" y="868680"/>
            <a:ext cx="4023360" cy="18745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6" name="Shape 4"/>
          <p:cNvSpPr/>
          <p:nvPr/>
        </p:nvSpPr>
        <p:spPr>
          <a:xfrm rot="16200000">
            <a:off x="-462609" y="1813155"/>
            <a:ext cx="1874520" cy="36576"/>
          </a:xfrm>
          <a:prstGeom prst="rect">
            <a:avLst/>
          </a:prstGeom>
          <a:solidFill>
            <a:srgbClr val="3B82F6"/>
          </a:solidFill>
          <a:ln/>
        </p:spPr>
        <p:txBody>
          <a:bodyPr/>
          <a:lstStyle/>
          <a:p>
            <a:endParaRPr lang="en-US"/>
          </a:p>
        </p:txBody>
      </p:sp>
      <p:sp>
        <p:nvSpPr>
          <p:cNvPr id="7" name="Text 5"/>
          <p:cNvSpPr/>
          <p:nvPr/>
        </p:nvSpPr>
        <p:spPr>
          <a:xfrm>
            <a:off x="640080" y="1005840"/>
            <a:ext cx="3200400" cy="228600"/>
          </a:xfrm>
          <a:prstGeom prst="rect">
            <a:avLst/>
          </a:prstGeom>
          <a:noFill/>
          <a:ln/>
        </p:spPr>
        <p:txBody>
          <a:bodyPr wrap="square" lIns="0" tIns="0" rIns="0" bIns="0" rtlCol="0" anchor="ctr"/>
          <a:lstStyle/>
          <a:p>
            <a:pPr marL="0" indent="0">
              <a:buNone/>
            </a:pPr>
            <a:r>
              <a:rPr lang="en-US" sz="1200" b="1">
                <a:solidFill>
                  <a:srgbClr val="1E293B"/>
                </a:solidFill>
                <a:latin typeface="Trebuchet MS" pitchFamily="34" charset="0"/>
                <a:ea typeface="Trebuchet MS" pitchFamily="34" charset="-122"/>
                <a:cs typeface="Trebuchet MS" pitchFamily="34" charset="-120"/>
              </a:rPr>
              <a:t>Sudhaman Chandrasekaran</a:t>
            </a:r>
            <a:endParaRPr lang="en-US" sz="1200"/>
          </a:p>
        </p:txBody>
      </p:sp>
      <p:sp>
        <p:nvSpPr>
          <p:cNvPr id="8" name="Shape 6"/>
          <p:cNvSpPr/>
          <p:nvPr/>
        </p:nvSpPr>
        <p:spPr>
          <a:xfrm>
            <a:off x="3611880" y="1005840"/>
            <a:ext cx="713232" cy="228600"/>
          </a:xfrm>
          <a:prstGeom prst="rect">
            <a:avLst/>
          </a:prstGeom>
          <a:solidFill>
            <a:srgbClr val="3B82F6"/>
          </a:solidFill>
          <a:ln/>
        </p:spPr>
        <p:txBody>
          <a:bodyPr/>
          <a:lstStyle/>
          <a:p>
            <a:endParaRPr lang="en-US"/>
          </a:p>
        </p:txBody>
      </p:sp>
      <p:sp>
        <p:nvSpPr>
          <p:cNvPr id="9" name="Text 7"/>
          <p:cNvSpPr/>
          <p:nvPr/>
        </p:nvSpPr>
        <p:spPr>
          <a:xfrm>
            <a:off x="3611880" y="1005840"/>
            <a:ext cx="713232" cy="228600"/>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Lead Dev</a:t>
            </a:r>
            <a:endParaRPr lang="en-US" sz="800"/>
          </a:p>
        </p:txBody>
      </p:sp>
      <p:sp>
        <p:nvSpPr>
          <p:cNvPr id="10" name="Text 8"/>
          <p:cNvSpPr/>
          <p:nvPr/>
        </p:nvSpPr>
        <p:spPr>
          <a:xfrm>
            <a:off x="640080" y="1325880"/>
            <a:ext cx="365760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  SuperAgent orchestrator + routing logic</a:t>
            </a:r>
            <a:endParaRPr lang="en-US" sz="900"/>
          </a:p>
        </p:txBody>
      </p:sp>
      <p:sp>
        <p:nvSpPr>
          <p:cNvPr id="11" name="Text 9"/>
          <p:cNvSpPr/>
          <p:nvPr/>
        </p:nvSpPr>
        <p:spPr>
          <a:xfrm>
            <a:off x="640080" y="1545336"/>
            <a:ext cx="365760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  OfferManagementAgent pricing engine</a:t>
            </a:r>
            <a:endParaRPr lang="en-US" sz="900"/>
          </a:p>
        </p:txBody>
      </p:sp>
      <p:sp>
        <p:nvSpPr>
          <p:cNvPr id="12" name="Text 10"/>
          <p:cNvSpPr/>
          <p:nvPr/>
        </p:nvSpPr>
        <p:spPr>
          <a:xfrm>
            <a:off x="640080" y="1764792"/>
            <a:ext cx="365760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  FastAPI server + SSE streaming</a:t>
            </a:r>
            <a:endParaRPr lang="en-US" sz="900"/>
          </a:p>
        </p:txBody>
      </p:sp>
      <p:sp>
        <p:nvSpPr>
          <p:cNvPr id="13" name="Text 11"/>
          <p:cNvSpPr/>
          <p:nvPr/>
        </p:nvSpPr>
        <p:spPr>
          <a:xfrm>
            <a:off x="640080" y="1984248"/>
            <a:ext cx="365760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  Integration of all 10 sub-agents</a:t>
            </a:r>
            <a:endParaRPr lang="en-US" sz="900"/>
          </a:p>
        </p:txBody>
      </p:sp>
      <p:sp>
        <p:nvSpPr>
          <p:cNvPr id="14" name="Text 12"/>
          <p:cNvSpPr/>
          <p:nvPr/>
        </p:nvSpPr>
        <p:spPr>
          <a:xfrm>
            <a:off x="640080" y="2203704"/>
            <a:ext cx="365760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  Multi-turn coordination strategy</a:t>
            </a:r>
            <a:endParaRPr lang="en-US" sz="900"/>
          </a:p>
        </p:txBody>
      </p:sp>
      <p:sp>
        <p:nvSpPr>
          <p:cNvPr id="15" name="Text 13"/>
          <p:cNvSpPr/>
          <p:nvPr/>
        </p:nvSpPr>
        <p:spPr>
          <a:xfrm>
            <a:off x="640080" y="2423160"/>
            <a:ext cx="365760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  Documentation (AGENTS.md, CLAUDE.md)</a:t>
            </a:r>
            <a:endParaRPr lang="en-US" sz="900"/>
          </a:p>
        </p:txBody>
      </p:sp>
      <p:sp>
        <p:nvSpPr>
          <p:cNvPr id="16" name="Shape 14"/>
          <p:cNvSpPr/>
          <p:nvPr/>
        </p:nvSpPr>
        <p:spPr>
          <a:xfrm>
            <a:off x="4754880" y="868680"/>
            <a:ext cx="4023360" cy="18745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7" name="Shape 15"/>
          <p:cNvSpPr/>
          <p:nvPr/>
        </p:nvSpPr>
        <p:spPr>
          <a:xfrm rot="5400000">
            <a:off x="3835908" y="1782914"/>
            <a:ext cx="1874520" cy="36576"/>
          </a:xfrm>
          <a:prstGeom prst="rect">
            <a:avLst/>
          </a:prstGeom>
          <a:solidFill>
            <a:srgbClr val="06B6D4"/>
          </a:solidFill>
          <a:ln/>
        </p:spPr>
        <p:txBody>
          <a:bodyPr/>
          <a:lstStyle/>
          <a:p>
            <a:endParaRPr lang="en-US"/>
          </a:p>
        </p:txBody>
      </p:sp>
      <p:sp>
        <p:nvSpPr>
          <p:cNvPr id="18" name="Text 16"/>
          <p:cNvSpPr/>
          <p:nvPr/>
        </p:nvSpPr>
        <p:spPr>
          <a:xfrm>
            <a:off x="4937760" y="1005840"/>
            <a:ext cx="3200400" cy="228600"/>
          </a:xfrm>
          <a:prstGeom prst="rect">
            <a:avLst/>
          </a:prstGeom>
          <a:noFill/>
          <a:ln/>
        </p:spPr>
        <p:txBody>
          <a:bodyPr wrap="square" lIns="0" tIns="0" rIns="0" bIns="0" rtlCol="0" anchor="ctr"/>
          <a:lstStyle/>
          <a:p>
            <a:pPr marL="0" indent="0">
              <a:buNone/>
            </a:pPr>
            <a:r>
              <a:rPr lang="en-US" sz="1200" b="1">
                <a:solidFill>
                  <a:srgbClr val="1E293B"/>
                </a:solidFill>
                <a:latin typeface="Trebuchet MS" pitchFamily="34" charset="0"/>
                <a:ea typeface="Trebuchet MS" pitchFamily="34" charset="-122"/>
                <a:cs typeface="Trebuchet MS" pitchFamily="34" charset="-120"/>
              </a:rPr>
              <a:t>Raja Barathan</a:t>
            </a:r>
            <a:endParaRPr lang="en-US" sz="1200"/>
          </a:p>
        </p:txBody>
      </p:sp>
      <p:sp>
        <p:nvSpPr>
          <p:cNvPr id="19" name="Shape 17"/>
          <p:cNvSpPr/>
          <p:nvPr/>
        </p:nvSpPr>
        <p:spPr>
          <a:xfrm>
            <a:off x="7909560" y="1005840"/>
            <a:ext cx="713232" cy="228600"/>
          </a:xfrm>
          <a:prstGeom prst="rect">
            <a:avLst/>
          </a:prstGeom>
          <a:solidFill>
            <a:srgbClr val="06B6D4"/>
          </a:solidFill>
          <a:ln/>
        </p:spPr>
        <p:txBody>
          <a:bodyPr/>
          <a:lstStyle/>
          <a:p>
            <a:endParaRPr lang="en-US"/>
          </a:p>
        </p:txBody>
      </p:sp>
      <p:sp>
        <p:nvSpPr>
          <p:cNvPr id="20" name="Text 18"/>
          <p:cNvSpPr/>
          <p:nvPr/>
        </p:nvSpPr>
        <p:spPr>
          <a:xfrm>
            <a:off x="7909560" y="1005840"/>
            <a:ext cx="731520" cy="228600"/>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Prod / Comms</a:t>
            </a:r>
            <a:endParaRPr lang="en-US" sz="800"/>
          </a:p>
        </p:txBody>
      </p:sp>
      <p:sp>
        <p:nvSpPr>
          <p:cNvPr id="21" name="Text 19"/>
          <p:cNvSpPr/>
          <p:nvPr/>
        </p:nvSpPr>
        <p:spPr>
          <a:xfrm>
            <a:off x="4937760" y="1325880"/>
            <a:ext cx="365760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  ProductAgent with catalog data</a:t>
            </a:r>
            <a:endParaRPr lang="en-US" sz="900"/>
          </a:p>
        </p:txBody>
      </p:sp>
      <p:sp>
        <p:nvSpPr>
          <p:cNvPr id="22" name="Text 20"/>
          <p:cNvSpPr/>
          <p:nvPr/>
        </p:nvSpPr>
        <p:spPr>
          <a:xfrm>
            <a:off x="4937760" y="1545336"/>
            <a:ext cx="365760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  ServiceabilityAgent + GIS tools</a:t>
            </a:r>
            <a:endParaRPr lang="en-US" sz="900"/>
          </a:p>
        </p:txBody>
      </p:sp>
      <p:sp>
        <p:nvSpPr>
          <p:cNvPr id="23" name="Text 21"/>
          <p:cNvSpPr/>
          <p:nvPr/>
        </p:nvSpPr>
        <p:spPr>
          <a:xfrm>
            <a:off x="4937760" y="1764792"/>
            <a:ext cx="365760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  OrderAgent cart management</a:t>
            </a:r>
            <a:endParaRPr lang="en-US" sz="900"/>
          </a:p>
        </p:txBody>
      </p:sp>
      <p:sp>
        <p:nvSpPr>
          <p:cNvPr id="24" name="Text 22"/>
          <p:cNvSpPr/>
          <p:nvPr/>
        </p:nvSpPr>
        <p:spPr>
          <a:xfrm>
            <a:off x="4937760" y="1984248"/>
            <a:ext cx="365760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  CustomerCommsAgent notifications</a:t>
            </a:r>
            <a:endParaRPr lang="en-US" sz="900"/>
          </a:p>
        </p:txBody>
      </p:sp>
      <p:sp>
        <p:nvSpPr>
          <p:cNvPr id="25" name="Shape 23"/>
          <p:cNvSpPr>
            <a:spLocks noGrp="1" noRot="1" noMove="1" noResize="1" noEditPoints="1" noAdjustHandles="1" noChangeArrowheads="1" noChangeShapeType="1"/>
          </p:cNvSpPr>
          <p:nvPr/>
        </p:nvSpPr>
        <p:spPr>
          <a:xfrm>
            <a:off x="474651" y="2876439"/>
            <a:ext cx="4023360" cy="18745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26" name="Shape 24"/>
          <p:cNvSpPr/>
          <p:nvPr/>
        </p:nvSpPr>
        <p:spPr>
          <a:xfrm rot="16200000">
            <a:off x="-452628" y="3795411"/>
            <a:ext cx="1874520" cy="36576"/>
          </a:xfrm>
          <a:prstGeom prst="rect">
            <a:avLst/>
          </a:prstGeom>
          <a:solidFill>
            <a:srgbClr val="8B5CF6"/>
          </a:solidFill>
          <a:ln/>
        </p:spPr>
        <p:txBody>
          <a:bodyPr/>
          <a:lstStyle/>
          <a:p>
            <a:endParaRPr lang="en-US"/>
          </a:p>
        </p:txBody>
      </p:sp>
      <p:sp>
        <p:nvSpPr>
          <p:cNvPr id="27" name="Text 25"/>
          <p:cNvSpPr/>
          <p:nvPr/>
        </p:nvSpPr>
        <p:spPr>
          <a:xfrm>
            <a:off x="640080" y="3017520"/>
            <a:ext cx="3200400" cy="228600"/>
          </a:xfrm>
          <a:prstGeom prst="rect">
            <a:avLst/>
          </a:prstGeom>
          <a:noFill/>
          <a:ln/>
        </p:spPr>
        <p:txBody>
          <a:bodyPr wrap="square" lIns="0" tIns="0" rIns="0" bIns="0" rtlCol="0" anchor="ctr"/>
          <a:lstStyle/>
          <a:p>
            <a:pPr marL="0" indent="0">
              <a:buNone/>
            </a:pPr>
            <a:r>
              <a:rPr lang="en-US" sz="1200" b="1">
                <a:solidFill>
                  <a:srgbClr val="1E293B"/>
                </a:solidFill>
                <a:latin typeface="Trebuchet MS" pitchFamily="34" charset="0"/>
                <a:ea typeface="Trebuchet MS" pitchFamily="34" charset="-122"/>
                <a:cs typeface="Trebuchet MS" pitchFamily="34" charset="-120"/>
              </a:rPr>
              <a:t>Arun Mohan</a:t>
            </a:r>
            <a:endParaRPr lang="en-US" sz="1200"/>
          </a:p>
        </p:txBody>
      </p:sp>
      <p:sp>
        <p:nvSpPr>
          <p:cNvPr id="28" name="Shape 26"/>
          <p:cNvSpPr/>
          <p:nvPr/>
        </p:nvSpPr>
        <p:spPr>
          <a:xfrm>
            <a:off x="3611880" y="3017520"/>
            <a:ext cx="713232" cy="228600"/>
          </a:xfrm>
          <a:prstGeom prst="rect">
            <a:avLst/>
          </a:prstGeom>
          <a:solidFill>
            <a:srgbClr val="8B5CF6"/>
          </a:solidFill>
          <a:ln/>
        </p:spPr>
        <p:txBody>
          <a:bodyPr/>
          <a:lstStyle/>
          <a:p>
            <a:endParaRPr lang="en-US"/>
          </a:p>
        </p:txBody>
      </p:sp>
      <p:sp>
        <p:nvSpPr>
          <p:cNvPr id="29" name="Text 27"/>
          <p:cNvSpPr/>
          <p:nvPr/>
        </p:nvSpPr>
        <p:spPr>
          <a:xfrm>
            <a:off x="3611880" y="3017520"/>
            <a:ext cx="713232" cy="228600"/>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Payment</a:t>
            </a:r>
            <a:endParaRPr lang="en-US" sz="800"/>
          </a:p>
        </p:txBody>
      </p:sp>
      <p:sp>
        <p:nvSpPr>
          <p:cNvPr id="30" name="Text 28"/>
          <p:cNvSpPr/>
          <p:nvPr/>
        </p:nvSpPr>
        <p:spPr>
          <a:xfrm>
            <a:off x="640080" y="3337560"/>
            <a:ext cx="365760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  PaymentAgent — credit checks &amp; authorization</a:t>
            </a:r>
            <a:endParaRPr lang="en-US" sz="900"/>
          </a:p>
        </p:txBody>
      </p:sp>
      <p:sp>
        <p:nvSpPr>
          <p:cNvPr id="31" name="Text 29"/>
          <p:cNvSpPr/>
          <p:nvPr/>
        </p:nvSpPr>
        <p:spPr>
          <a:xfrm>
            <a:off x="640080" y="3557016"/>
            <a:ext cx="365760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  ServiceFulfillmentAgent — scheduling</a:t>
            </a:r>
            <a:endParaRPr lang="en-US" sz="900"/>
          </a:p>
        </p:txBody>
      </p:sp>
      <p:sp>
        <p:nvSpPr>
          <p:cNvPr id="32" name="Text 30"/>
          <p:cNvSpPr/>
          <p:nvPr/>
        </p:nvSpPr>
        <p:spPr>
          <a:xfrm>
            <a:off x="640080" y="3776472"/>
            <a:ext cx="365760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  Payment gateway integration</a:t>
            </a:r>
            <a:endParaRPr lang="en-US" sz="900"/>
          </a:p>
        </p:txBody>
      </p:sp>
      <p:sp>
        <p:nvSpPr>
          <p:cNvPr id="33" name="Shape 31"/>
          <p:cNvSpPr/>
          <p:nvPr/>
        </p:nvSpPr>
        <p:spPr>
          <a:xfrm>
            <a:off x="4754880" y="2880360"/>
            <a:ext cx="4023360" cy="18745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34" name="Shape 32"/>
          <p:cNvSpPr/>
          <p:nvPr/>
        </p:nvSpPr>
        <p:spPr>
          <a:xfrm rot="16200000">
            <a:off x="3830064" y="3799332"/>
            <a:ext cx="1874520" cy="36576"/>
          </a:xfrm>
          <a:prstGeom prst="rect">
            <a:avLst/>
          </a:prstGeom>
          <a:solidFill>
            <a:srgbClr val="10B981"/>
          </a:solidFill>
          <a:ln/>
        </p:spPr>
        <p:txBody>
          <a:bodyPr/>
          <a:lstStyle/>
          <a:p>
            <a:endParaRPr lang="en-US"/>
          </a:p>
        </p:txBody>
      </p:sp>
      <p:sp>
        <p:nvSpPr>
          <p:cNvPr id="35" name="Text 33"/>
          <p:cNvSpPr/>
          <p:nvPr/>
        </p:nvSpPr>
        <p:spPr>
          <a:xfrm>
            <a:off x="4937760" y="3017520"/>
            <a:ext cx="3200400" cy="228600"/>
          </a:xfrm>
          <a:prstGeom prst="rect">
            <a:avLst/>
          </a:prstGeom>
          <a:noFill/>
          <a:ln/>
        </p:spPr>
        <p:txBody>
          <a:bodyPr wrap="square" lIns="0" tIns="0" rIns="0" bIns="0" rtlCol="0" anchor="ctr"/>
          <a:lstStyle/>
          <a:p>
            <a:pPr marL="0" indent="0">
              <a:buNone/>
            </a:pPr>
            <a:r>
              <a:rPr lang="en-US" sz="1200" b="1">
                <a:solidFill>
                  <a:srgbClr val="1E293B"/>
                </a:solidFill>
                <a:latin typeface="Trebuchet MS" pitchFamily="34" charset="0"/>
                <a:ea typeface="Trebuchet MS" pitchFamily="34" charset="-122"/>
                <a:cs typeface="Trebuchet MS" pitchFamily="34" charset="-120"/>
              </a:rPr>
              <a:t>Aubin</a:t>
            </a:r>
            <a:endParaRPr lang="en-US" sz="1200"/>
          </a:p>
        </p:txBody>
      </p:sp>
      <p:sp>
        <p:nvSpPr>
          <p:cNvPr id="36" name="Shape 34"/>
          <p:cNvSpPr/>
          <p:nvPr/>
        </p:nvSpPr>
        <p:spPr>
          <a:xfrm>
            <a:off x="7909560" y="3017520"/>
            <a:ext cx="713232" cy="228600"/>
          </a:xfrm>
          <a:prstGeom prst="rect">
            <a:avLst/>
          </a:prstGeom>
          <a:solidFill>
            <a:srgbClr val="10B981"/>
          </a:solidFill>
          <a:ln/>
        </p:spPr>
        <p:txBody>
          <a:bodyPr/>
          <a:lstStyle/>
          <a:p>
            <a:endParaRPr lang="en-US"/>
          </a:p>
        </p:txBody>
      </p:sp>
      <p:sp>
        <p:nvSpPr>
          <p:cNvPr id="37" name="Text 35"/>
          <p:cNvSpPr/>
          <p:nvPr/>
        </p:nvSpPr>
        <p:spPr>
          <a:xfrm>
            <a:off x="7909560" y="3017520"/>
            <a:ext cx="713232" cy="228600"/>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Data Guy</a:t>
            </a:r>
            <a:endParaRPr lang="en-US" sz="800"/>
          </a:p>
        </p:txBody>
      </p:sp>
      <p:sp>
        <p:nvSpPr>
          <p:cNvPr id="38" name="Text 36"/>
          <p:cNvSpPr/>
          <p:nvPr/>
        </p:nvSpPr>
        <p:spPr>
          <a:xfrm>
            <a:off x="4937760" y="3337560"/>
            <a:ext cx="365760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  DiscoveryAgent — prospect database (SQLite)</a:t>
            </a:r>
            <a:endParaRPr lang="en-US" sz="900"/>
          </a:p>
        </p:txBody>
      </p:sp>
      <p:sp>
        <p:nvSpPr>
          <p:cNvPr id="39" name="Text 37"/>
          <p:cNvSpPr/>
          <p:nvPr/>
        </p:nvSpPr>
        <p:spPr>
          <a:xfrm>
            <a:off x="4937760" y="3557016"/>
            <a:ext cx="365760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  Lead Generation Agent — BANT qualification</a:t>
            </a:r>
            <a:endParaRPr lang="en-US" sz="900"/>
          </a:p>
        </p:txBody>
      </p:sp>
      <p:sp>
        <p:nvSpPr>
          <p:cNvPr id="40" name="Text 38"/>
          <p:cNvSpPr/>
          <p:nvPr/>
        </p:nvSpPr>
        <p:spPr>
          <a:xfrm>
            <a:off x="4937760" y="3776472"/>
            <a:ext cx="365760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  Database schema &amp; migration scripts</a:t>
            </a:r>
            <a:endParaRPr lang="en-US" sz="900"/>
          </a:p>
        </p:txBody>
      </p:sp>
      <p:sp>
        <p:nvSpPr>
          <p:cNvPr id="41" name="Text 39"/>
          <p:cNvSpPr/>
          <p:nvPr/>
        </p:nvSpPr>
        <p:spPr>
          <a:xfrm>
            <a:off x="4937760" y="3995928"/>
            <a:ext cx="365760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  Company data seeding</a:t>
            </a:r>
            <a:endParaRPr lang="en-US" sz="900"/>
          </a:p>
        </p:txBody>
      </p:sp>
      <p:sp>
        <p:nvSpPr>
          <p:cNvPr id="44" name="Text 39">
            <a:extLst>
              <a:ext uri="{FF2B5EF4-FFF2-40B4-BE49-F238E27FC236}">
                <a16:creationId xmlns:a16="http://schemas.microsoft.com/office/drawing/2014/main" id="{ACAA85FF-D518-E055-99F9-9CCBAE7570B3}"/>
              </a:ext>
            </a:extLst>
          </p:cNvPr>
          <p:cNvSpPr/>
          <p:nvPr/>
        </p:nvSpPr>
        <p:spPr>
          <a:xfrm>
            <a:off x="4950204" y="4194980"/>
            <a:ext cx="365760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  Rag Chroma / DB</a:t>
            </a:r>
            <a:endParaRPr lang="en-US" sz="900"/>
          </a:p>
        </p:txBody>
      </p:sp>
      <p:sp>
        <p:nvSpPr>
          <p:cNvPr id="45" name="Text 39">
            <a:extLst>
              <a:ext uri="{FF2B5EF4-FFF2-40B4-BE49-F238E27FC236}">
                <a16:creationId xmlns:a16="http://schemas.microsoft.com/office/drawing/2014/main" id="{80BEF317-91B3-AEF2-48A0-260F1E671021}"/>
              </a:ext>
            </a:extLst>
          </p:cNvPr>
          <p:cNvSpPr/>
          <p:nvPr/>
        </p:nvSpPr>
        <p:spPr>
          <a:xfrm>
            <a:off x="4957983" y="4408029"/>
            <a:ext cx="365760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  End to End Testing</a:t>
            </a:r>
            <a:endParaRPr lang="en-US" sz="900"/>
          </a:p>
        </p:txBody>
      </p:sp>
      <p:sp>
        <p:nvSpPr>
          <p:cNvPr id="47" name="Text 30">
            <a:extLst>
              <a:ext uri="{FF2B5EF4-FFF2-40B4-BE49-F238E27FC236}">
                <a16:creationId xmlns:a16="http://schemas.microsoft.com/office/drawing/2014/main" id="{017FE2FF-121F-7643-6560-6C5A16339EC7}"/>
              </a:ext>
            </a:extLst>
          </p:cNvPr>
          <p:cNvSpPr/>
          <p:nvPr/>
        </p:nvSpPr>
        <p:spPr>
          <a:xfrm>
            <a:off x="640080" y="3995928"/>
            <a:ext cx="365760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  Persistent Quote/Order Database</a:t>
            </a:r>
            <a:endParaRPr lang="en-US" sz="9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2219</Words>
  <Application>Microsoft Office PowerPoint</Application>
  <PresentationFormat>On-screen Show (16:9)</PresentationFormat>
  <Paragraphs>321</Paragraphs>
  <Slides>17</Slides>
  <Notes>15</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17</vt:i4>
      </vt:variant>
    </vt:vector>
  </HeadingPairs>
  <TitlesOfParts>
    <vt:vector size="24" baseType="lpstr">
      <vt:lpstr>Aptos</vt:lpstr>
      <vt:lpstr>Aptos Display</vt:lpstr>
      <vt:lpstr>Arial</vt:lpstr>
      <vt:lpstr>Calibri</vt:lpstr>
      <vt:lpstr>Trebuchet MS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B2B Conversational Sales Agent – Drexel Senior Design</dc:title>
  <dc:subject>PptxGenJS Presentation</dc:subject>
  <dc:creator>PptxGenJS</dc:creator>
  <cp:lastModifiedBy>Mohan, Arun</cp:lastModifiedBy>
  <cp:revision>1</cp:revision>
  <dcterms:created xsi:type="dcterms:W3CDTF">2026-05-03T22:20:53Z</dcterms:created>
  <dcterms:modified xsi:type="dcterms:W3CDTF">2026-05-23T22:58:13Z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0979fc8-5559-4f19-93ee-e28ca03d7638_Enabled">
    <vt:lpwstr>true</vt:lpwstr>
  </property>
  <property fmtid="{D5CDD505-2E9C-101B-9397-08002B2CF9AE}" pid="3" name="MSIP_Label_d0979fc8-5559-4f19-93ee-e28ca03d7638_SetDate">
    <vt:lpwstr>2026-05-04T21:26:23Z</vt:lpwstr>
  </property>
  <property fmtid="{D5CDD505-2E9C-101B-9397-08002B2CF9AE}" pid="4" name="MSIP_Label_d0979fc8-5559-4f19-93ee-e28ca03d7638_Method">
    <vt:lpwstr>Privileged</vt:lpwstr>
  </property>
  <property fmtid="{D5CDD505-2E9C-101B-9397-08002B2CF9AE}" pid="5" name="MSIP_Label_d0979fc8-5559-4f19-93ee-e28ca03d7638_Name">
    <vt:lpwstr>General Business Information (G)</vt:lpwstr>
  </property>
  <property fmtid="{D5CDD505-2E9C-101B-9397-08002B2CF9AE}" pid="6" name="MSIP_Label_d0979fc8-5559-4f19-93ee-e28ca03d7638_SiteId">
    <vt:lpwstr>906aefe9-76a7-4f65-b82d-5ec20775d5aa</vt:lpwstr>
  </property>
  <property fmtid="{D5CDD505-2E9C-101B-9397-08002B2CF9AE}" pid="7" name="MSIP_Label_d0979fc8-5559-4f19-93ee-e28ca03d7638_ActionId">
    <vt:lpwstr>710b71a8-be3d-4516-b4be-2ec5b2e4a1ef</vt:lpwstr>
  </property>
  <property fmtid="{D5CDD505-2E9C-101B-9397-08002B2CF9AE}" pid="8" name="MSIP_Label_d0979fc8-5559-4f19-93ee-e28ca03d7638_ContentBits">
    <vt:lpwstr>0</vt:lpwstr>
  </property>
  <property fmtid="{D5CDD505-2E9C-101B-9397-08002B2CF9AE}" pid="9" name="MSIP_Label_d0979fc8-5559-4f19-93ee-e28ca03d7638_Tag">
    <vt:lpwstr>50, 0, 1, 1</vt:lpwstr>
  </property>
</Properties>
</file>