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8" r:id="rId3"/>
    <p:sldId id="259" r:id="rId4"/>
    <p:sldId id="260" r:id="rId5"/>
    <p:sldId id="261" r:id="rId6"/>
    <p:sldId id="262" r:id="rId7"/>
    <p:sldId id="257" r:id="rId8"/>
    <p:sldId id="264" r:id="rId9"/>
    <p:sldId id="269" r:id="rId10"/>
    <p:sldId id="265" r:id="rId11"/>
    <p:sldId id="266" r:id="rId12"/>
    <p:sldId id="268" r:id="rId13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3366"/>
    <p:restoredTop sz="94610"/>
  </p:normalViewPr>
  <p:slideViewPr>
    <p:cSldViewPr snapToGrid="0" snapToObjects="1">
      <p:cViewPr varScale="1">
        <p:scale>
          <a:sx n="189" d="100"/>
          <a:sy n="189" d="100"/>
        </p:scale>
        <p:origin x="3576" y="192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0738078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2B4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17A2B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731520" y="1097280"/>
            <a:ext cx="7680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Standard vs. Custom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731520" y="1920240"/>
            <a:ext cx="7680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dirty="0">
                <a:solidFill>
                  <a:srgbClr val="17A2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BSS / OSS Patterns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731520" y="2834640"/>
            <a:ext cx="2286000" cy="36576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731520" y="320040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Comcast Business 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731520" y="4389120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April 2026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rgbClr val="0F2B4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Agenda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731520" y="1371600"/>
            <a:ext cx="457200" cy="457200"/>
          </a:xfrm>
          <a:prstGeom prst="ellipse">
            <a:avLst/>
          </a:prstGeom>
          <a:solidFill>
            <a:srgbClr val="0F2B4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1371600" y="1353312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2D374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Overview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371600" y="1627632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Standard vs. Custom matters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731520" y="2084832"/>
            <a:ext cx="457200" cy="457200"/>
          </a:xfrm>
          <a:prstGeom prst="ellipse">
            <a:avLst/>
          </a:prstGeom>
          <a:solidFill>
            <a:srgbClr val="0F2B4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731520" y="208483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371600" y="2066544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2D374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Use Cases &amp; Scenarios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371600" y="2340864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High-level scenario matrix across business units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731520" y="2798064"/>
            <a:ext cx="457200" cy="457200"/>
          </a:xfrm>
          <a:prstGeom prst="ellipse">
            <a:avLst/>
          </a:prstGeom>
          <a:solidFill>
            <a:srgbClr val="0F2B4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731520" y="279806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371600" y="2779776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2D374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High Level Architecture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371600" y="3054096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BSS/OSS stack layout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731520" y="3511296"/>
            <a:ext cx="457200" cy="457200"/>
          </a:xfrm>
          <a:prstGeom prst="ellipse">
            <a:avLst/>
          </a:prstGeom>
          <a:solidFill>
            <a:srgbClr val="0F2B4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731520" y="351129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371600" y="3493008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2D374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Impacts to Current State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1371600" y="3767328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Platform-by-platform impact assessment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731520" y="4224528"/>
            <a:ext cx="457200" cy="457200"/>
          </a:xfrm>
          <a:prstGeom prst="ellipse">
            <a:avLst/>
          </a:prstGeom>
          <a:solidFill>
            <a:srgbClr val="0F2B4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731520" y="422452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1371600" y="4206240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b="1" dirty="0">
                <a:solidFill>
                  <a:srgbClr val="0F2B4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Key Takeaways &amp; Next Steps</a:t>
            </a:r>
            <a:endParaRPr lang="en-US" dirty="0"/>
          </a:p>
        </p:txBody>
      </p:sp>
      <p:sp>
        <p:nvSpPr>
          <p:cNvPr id="22" name="Text 20"/>
          <p:cNvSpPr/>
          <p:nvPr/>
        </p:nvSpPr>
        <p:spPr>
          <a:xfrm>
            <a:off x="1371600" y="4480560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Strategy and next steps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320040"/>
            <a:ext cx="1097280" cy="292608"/>
          </a:xfrm>
          <a:prstGeom prst="rect">
            <a:avLst/>
          </a:prstGeom>
          <a:solidFill>
            <a:srgbClr val="0F2B4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731520" y="320040"/>
            <a:ext cx="1097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1965960" y="274320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0F2B4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Overview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731520" y="722376"/>
            <a:ext cx="7680960" cy="1371600"/>
          </a:xfrm>
          <a:prstGeom prst="rect">
            <a:avLst/>
          </a:prstGeom>
          <a:solidFill>
            <a:srgbClr val="E8F4FD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914400" y="902970"/>
            <a:ext cx="7315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state applications can support standard products , up to a 100 sites and standard processes effectively. </a:t>
            </a:r>
          </a:p>
          <a:p>
            <a:pPr marL="0" indent="0" algn="l">
              <a:buNone/>
            </a:pPr>
            <a:endParaRPr lang="en-US" sz="1200" dirty="0">
              <a:solidFill>
                <a:srgbClr val="2D3748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0" indent="0" algn="l">
              <a:buNone/>
            </a:pPr>
            <a:r>
              <a:rPr lang="en-US" sz="12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 Comcast Business continues to grow — expanding its global reach, selling custom solutions, large deals, obtaining new customers through acquisitions, and providing differentiating product experiences — we have an opportunity to evaluate how newer platforms can scale appropriately for custom scenarios with the most efficient cost of ownership.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768096" y="2571750"/>
            <a:ext cx="3749040" cy="1849374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699516" y="2587752"/>
            <a:ext cx="68580" cy="1849374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1042416" y="266319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0F2B4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Impacts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042416" y="3028950"/>
            <a:ext cx="3401568" cy="14081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Impacts sales opportunities due to lack of support for custom scenarios (large number of sites) and permutations in the current platform.</a:t>
            </a:r>
          </a:p>
          <a:p>
            <a:pPr marL="0" indent="0" algn="l">
              <a:buNone/>
            </a:pPr>
            <a:endParaRPr lang="en-US" sz="1100" dirty="0">
              <a:solidFill>
                <a:srgbClr val="2D3748"/>
              </a:solidFill>
              <a:latin typeface="Calibri" pitchFamily="34" charset="0"/>
              <a:cs typeface="Calibri" pitchFamily="34" charset="-120"/>
            </a:endParaRPr>
          </a:p>
          <a:p>
            <a:pPr marL="0" indent="0" algn="l">
              <a:buNone/>
            </a:pPr>
            <a:r>
              <a:rPr lang="en-US" sz="1100" dirty="0">
                <a:solidFill>
                  <a:srgbClr val="2D3748"/>
                </a:solidFill>
                <a:latin typeface="Calibri" pitchFamily="34" charset="0"/>
                <a:cs typeface="Calibri" pitchFamily="34" charset="-120"/>
              </a:rPr>
              <a:t>&gt;100 sites – Current Amdocs stack doesn’t scale well and needs performance improvements. Needs human touch to push the order through</a:t>
            </a:r>
          </a:p>
          <a:p>
            <a:pPr marL="0" indent="0" algn="l">
              <a:buNone/>
            </a:pPr>
            <a:r>
              <a:rPr lang="en-US" sz="1100" dirty="0">
                <a:solidFill>
                  <a:srgbClr val="2D3748"/>
                </a:solidFill>
                <a:latin typeface="Calibri" pitchFamily="34" charset="0"/>
                <a:cs typeface="Calibri" pitchFamily="34" charset="-120"/>
              </a:rPr>
              <a:t>Certain products are built exclusively in the Amdocs stack</a:t>
            </a:r>
          </a:p>
          <a:p>
            <a:pPr marL="0" indent="0" algn="l">
              <a:buNone/>
            </a:pP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791456" y="2571750"/>
            <a:ext cx="3730752" cy="1849374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4718304" y="2596896"/>
            <a:ext cx="73152" cy="1824228"/>
          </a:xfrm>
          <a:prstGeom prst="rect">
            <a:avLst/>
          </a:prstGeom>
          <a:solidFill>
            <a:srgbClr val="17A2B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5065776" y="2654046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0F2B4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Current stack BSS/OSS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5065776" y="3028950"/>
            <a:ext cx="3300984" cy="12961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15000"/>
              </a:lnSpc>
            </a:pPr>
            <a:r>
              <a:rPr lang="en-US" sz="1100" dirty="0">
                <a:solidFill>
                  <a:srgbClr val="33415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•  Current platforms support </a:t>
            </a:r>
            <a:r>
              <a:rPr lang="en-US" sz="1100" b="1" dirty="0">
                <a:solidFill>
                  <a:srgbClr val="FF550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SMB and standard Enterprise</a:t>
            </a:r>
            <a:r>
              <a:rPr lang="en-US" sz="1100" dirty="0">
                <a:solidFill>
                  <a:srgbClr val="33415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effectively
•  Capability gaps emerge for:</a:t>
            </a:r>
            <a:r>
              <a:rPr lang="en-US" sz="1000" dirty="0">
                <a:solidFill>
                  <a:srgbClr val="47556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
     ◦  Custom products and pricing- Sales, Catalog and CPQ
     ◦  Large, complex, multi-site deployments &gt;100 sites
</a:t>
            </a:r>
            <a:r>
              <a:rPr lang="en-US" sz="1100" dirty="0">
                <a:solidFill>
                  <a:srgbClr val="33415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•  These gaps introduce </a:t>
            </a:r>
            <a:r>
              <a:rPr lang="en-US" sz="1100" b="1" dirty="0">
                <a:solidFill>
                  <a:srgbClr val="FF550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scale limits</a:t>
            </a:r>
            <a:r>
              <a:rPr lang="en-US" sz="1100" dirty="0">
                <a:solidFill>
                  <a:srgbClr val="33415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, manual workarounds, and risk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320040"/>
            <a:ext cx="1280160" cy="292608"/>
          </a:xfrm>
          <a:prstGeom prst="rect">
            <a:avLst/>
          </a:prstGeom>
          <a:solidFill>
            <a:srgbClr val="0F2B4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731520" y="320040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2148840" y="274320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0F2B4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Scenarios — Standard</a:t>
            </a:r>
            <a:endParaRPr lang="en-US" sz="24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09231637"/>
              </p:ext>
            </p:extLst>
          </p:nvPr>
        </p:nvGraphicFramePr>
        <p:xfrm>
          <a:off x="274320" y="1005840"/>
          <a:ext cx="8595360" cy="2240280"/>
        </p:xfrm>
        <a:graphic>
          <a:graphicData uri="http://schemas.openxmlformats.org/drawingml/2006/table">
            <a:tbl>
              <a:tblPr/>
              <a:tblGrid>
                <a:gridCol w="10972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229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0584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00584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32004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Scenario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B4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Lead/Opp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B4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Quoting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B4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Ordering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B4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Fulfillment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B4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Billing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B4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Assurance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B4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Digital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B4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&lt; 10 site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Dynamics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Bundle Builder/SQO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Workbench/CSG OSO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CSG/OSO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CSG/Amdocs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ICO/CAFÉ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Digital Convergence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&lt; 100 site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Dynamics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SQO - C1/D1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OSO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OSO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Amdocs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ICO/CAFÉ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Digital Convergence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&lt; 1000 site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Dynamics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dirty="0">
                          <a:solidFill>
                            <a:srgbClr val="FF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SQO - C1/D1</a:t>
                      </a:r>
                      <a:endParaRPr lang="en-US" sz="750" dirty="0">
                        <a:solidFill>
                          <a:srgbClr val="FF0000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OSO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OSO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Amdocs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ICO/CAFÉ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Digital Convergence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&gt; 1000 site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Dynamics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dirty="0">
                          <a:solidFill>
                            <a:srgbClr val="00B0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SOW Tool++</a:t>
                      </a:r>
                      <a:endParaRPr lang="en-US" sz="750" dirty="0">
                        <a:solidFill>
                          <a:srgbClr val="00B050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Compass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OSO/COSMOS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Singleview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ICO/CAFÉ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Digital Convergence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CBG Standard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Dynamics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SQO - C1/D1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OSO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OSO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Amdocs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ICO/CAFÉ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Digital Convergence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Nitel Standard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Dynamics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Intellipro/SQO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OSO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OSO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Amdocs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ICO/CAFÉ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Digital Convergence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320040"/>
            <a:ext cx="1280160" cy="292608"/>
          </a:xfrm>
          <a:prstGeom prst="rect">
            <a:avLst/>
          </a:prstGeom>
          <a:solidFill>
            <a:srgbClr val="0F2B4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731520" y="320040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2148840" y="274320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0F2B4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Scenarios — Custom</a:t>
            </a:r>
            <a:endParaRPr lang="en-US" sz="24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98440069"/>
              </p:ext>
            </p:extLst>
          </p:nvPr>
        </p:nvGraphicFramePr>
        <p:xfrm>
          <a:off x="274320" y="1005840"/>
          <a:ext cx="8595360" cy="2240280"/>
        </p:xfrm>
        <a:graphic>
          <a:graphicData uri="http://schemas.openxmlformats.org/drawingml/2006/table">
            <a:tbl>
              <a:tblPr/>
              <a:tblGrid>
                <a:gridCol w="10972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229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0584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00584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32004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Scenario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B4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Lead/Opp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B4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Quoting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B4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Ordering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B4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Fulfillment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B4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Billing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B4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Assurance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B4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Digital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B4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&lt; 10 site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Dynamics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dirty="0">
                          <a:solidFill>
                            <a:srgbClr val="00B0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SOW Tool++</a:t>
                      </a:r>
                      <a:endParaRPr lang="en-US" sz="750" dirty="0">
                        <a:solidFill>
                          <a:srgbClr val="00B050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Workbench/CSG OSO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CSG/OSO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CSG/Amdocs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ICO/CAFÉ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Digital Convergence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&lt; 100 site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Dynamics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dirty="0">
                          <a:solidFill>
                            <a:srgbClr val="00B0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SOW Tool++</a:t>
                      </a:r>
                      <a:endParaRPr lang="en-US" sz="750" dirty="0">
                        <a:solidFill>
                          <a:srgbClr val="00B050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Compass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OSO/COSMOS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Singleview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ICO/CAFÉ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Digital Convergence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&lt; 1000 site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Dynamics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dirty="0">
                          <a:solidFill>
                            <a:srgbClr val="00B0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SOW Tool++</a:t>
                      </a:r>
                      <a:endParaRPr lang="en-US" sz="750" dirty="0">
                        <a:solidFill>
                          <a:srgbClr val="00B050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Compass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OSO/COSMOS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Singleview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ICO/CAFÉ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Digital Convergence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&gt; 1000 site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Dynamics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dirty="0">
                          <a:solidFill>
                            <a:srgbClr val="00B0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SOW Tool++</a:t>
                      </a:r>
                      <a:endParaRPr lang="en-US" sz="750" dirty="0">
                        <a:solidFill>
                          <a:srgbClr val="00B050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Compass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OSO/COSMOS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Singleview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ICO/CAFÉ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Digital Convergence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CBG Custom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Dynamics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dirty="0">
                          <a:solidFill>
                            <a:srgbClr val="00B0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SOW Tool++</a:t>
                      </a:r>
                      <a:endParaRPr lang="en-US" sz="750" dirty="0">
                        <a:solidFill>
                          <a:srgbClr val="00B050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Compass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OSO/COSMOS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Singleview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ICO/CAFÉ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Digital Convergence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Nitel Custom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Dynamics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dirty="0">
                          <a:solidFill>
                            <a:srgbClr val="00B0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Intellipro/SOW++</a:t>
                      </a:r>
                      <a:endParaRPr lang="en-US" sz="750" dirty="0">
                        <a:solidFill>
                          <a:srgbClr val="00B050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Compass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OSO/COSMOS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Singleview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ICO/CAFÉ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Digital Convergence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731520" y="44805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contract type — requires SOW Tool++ and Compass/Singleview stack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320040"/>
            <a:ext cx="1280160" cy="292608"/>
          </a:xfrm>
          <a:prstGeom prst="rect">
            <a:avLst/>
          </a:prstGeom>
          <a:solidFill>
            <a:srgbClr val="0F2B4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731520" y="320040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2148840" y="274320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0F2B4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Scenarios — International, CBM &amp; Fed/SLED</a:t>
            </a:r>
            <a:endParaRPr lang="en-US" sz="20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54818025"/>
              </p:ext>
            </p:extLst>
          </p:nvPr>
        </p:nvGraphicFramePr>
        <p:xfrm>
          <a:off x="274320" y="914400"/>
          <a:ext cx="7955280" cy="3314700"/>
        </p:xfrm>
        <a:graphic>
          <a:graphicData uri="http://schemas.openxmlformats.org/drawingml/2006/table">
            <a:tbl>
              <a:tblPr/>
              <a:tblGrid>
                <a:gridCol w="12801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315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0584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00584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00584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32004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Scenario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B4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Type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B4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Lead/Opp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B4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Quoting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B4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Ordering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B4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Fulfillment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B4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Billing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B4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Assurance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B4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Intl - Short Term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Custom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Dynamics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dirty="0">
                          <a:solidFill>
                            <a:srgbClr val="00B0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SOW Tool++</a:t>
                      </a:r>
                      <a:endParaRPr lang="en-US" sz="750" dirty="0">
                        <a:solidFill>
                          <a:srgbClr val="00B050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PIVOT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PIVOT/ILEX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Geneva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ICO/CAFÉ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Intl - NorthStar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Custom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Dynamics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dirty="0">
                          <a:solidFill>
                            <a:srgbClr val="00B0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SOW Tool++</a:t>
                      </a:r>
                      <a:endParaRPr lang="en-US" sz="750" dirty="0">
                        <a:solidFill>
                          <a:srgbClr val="00B050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Compass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COSMOS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Singleview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ICO/CAFÉ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CBM - SMB (Std)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Standard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Dynamics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XOE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XOE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OrderTech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Amdocs CBM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Celestial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CBM - Ent/CES (Std)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Standard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Dynamics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dirty="0">
                          <a:solidFill>
                            <a:srgbClr val="00B0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SOW Tool++</a:t>
                      </a:r>
                      <a:endParaRPr lang="en-US" sz="750" dirty="0">
                        <a:solidFill>
                          <a:srgbClr val="00B050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OSO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OrderTech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Amdocs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ICO/CAFÉ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CBM - SMB (Cust)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Custom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Dynamics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dirty="0">
                          <a:solidFill>
                            <a:srgbClr val="00B0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SOW Tool++</a:t>
                      </a:r>
                      <a:endParaRPr lang="en-US" sz="750" dirty="0">
                        <a:solidFill>
                          <a:srgbClr val="00B050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Compass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OrderTech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Singleview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ICO/CAFÉ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CBM - Ent/CES (Cust)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Custom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Dynamics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dirty="0">
                          <a:solidFill>
                            <a:srgbClr val="00B0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SOW Tool++</a:t>
                      </a:r>
                      <a:endParaRPr lang="en-US" sz="750" dirty="0">
                        <a:solidFill>
                          <a:srgbClr val="00B050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Compass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OrderTech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Singleview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ICO/CAFÉ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Fed Gov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Government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CGS Dynamics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CGS iCertis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ServiceNow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ServiceNow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Encompass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ServiceNow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SLED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Government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CGS Dynamics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CGS iCertis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ServiceNow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ServiceNow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Encompass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ServiceNow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Fed/SLED (Comcast)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Custom (Comcast paper)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Dynamics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dirty="0">
                          <a:solidFill>
                            <a:srgbClr val="00B0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SOW Tool++</a:t>
                      </a:r>
                      <a:endParaRPr lang="en-US" sz="750" dirty="0">
                        <a:solidFill>
                          <a:srgbClr val="00B050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Compass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OSO/COSMOS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Singleview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ICO/CAFÉ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C2340"/>
          </a:solidFill>
          <a:ln/>
        </p:spPr>
        <p:txBody>
          <a:bodyPr/>
          <a:lstStyle/>
          <a:p>
            <a:endParaRPr lang="en-US" sz="1400"/>
          </a:p>
        </p:txBody>
      </p:sp>
      <p:sp>
        <p:nvSpPr>
          <p:cNvPr id="3" name="Text 1"/>
          <p:cNvSpPr/>
          <p:nvPr/>
        </p:nvSpPr>
        <p:spPr>
          <a:xfrm>
            <a:off x="457200" y="73152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SOW</a:t>
            </a:r>
            <a:r>
              <a:rPr lang="en-US" sz="1400" b="1" dirty="0">
                <a:solidFill>
                  <a:srgbClr val="FF550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++</a:t>
            </a:r>
            <a:r>
              <a:rPr lang="en-US" sz="1400" b="1" dirty="0">
                <a:solidFill>
                  <a:srgbClr val="FFFFF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— Standards-Led Acceleration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457200" y="347472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BCEE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Addressing Custom Enterprise Quoting Gaps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7132320" y="109728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0" y="658368"/>
            <a:ext cx="4572000" cy="1975104"/>
          </a:xfrm>
          <a:prstGeom prst="rect">
            <a:avLst/>
          </a:prstGeom>
          <a:solidFill>
            <a:srgbClr val="FFF4ED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 sz="1400"/>
          </a:p>
        </p:txBody>
      </p:sp>
      <p:sp>
        <p:nvSpPr>
          <p:cNvPr id="7" name="Shape 5"/>
          <p:cNvSpPr/>
          <p:nvPr/>
        </p:nvSpPr>
        <p:spPr>
          <a:xfrm>
            <a:off x="274320" y="822960"/>
            <a:ext cx="777240" cy="237744"/>
          </a:xfrm>
          <a:prstGeom prst="roundRect">
            <a:avLst>
              <a:gd name="adj" fmla="val 15385"/>
            </a:avLst>
          </a:prstGeom>
          <a:solidFill>
            <a:srgbClr val="FFE8D6"/>
          </a:solidFill>
          <a:ln/>
        </p:spPr>
        <p:txBody>
          <a:bodyPr/>
          <a:lstStyle/>
          <a:p>
            <a:endParaRPr lang="en-US" sz="1400"/>
          </a:p>
        </p:txBody>
      </p:sp>
      <p:sp>
        <p:nvSpPr>
          <p:cNvPr id="8" name="Text 6"/>
          <p:cNvSpPr/>
          <p:nvPr/>
        </p:nvSpPr>
        <p:spPr>
          <a:xfrm>
            <a:off x="274320" y="822960"/>
            <a:ext cx="777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00" b="1" dirty="0">
                <a:solidFill>
                  <a:srgbClr val="99330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CATALYST</a:t>
            </a:r>
            <a:endParaRPr lang="en-US" sz="600" dirty="0"/>
          </a:p>
        </p:txBody>
      </p:sp>
      <p:sp>
        <p:nvSpPr>
          <p:cNvPr id="9" name="Text 7"/>
          <p:cNvSpPr/>
          <p:nvPr/>
        </p:nvSpPr>
        <p:spPr>
          <a:xfrm>
            <a:off x="274320" y="1133856"/>
            <a:ext cx="4023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C234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Why Now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274320" y="1408176"/>
            <a:ext cx="40233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33415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•  Current platforms support </a:t>
            </a:r>
            <a:r>
              <a:rPr lang="en-US" sz="1000" b="1" dirty="0">
                <a:solidFill>
                  <a:srgbClr val="FF550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SMB and standard Enterprise</a:t>
            </a:r>
            <a:r>
              <a:rPr lang="en-US" sz="1000" dirty="0">
                <a:solidFill>
                  <a:srgbClr val="33415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effectively
•  Capability gaps emerge for:
</a:t>
            </a:r>
            <a:r>
              <a:rPr lang="en-US" sz="800" dirty="0">
                <a:solidFill>
                  <a:srgbClr val="47556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    ◦  Custom Enterprise customers
     ◦  Custom products and pricing
     ◦  Large, complex, multi-site deployments &gt;50 sites
</a:t>
            </a:r>
            <a:r>
              <a:rPr lang="en-US" sz="1000" dirty="0">
                <a:solidFill>
                  <a:srgbClr val="33415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•  These gaps introduce </a:t>
            </a:r>
            <a:r>
              <a:rPr lang="en-US" sz="1000" b="1" dirty="0">
                <a:solidFill>
                  <a:srgbClr val="FF550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scale limits</a:t>
            </a:r>
            <a:r>
              <a:rPr lang="en-US" sz="1000" dirty="0">
                <a:solidFill>
                  <a:srgbClr val="33415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, manual workarounds, and risk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572000" y="658368"/>
            <a:ext cx="4572000" cy="1975104"/>
          </a:xfrm>
          <a:prstGeom prst="rect">
            <a:avLst/>
          </a:prstGeom>
          <a:solidFill>
            <a:srgbClr val="E8F0FC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 sz="1400"/>
          </a:p>
        </p:txBody>
      </p:sp>
      <p:sp>
        <p:nvSpPr>
          <p:cNvPr id="12" name="Shape 10"/>
          <p:cNvSpPr/>
          <p:nvPr/>
        </p:nvSpPr>
        <p:spPr>
          <a:xfrm>
            <a:off x="4846320" y="822960"/>
            <a:ext cx="868680" cy="237744"/>
          </a:xfrm>
          <a:prstGeom prst="roundRect">
            <a:avLst>
              <a:gd name="adj" fmla="val 15385"/>
            </a:avLst>
          </a:prstGeom>
          <a:solidFill>
            <a:srgbClr val="D1E2F9"/>
          </a:solidFill>
          <a:ln/>
        </p:spPr>
        <p:txBody>
          <a:bodyPr/>
          <a:lstStyle/>
          <a:p>
            <a:endParaRPr lang="en-US" sz="1400"/>
          </a:p>
        </p:txBody>
      </p:sp>
      <p:sp>
        <p:nvSpPr>
          <p:cNvPr id="13" name="Text 11"/>
          <p:cNvSpPr/>
          <p:nvPr/>
        </p:nvSpPr>
        <p:spPr>
          <a:xfrm>
            <a:off x="4846320" y="822960"/>
            <a:ext cx="868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00" b="1" dirty="0">
                <a:solidFill>
                  <a:srgbClr val="003382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OBJECTIVE</a:t>
            </a:r>
            <a:endParaRPr lang="en-US" sz="600" dirty="0"/>
          </a:p>
        </p:txBody>
      </p:sp>
      <p:sp>
        <p:nvSpPr>
          <p:cNvPr id="14" name="Text 12"/>
          <p:cNvSpPr/>
          <p:nvPr/>
        </p:nvSpPr>
        <p:spPr>
          <a:xfrm>
            <a:off x="4846320" y="1133856"/>
            <a:ext cx="4023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C234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What We Set Out to Do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846320" y="1408176"/>
            <a:ext cx="40233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35000"/>
              </a:lnSpc>
              <a:buNone/>
            </a:pPr>
            <a:r>
              <a:rPr lang="en-US" sz="1000" dirty="0">
                <a:solidFill>
                  <a:srgbClr val="33415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•  Close the Custom Enterprise quoting gap </a:t>
            </a:r>
            <a:r>
              <a:rPr lang="en-US" sz="1000" b="1" dirty="0">
                <a:solidFill>
                  <a:srgbClr val="FF550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quickly</a:t>
            </a:r>
            <a:r>
              <a:rPr lang="en-US" sz="1000" dirty="0">
                <a:solidFill>
                  <a:srgbClr val="000000"/>
                </a:solidFill>
              </a:rPr>
              <a:t>
</a:t>
            </a:r>
            <a:r>
              <a:rPr lang="en-US" sz="1000" dirty="0">
                <a:solidFill>
                  <a:srgbClr val="33415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•  Accelerate a </a:t>
            </a:r>
            <a:r>
              <a:rPr lang="en-US" sz="1000" b="1" dirty="0">
                <a:solidFill>
                  <a:srgbClr val="FF550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build vs. buy (COTS)</a:t>
            </a:r>
            <a:r>
              <a:rPr lang="en-US" sz="1000" dirty="0">
                <a:solidFill>
                  <a:srgbClr val="33415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decision
•  Minimize upfront spend while maximizing learning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0" y="2633472"/>
            <a:ext cx="4572000" cy="1975104"/>
          </a:xfrm>
          <a:prstGeom prst="rect">
            <a:avLst/>
          </a:prstGeom>
          <a:solidFill>
            <a:srgbClr val="F0F3F7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 sz="1400"/>
          </a:p>
        </p:txBody>
      </p:sp>
      <p:sp>
        <p:nvSpPr>
          <p:cNvPr id="17" name="Shape 15"/>
          <p:cNvSpPr/>
          <p:nvPr/>
        </p:nvSpPr>
        <p:spPr>
          <a:xfrm>
            <a:off x="274320" y="2798064"/>
            <a:ext cx="896112" cy="237744"/>
          </a:xfrm>
          <a:prstGeom prst="roundRect">
            <a:avLst>
              <a:gd name="adj" fmla="val 15385"/>
            </a:avLst>
          </a:prstGeom>
          <a:solidFill>
            <a:srgbClr val="D6DEE8"/>
          </a:solidFill>
          <a:ln/>
        </p:spPr>
        <p:txBody>
          <a:bodyPr/>
          <a:lstStyle/>
          <a:p>
            <a:endParaRPr lang="en-US" sz="1400"/>
          </a:p>
        </p:txBody>
      </p:sp>
      <p:sp>
        <p:nvSpPr>
          <p:cNvPr id="18" name="Text 16"/>
          <p:cNvSpPr/>
          <p:nvPr/>
        </p:nvSpPr>
        <p:spPr>
          <a:xfrm>
            <a:off x="274320" y="2798064"/>
            <a:ext cx="89611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00" b="1" dirty="0">
                <a:solidFill>
                  <a:srgbClr val="0C234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APPROACH</a:t>
            </a:r>
            <a:endParaRPr lang="en-US" sz="600" dirty="0"/>
          </a:p>
        </p:txBody>
      </p:sp>
      <p:sp>
        <p:nvSpPr>
          <p:cNvPr id="19" name="Text 17"/>
          <p:cNvSpPr/>
          <p:nvPr/>
        </p:nvSpPr>
        <p:spPr>
          <a:xfrm>
            <a:off x="274320" y="3108960"/>
            <a:ext cx="4023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C234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How We Got Here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274320" y="3383280"/>
            <a:ext cx="40233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35000"/>
              </a:lnSpc>
              <a:buNone/>
            </a:pPr>
            <a:r>
              <a:rPr lang="en-US" sz="1000" dirty="0">
                <a:solidFill>
                  <a:srgbClr val="33415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•  Leveraged </a:t>
            </a:r>
            <a:r>
              <a:rPr lang="en-US" sz="1000" b="1" dirty="0">
                <a:solidFill>
                  <a:srgbClr val="FF550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TMF standards</a:t>
            </a:r>
            <a:r>
              <a:rPr lang="en-US" sz="1000" dirty="0">
                <a:solidFill>
                  <a:srgbClr val="33415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and open APIs as stable reference models
•  Applied </a:t>
            </a:r>
            <a:r>
              <a:rPr lang="en-US" sz="1000" b="1" dirty="0">
                <a:solidFill>
                  <a:srgbClr val="FF550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Spec-Driven Development (SDD)</a:t>
            </a:r>
            <a:r>
              <a:rPr lang="en-US" sz="1000" dirty="0">
                <a:solidFill>
                  <a:srgbClr val="33415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to enhance core capabilities
•  Built a </a:t>
            </a:r>
            <a:r>
              <a:rPr lang="en-US" sz="1000" b="1" dirty="0">
                <a:solidFill>
                  <a:srgbClr val="FF550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low-cost Prototype</a:t>
            </a:r>
            <a:r>
              <a:rPr lang="en-US" sz="1000" dirty="0">
                <a:solidFill>
                  <a:srgbClr val="33415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focused on architectural viability — not feature completeness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572000" y="2633472"/>
            <a:ext cx="4572000" cy="1975104"/>
          </a:xfrm>
          <a:prstGeom prst="rect">
            <a:avLst/>
          </a:prstGeom>
          <a:solidFill>
            <a:srgbClr val="ECFDF5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 sz="1400"/>
          </a:p>
        </p:txBody>
      </p:sp>
      <p:sp>
        <p:nvSpPr>
          <p:cNvPr id="22" name="Shape 20"/>
          <p:cNvSpPr/>
          <p:nvPr/>
        </p:nvSpPr>
        <p:spPr>
          <a:xfrm>
            <a:off x="4846320" y="2798064"/>
            <a:ext cx="822960" cy="237744"/>
          </a:xfrm>
          <a:prstGeom prst="roundRect">
            <a:avLst>
              <a:gd name="adj" fmla="val 15385"/>
            </a:avLst>
          </a:prstGeom>
          <a:solidFill>
            <a:srgbClr val="D1FAE5"/>
          </a:solidFill>
          <a:ln/>
        </p:spPr>
        <p:txBody>
          <a:bodyPr/>
          <a:lstStyle/>
          <a:p>
            <a:endParaRPr lang="en-US" sz="1400"/>
          </a:p>
        </p:txBody>
      </p:sp>
      <p:sp>
        <p:nvSpPr>
          <p:cNvPr id="23" name="Text 21"/>
          <p:cNvSpPr/>
          <p:nvPr/>
        </p:nvSpPr>
        <p:spPr>
          <a:xfrm>
            <a:off x="4846320" y="2798064"/>
            <a:ext cx="822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00" b="1" dirty="0">
                <a:solidFill>
                  <a:srgbClr val="065F46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OUTCOME</a:t>
            </a:r>
            <a:endParaRPr lang="en-US" sz="600" dirty="0"/>
          </a:p>
        </p:txBody>
      </p:sp>
      <p:sp>
        <p:nvSpPr>
          <p:cNvPr id="24" name="Text 22"/>
          <p:cNvSpPr/>
          <p:nvPr/>
        </p:nvSpPr>
        <p:spPr>
          <a:xfrm>
            <a:off x="4846320" y="3108960"/>
            <a:ext cx="4023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C234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What We Proved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4846320" y="3383280"/>
            <a:ext cx="4023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33415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•  Proven technical scaffolding:
</a:t>
            </a:r>
            <a:r>
              <a:rPr lang="en-US" sz="800" dirty="0">
                <a:solidFill>
                  <a:srgbClr val="47556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    ◦  Canonical models, APIs, orchestration patterns
</a:t>
            </a:r>
            <a:r>
              <a:rPr lang="en-US" sz="1000" dirty="0">
                <a:solidFill>
                  <a:srgbClr val="33415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•  Prototype that validates support for </a:t>
            </a:r>
            <a:r>
              <a:rPr lang="en-US" sz="1000" b="1" dirty="0">
                <a:solidFill>
                  <a:srgbClr val="FF550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complex products</a:t>
            </a:r>
            <a:r>
              <a:rPr lang="en-US" sz="1000" dirty="0">
                <a:solidFill>
                  <a:srgbClr val="33415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and </a:t>
            </a:r>
            <a:r>
              <a:rPr lang="en-US" sz="1000" b="1" dirty="0">
                <a:solidFill>
                  <a:srgbClr val="FF550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large-site scenarios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4846320" y="4096512"/>
            <a:ext cx="36576" cy="438912"/>
          </a:xfrm>
          <a:prstGeom prst="rect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en-US" sz="1400"/>
          </a:p>
        </p:txBody>
      </p:sp>
      <p:sp>
        <p:nvSpPr>
          <p:cNvPr id="27" name="Text 25"/>
          <p:cNvSpPr/>
          <p:nvPr/>
        </p:nvSpPr>
        <p:spPr>
          <a:xfrm>
            <a:off x="5010912" y="4096512"/>
            <a:ext cx="38404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000" b="1" dirty="0">
                <a:solidFill>
                  <a:srgbClr val="065F46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Clear decision point:</a:t>
            </a:r>
            <a:endParaRPr lang="en-US" sz="10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000" b="1" dirty="0">
                <a:solidFill>
                  <a:srgbClr val="065F46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Confidently continue targeted build or pivot to alternative options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214884" y="4645152"/>
            <a:ext cx="8636508" cy="420624"/>
          </a:xfrm>
          <a:prstGeom prst="rect">
            <a:avLst/>
          </a:prstGeom>
          <a:solidFill>
            <a:srgbClr val="0047BB"/>
          </a:solidFill>
          <a:ln/>
        </p:spPr>
        <p:txBody>
          <a:bodyPr/>
          <a:lstStyle/>
          <a:p>
            <a:endParaRPr lang="en-US" sz="1400"/>
          </a:p>
        </p:txBody>
      </p:sp>
      <p:sp>
        <p:nvSpPr>
          <p:cNvPr id="29" name="Text 27"/>
          <p:cNvSpPr/>
          <p:nvPr/>
        </p:nvSpPr>
        <p:spPr>
          <a:xfrm>
            <a:off x="457200" y="4608576"/>
            <a:ext cx="8229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B584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Key Takeaway: </a:t>
            </a:r>
            <a:r>
              <a:rPr lang="en-US" sz="1050" dirty="0">
                <a:solidFill>
                  <a:srgbClr val="FFFFF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We invested just enough to reduce uncertainty — accelerating decision-making while avoiding premature commitment.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0" y="4992624"/>
            <a:ext cx="9144000" cy="155448"/>
          </a:xfrm>
          <a:prstGeom prst="rect">
            <a:avLst/>
          </a:prstGeom>
          <a:solidFill>
            <a:srgbClr val="F0F3F7"/>
          </a:solidFill>
          <a:ln w="6350">
            <a:solidFill>
              <a:srgbClr val="D6DEE8"/>
            </a:solidFill>
            <a:prstDash val="solid"/>
          </a:ln>
        </p:spPr>
        <p:txBody>
          <a:bodyPr/>
          <a:lstStyle/>
          <a:p>
            <a:endParaRPr lang="en-US" sz="1400"/>
          </a:p>
        </p:txBody>
      </p:sp>
      <p:sp>
        <p:nvSpPr>
          <p:cNvPr id="32" name="Text 30"/>
          <p:cNvSpPr/>
          <p:nvPr/>
        </p:nvSpPr>
        <p:spPr>
          <a:xfrm>
            <a:off x="5029200" y="4992624"/>
            <a:ext cx="36576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00" dirty="0">
                <a:solidFill>
                  <a:srgbClr val="64748B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Audience: </a:t>
            </a:r>
            <a:r>
              <a:rPr lang="en-US" sz="500" b="1" dirty="0">
                <a:solidFill>
                  <a:srgbClr val="003382"/>
                </a:solidFill>
                <a:highlight>
                  <a:srgbClr val="D1E2F9"/>
                </a:highlight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CIO </a:t>
            </a:r>
            <a:r>
              <a:rPr lang="en-US" sz="500" dirty="0">
                <a:solidFill>
                  <a:srgbClr val="000000"/>
                </a:solidFill>
              </a:rPr>
              <a:t>  </a:t>
            </a:r>
            <a:r>
              <a:rPr lang="en-US" sz="500" b="1" dirty="0">
                <a:solidFill>
                  <a:srgbClr val="0C2340"/>
                </a:solidFill>
                <a:highlight>
                  <a:srgbClr val="D6DEE8"/>
                </a:highlight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ARCHITECTS </a:t>
            </a:r>
            <a:r>
              <a:rPr lang="en-US" sz="500" dirty="0">
                <a:solidFill>
                  <a:srgbClr val="000000"/>
                </a:solidFill>
              </a:rPr>
              <a:t>  </a:t>
            </a:r>
            <a:r>
              <a:rPr lang="en-US" sz="500" b="1" dirty="0">
                <a:solidFill>
                  <a:srgbClr val="993300"/>
                </a:solidFill>
                <a:highlight>
                  <a:srgbClr val="FFE8D6"/>
                </a:highlight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DEVELOPERS </a:t>
            </a:r>
            <a:endParaRPr lang="en-US" sz="600" dirty="0"/>
          </a:p>
        </p:txBody>
      </p:sp>
      <p:sp>
        <p:nvSpPr>
          <p:cNvPr id="33" name="Text 1">
            <a:extLst>
              <a:ext uri="{FF2B5EF4-FFF2-40B4-BE49-F238E27FC236}">
                <a16:creationId xmlns:a16="http://schemas.microsoft.com/office/drawing/2014/main" id="{762D7AAE-5232-A1F9-C75B-9814605CD954}"/>
              </a:ext>
            </a:extLst>
          </p:cNvPr>
          <p:cNvSpPr/>
          <p:nvPr/>
        </p:nvSpPr>
        <p:spPr>
          <a:xfrm>
            <a:off x="-310896" y="86868"/>
            <a:ext cx="1097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F2B4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320040"/>
            <a:ext cx="1097280" cy="292608"/>
          </a:xfrm>
          <a:prstGeom prst="rect">
            <a:avLst/>
          </a:prstGeom>
          <a:solidFill>
            <a:srgbClr val="17A2B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731520" y="320040"/>
            <a:ext cx="1097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1965960" y="274320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High Level Architecture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612648" y="1371600"/>
            <a:ext cx="1005840" cy="1280160"/>
          </a:xfrm>
          <a:prstGeom prst="rect">
            <a:avLst/>
          </a:prstGeom>
          <a:solidFill>
            <a:srgbClr val="1B6B93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612648" y="1371600"/>
            <a:ext cx="10058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 / Opp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Dynamics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618488" y="1783080"/>
            <a:ext cx="1463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59E0B"/>
                </a:solidFill>
              </a:rPr>
              <a:t>▶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1764792" y="1371600"/>
            <a:ext cx="1005840" cy="1280160"/>
          </a:xfrm>
          <a:prstGeom prst="rect">
            <a:avLst/>
          </a:prstGeom>
          <a:solidFill>
            <a:srgbClr val="1B6B93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1764792" y="1371600"/>
            <a:ext cx="10058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Quoting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SOW++ / SQO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2770632" y="1783080"/>
            <a:ext cx="1463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59E0B"/>
                </a:solidFill>
              </a:rPr>
              <a:t>▶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2916936" y="1371600"/>
            <a:ext cx="1005840" cy="1280160"/>
          </a:xfrm>
          <a:prstGeom prst="rect">
            <a:avLst/>
          </a:prstGeom>
          <a:solidFill>
            <a:srgbClr val="17A2B8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2916936" y="1371600"/>
            <a:ext cx="10058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Ordering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Compass / OSO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3922776" y="1783080"/>
            <a:ext cx="1463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59E0B"/>
                </a:solidFill>
              </a:rPr>
              <a:t>▶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069080" y="1371600"/>
            <a:ext cx="1005840" cy="1280160"/>
          </a:xfrm>
          <a:prstGeom prst="rect">
            <a:avLst/>
          </a:prstGeom>
          <a:solidFill>
            <a:srgbClr val="17A2B8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4069080" y="1371600"/>
            <a:ext cx="10058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Fulfillment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OSO / COSMOS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5074920" y="1783080"/>
            <a:ext cx="1463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59E0B"/>
                </a:solidFill>
              </a:rPr>
              <a:t>▶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5221224" y="1371600"/>
            <a:ext cx="1005840" cy="1280160"/>
          </a:xfrm>
          <a:prstGeom prst="rect">
            <a:avLst/>
          </a:prstGeom>
          <a:solidFill>
            <a:srgbClr val="1B6B93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5221224" y="1371600"/>
            <a:ext cx="10058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Billing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Singleview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Amdocs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6227064" y="1783080"/>
            <a:ext cx="1463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59E0B"/>
                </a:solidFill>
              </a:rPr>
              <a:t>▶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6373368" y="1371600"/>
            <a:ext cx="1005840" cy="1280160"/>
          </a:xfrm>
          <a:prstGeom prst="rect">
            <a:avLst/>
          </a:prstGeom>
          <a:solidFill>
            <a:srgbClr val="1B6B93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6373368" y="1371600"/>
            <a:ext cx="10058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Assurance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ICO / CAFÉ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7379208" y="1783080"/>
            <a:ext cx="1463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59E0B"/>
                </a:solidFill>
              </a:rPr>
              <a:t>▶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7525512" y="1371600"/>
            <a:ext cx="1005840" cy="1280160"/>
          </a:xfrm>
          <a:prstGeom prst="rect">
            <a:avLst/>
          </a:prstGeom>
          <a:solidFill>
            <a:srgbClr val="17A2B8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7525512" y="1371600"/>
            <a:ext cx="10058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Convergence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274320" y="3108960"/>
            <a:ext cx="1188720" cy="548640"/>
          </a:xfrm>
          <a:prstGeom prst="rect">
            <a:avLst/>
          </a:prstGeom>
          <a:solidFill>
            <a:srgbClr val="17A2B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274320" y="3108960"/>
            <a:ext cx="1188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 Path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1645920" y="3108960"/>
            <a:ext cx="960120" cy="548640"/>
          </a:xfrm>
          <a:prstGeom prst="rect">
            <a:avLst/>
          </a:prstGeom>
          <a:solidFill>
            <a:srgbClr val="FFFFFF">
              <a:alpha val="10000"/>
            </a:srgbClr>
          </a:solidFill>
          <a:ln w="12700">
            <a:solidFill>
              <a:srgbClr val="17A2B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1645920" y="3108960"/>
            <a:ext cx="960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Dynamics</a:t>
            </a:r>
            <a:endParaRPr lang="en-US" sz="800" dirty="0"/>
          </a:p>
        </p:txBody>
      </p:sp>
      <p:sp>
        <p:nvSpPr>
          <p:cNvPr id="29" name="Shape 27"/>
          <p:cNvSpPr/>
          <p:nvPr/>
        </p:nvSpPr>
        <p:spPr>
          <a:xfrm>
            <a:off x="2688336" y="3108960"/>
            <a:ext cx="960120" cy="548640"/>
          </a:xfrm>
          <a:prstGeom prst="rect">
            <a:avLst/>
          </a:prstGeom>
          <a:solidFill>
            <a:srgbClr val="FFFFFF">
              <a:alpha val="10000"/>
            </a:srgbClr>
          </a:solidFill>
          <a:ln w="12700">
            <a:solidFill>
              <a:srgbClr val="17A2B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2688336" y="3108960"/>
            <a:ext cx="960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SQO / C1/D1</a:t>
            </a:r>
            <a:endParaRPr lang="en-US" sz="800" dirty="0"/>
          </a:p>
        </p:txBody>
      </p:sp>
      <p:sp>
        <p:nvSpPr>
          <p:cNvPr id="31" name="Shape 29"/>
          <p:cNvSpPr/>
          <p:nvPr/>
        </p:nvSpPr>
        <p:spPr>
          <a:xfrm>
            <a:off x="3730752" y="3108960"/>
            <a:ext cx="960120" cy="548640"/>
          </a:xfrm>
          <a:prstGeom prst="rect">
            <a:avLst/>
          </a:prstGeom>
          <a:solidFill>
            <a:srgbClr val="FFFFFF">
              <a:alpha val="10000"/>
            </a:srgbClr>
          </a:solidFill>
          <a:ln w="12700">
            <a:solidFill>
              <a:srgbClr val="17A2B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3730752" y="3108960"/>
            <a:ext cx="960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OSO</a:t>
            </a:r>
            <a:endParaRPr lang="en-US" sz="800" dirty="0"/>
          </a:p>
        </p:txBody>
      </p:sp>
      <p:sp>
        <p:nvSpPr>
          <p:cNvPr id="33" name="Shape 31"/>
          <p:cNvSpPr/>
          <p:nvPr/>
        </p:nvSpPr>
        <p:spPr>
          <a:xfrm>
            <a:off x="4773168" y="3108960"/>
            <a:ext cx="960120" cy="548640"/>
          </a:xfrm>
          <a:prstGeom prst="rect">
            <a:avLst/>
          </a:prstGeom>
          <a:solidFill>
            <a:srgbClr val="FFFFFF">
              <a:alpha val="10000"/>
            </a:srgbClr>
          </a:solidFill>
          <a:ln w="12700">
            <a:solidFill>
              <a:srgbClr val="17A2B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Text 32"/>
          <p:cNvSpPr/>
          <p:nvPr/>
        </p:nvSpPr>
        <p:spPr>
          <a:xfrm>
            <a:off x="4773168" y="3108960"/>
            <a:ext cx="960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OSO</a:t>
            </a:r>
            <a:endParaRPr lang="en-US" sz="800" dirty="0"/>
          </a:p>
        </p:txBody>
      </p:sp>
      <p:sp>
        <p:nvSpPr>
          <p:cNvPr id="35" name="Shape 33"/>
          <p:cNvSpPr/>
          <p:nvPr/>
        </p:nvSpPr>
        <p:spPr>
          <a:xfrm>
            <a:off x="5815584" y="3108960"/>
            <a:ext cx="960120" cy="548640"/>
          </a:xfrm>
          <a:prstGeom prst="rect">
            <a:avLst/>
          </a:prstGeom>
          <a:solidFill>
            <a:srgbClr val="FFFFFF">
              <a:alpha val="10000"/>
            </a:srgbClr>
          </a:solidFill>
          <a:ln w="12700">
            <a:solidFill>
              <a:srgbClr val="17A2B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Text 34"/>
          <p:cNvSpPr/>
          <p:nvPr/>
        </p:nvSpPr>
        <p:spPr>
          <a:xfrm>
            <a:off x="5815584" y="3108960"/>
            <a:ext cx="960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Amdocs</a:t>
            </a:r>
            <a:endParaRPr lang="en-US" sz="800" dirty="0"/>
          </a:p>
        </p:txBody>
      </p:sp>
      <p:sp>
        <p:nvSpPr>
          <p:cNvPr id="37" name="Shape 35"/>
          <p:cNvSpPr/>
          <p:nvPr/>
        </p:nvSpPr>
        <p:spPr>
          <a:xfrm>
            <a:off x="6858000" y="3108960"/>
            <a:ext cx="960120" cy="548640"/>
          </a:xfrm>
          <a:prstGeom prst="rect">
            <a:avLst/>
          </a:prstGeom>
          <a:solidFill>
            <a:srgbClr val="FFFFFF">
              <a:alpha val="10000"/>
            </a:srgbClr>
          </a:solidFill>
          <a:ln w="12700">
            <a:solidFill>
              <a:srgbClr val="17A2B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Text 36"/>
          <p:cNvSpPr/>
          <p:nvPr/>
        </p:nvSpPr>
        <p:spPr>
          <a:xfrm>
            <a:off x="6858000" y="3108960"/>
            <a:ext cx="960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ICO/CAFÉ</a:t>
            </a:r>
            <a:endParaRPr lang="en-US" sz="800" dirty="0"/>
          </a:p>
        </p:txBody>
      </p:sp>
      <p:sp>
        <p:nvSpPr>
          <p:cNvPr id="39" name="Shape 37"/>
          <p:cNvSpPr/>
          <p:nvPr/>
        </p:nvSpPr>
        <p:spPr>
          <a:xfrm>
            <a:off x="7900416" y="3108960"/>
            <a:ext cx="960120" cy="548640"/>
          </a:xfrm>
          <a:prstGeom prst="rect">
            <a:avLst/>
          </a:prstGeom>
          <a:solidFill>
            <a:srgbClr val="FFFFFF">
              <a:alpha val="10000"/>
            </a:srgbClr>
          </a:solidFill>
          <a:ln w="12700">
            <a:solidFill>
              <a:srgbClr val="17A2B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" name="Text 38"/>
          <p:cNvSpPr/>
          <p:nvPr/>
        </p:nvSpPr>
        <p:spPr>
          <a:xfrm>
            <a:off x="7900416" y="3108960"/>
            <a:ext cx="960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Conv.</a:t>
            </a:r>
            <a:endParaRPr lang="en-US" sz="800" dirty="0"/>
          </a:p>
        </p:txBody>
      </p:sp>
      <p:sp>
        <p:nvSpPr>
          <p:cNvPr id="41" name="Shape 39"/>
          <p:cNvSpPr/>
          <p:nvPr/>
        </p:nvSpPr>
        <p:spPr>
          <a:xfrm>
            <a:off x="274320" y="3931920"/>
            <a:ext cx="1188720" cy="548640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2" name="Text 40"/>
          <p:cNvSpPr/>
          <p:nvPr/>
        </p:nvSpPr>
        <p:spPr>
          <a:xfrm>
            <a:off x="274320" y="3931920"/>
            <a:ext cx="1188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Path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1645920" y="3931920"/>
            <a:ext cx="960120" cy="548640"/>
          </a:xfrm>
          <a:prstGeom prst="rect">
            <a:avLst/>
          </a:prstGeom>
          <a:solidFill>
            <a:srgbClr val="FFFFFF">
              <a:alpha val="10000"/>
            </a:srgbClr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4" name="Text 42"/>
          <p:cNvSpPr/>
          <p:nvPr/>
        </p:nvSpPr>
        <p:spPr>
          <a:xfrm>
            <a:off x="1645920" y="3931920"/>
            <a:ext cx="960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Dynamics</a:t>
            </a:r>
            <a:endParaRPr lang="en-US" sz="800" dirty="0"/>
          </a:p>
        </p:txBody>
      </p:sp>
      <p:sp>
        <p:nvSpPr>
          <p:cNvPr id="45" name="Shape 43"/>
          <p:cNvSpPr/>
          <p:nvPr/>
        </p:nvSpPr>
        <p:spPr>
          <a:xfrm>
            <a:off x="2688336" y="3931920"/>
            <a:ext cx="960120" cy="548640"/>
          </a:xfrm>
          <a:prstGeom prst="rect">
            <a:avLst/>
          </a:prstGeom>
          <a:solidFill>
            <a:srgbClr val="FFFFFF">
              <a:alpha val="10000"/>
            </a:srgbClr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6" name="Text 44"/>
          <p:cNvSpPr/>
          <p:nvPr/>
        </p:nvSpPr>
        <p:spPr>
          <a:xfrm>
            <a:off x="2688336" y="3931920"/>
            <a:ext cx="960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SOW Tool++</a:t>
            </a:r>
            <a:endParaRPr lang="en-US" sz="800" dirty="0"/>
          </a:p>
        </p:txBody>
      </p:sp>
      <p:sp>
        <p:nvSpPr>
          <p:cNvPr id="47" name="Shape 45"/>
          <p:cNvSpPr/>
          <p:nvPr/>
        </p:nvSpPr>
        <p:spPr>
          <a:xfrm>
            <a:off x="3730752" y="3931920"/>
            <a:ext cx="960120" cy="548640"/>
          </a:xfrm>
          <a:prstGeom prst="rect">
            <a:avLst/>
          </a:prstGeom>
          <a:solidFill>
            <a:srgbClr val="FFFFFF">
              <a:alpha val="10000"/>
            </a:srgbClr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8" name="Text 46"/>
          <p:cNvSpPr/>
          <p:nvPr/>
        </p:nvSpPr>
        <p:spPr>
          <a:xfrm>
            <a:off x="3730752" y="3931920"/>
            <a:ext cx="960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Compass</a:t>
            </a:r>
            <a:endParaRPr lang="en-US" sz="800" dirty="0"/>
          </a:p>
        </p:txBody>
      </p:sp>
      <p:sp>
        <p:nvSpPr>
          <p:cNvPr id="49" name="Shape 47"/>
          <p:cNvSpPr/>
          <p:nvPr/>
        </p:nvSpPr>
        <p:spPr>
          <a:xfrm>
            <a:off x="4773168" y="3931920"/>
            <a:ext cx="960120" cy="548640"/>
          </a:xfrm>
          <a:prstGeom prst="rect">
            <a:avLst/>
          </a:prstGeom>
          <a:solidFill>
            <a:srgbClr val="FFFFFF">
              <a:alpha val="10000"/>
            </a:srgbClr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0" name="Text 48"/>
          <p:cNvSpPr/>
          <p:nvPr/>
        </p:nvSpPr>
        <p:spPr>
          <a:xfrm>
            <a:off x="4773168" y="3931920"/>
            <a:ext cx="960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OSO/COSMOS</a:t>
            </a:r>
            <a:endParaRPr lang="en-US" sz="800" dirty="0"/>
          </a:p>
        </p:txBody>
      </p:sp>
      <p:sp>
        <p:nvSpPr>
          <p:cNvPr id="51" name="Shape 49"/>
          <p:cNvSpPr/>
          <p:nvPr/>
        </p:nvSpPr>
        <p:spPr>
          <a:xfrm>
            <a:off x="5815584" y="3931920"/>
            <a:ext cx="960120" cy="548640"/>
          </a:xfrm>
          <a:prstGeom prst="rect">
            <a:avLst/>
          </a:prstGeom>
          <a:solidFill>
            <a:srgbClr val="FFFFFF">
              <a:alpha val="10000"/>
            </a:srgbClr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2" name="Text 50"/>
          <p:cNvSpPr/>
          <p:nvPr/>
        </p:nvSpPr>
        <p:spPr>
          <a:xfrm>
            <a:off x="5815584" y="3931920"/>
            <a:ext cx="960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Singleview</a:t>
            </a:r>
            <a:endParaRPr lang="en-US" sz="800" dirty="0"/>
          </a:p>
        </p:txBody>
      </p:sp>
      <p:sp>
        <p:nvSpPr>
          <p:cNvPr id="53" name="Shape 51"/>
          <p:cNvSpPr/>
          <p:nvPr/>
        </p:nvSpPr>
        <p:spPr>
          <a:xfrm>
            <a:off x="6858000" y="3931920"/>
            <a:ext cx="960120" cy="548640"/>
          </a:xfrm>
          <a:prstGeom prst="rect">
            <a:avLst/>
          </a:prstGeom>
          <a:solidFill>
            <a:srgbClr val="FFFFFF">
              <a:alpha val="10000"/>
            </a:srgbClr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4" name="Text 52"/>
          <p:cNvSpPr/>
          <p:nvPr/>
        </p:nvSpPr>
        <p:spPr>
          <a:xfrm>
            <a:off x="6858000" y="3931920"/>
            <a:ext cx="960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ICO/CAFÉ</a:t>
            </a:r>
            <a:endParaRPr lang="en-US" sz="800" dirty="0"/>
          </a:p>
        </p:txBody>
      </p:sp>
      <p:sp>
        <p:nvSpPr>
          <p:cNvPr id="55" name="Shape 53"/>
          <p:cNvSpPr/>
          <p:nvPr/>
        </p:nvSpPr>
        <p:spPr>
          <a:xfrm>
            <a:off x="7900416" y="3931920"/>
            <a:ext cx="960120" cy="548640"/>
          </a:xfrm>
          <a:prstGeom prst="rect">
            <a:avLst/>
          </a:prstGeom>
          <a:solidFill>
            <a:srgbClr val="FFFFFF">
              <a:alpha val="10000"/>
            </a:srgbClr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6" name="Text 54"/>
          <p:cNvSpPr/>
          <p:nvPr/>
        </p:nvSpPr>
        <p:spPr>
          <a:xfrm>
            <a:off x="7900416" y="3931920"/>
            <a:ext cx="960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Conv.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05740" y="102870"/>
            <a:ext cx="87096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 Architecture — Sales → Assurance</a:t>
            </a:r>
            <a:endParaRPr lang="en-US" sz="1500" dirty="0"/>
          </a:p>
        </p:txBody>
      </p:sp>
      <p:sp>
        <p:nvSpPr>
          <p:cNvPr id="3" name="Text 1"/>
          <p:cNvSpPr/>
          <p:nvPr/>
        </p:nvSpPr>
        <p:spPr>
          <a:xfrm>
            <a:off x="205740" y="377190"/>
            <a:ext cx="870966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75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Layered capability view across Sales, Ordering, Fulfillment, Billing, and Assurance — with shared &amp; ancillary systems</a:t>
            </a:r>
            <a:endParaRPr lang="en-US" sz="750" dirty="0"/>
          </a:p>
        </p:txBody>
      </p:sp>
      <p:sp>
        <p:nvSpPr>
          <p:cNvPr id="4" name="Shape 2"/>
          <p:cNvSpPr/>
          <p:nvPr/>
        </p:nvSpPr>
        <p:spPr>
          <a:xfrm>
            <a:off x="720090" y="582930"/>
            <a:ext cx="7200900" cy="994410"/>
          </a:xfrm>
          <a:prstGeom prst="rect">
            <a:avLst/>
          </a:prstGeom>
          <a:solidFill>
            <a:srgbClr val="FEF9E7"/>
          </a:solidFill>
          <a:ln w="12700">
            <a:solidFill>
              <a:srgbClr val="FEF9E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720090" y="582930"/>
            <a:ext cx="41148" cy="994410"/>
          </a:xfrm>
          <a:prstGeom prst="rect">
            <a:avLst/>
          </a:prstGeom>
          <a:solidFill>
            <a:srgbClr val="E0A800"/>
          </a:solidFill>
          <a:ln w="12700">
            <a:solidFill>
              <a:srgbClr val="E0A8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102870" y="582930"/>
            <a:ext cx="582930" cy="994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/>
            <a:r>
              <a:rPr lang="en-US" sz="900" b="1" dirty="0">
                <a:solidFill>
                  <a:srgbClr val="E0A8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720090" y="1611630"/>
            <a:ext cx="7200900" cy="1337310"/>
          </a:xfrm>
          <a:prstGeom prst="rect">
            <a:avLst/>
          </a:prstGeom>
          <a:solidFill>
            <a:srgbClr val="E8F1FB"/>
          </a:solidFill>
          <a:ln w="12700">
            <a:solidFill>
              <a:srgbClr val="E8F1F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720090" y="1611630"/>
            <a:ext cx="41148" cy="1337310"/>
          </a:xfrm>
          <a:prstGeom prst="rect">
            <a:avLst/>
          </a:prstGeom>
          <a:solidFill>
            <a:srgbClr val="2F6FB5"/>
          </a:solidFill>
          <a:ln w="12700">
            <a:solidFill>
              <a:srgbClr val="2F6FB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102870" y="1611630"/>
            <a:ext cx="582930" cy="13373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/>
            <a:r>
              <a:rPr lang="en-US" sz="900" b="1" dirty="0">
                <a:solidFill>
                  <a:srgbClr val="2F6F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Ordering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720090" y="2983230"/>
            <a:ext cx="7200900" cy="720090"/>
          </a:xfrm>
          <a:prstGeom prst="rect">
            <a:avLst/>
          </a:prstGeom>
          <a:solidFill>
            <a:srgbClr val="EAF5EC"/>
          </a:solidFill>
          <a:ln w="12700">
            <a:solidFill>
              <a:srgbClr val="EAF5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720090" y="2983230"/>
            <a:ext cx="41148" cy="720090"/>
          </a:xfrm>
          <a:prstGeom prst="rect">
            <a:avLst/>
          </a:prstGeom>
          <a:solidFill>
            <a:srgbClr val="3E8E5A"/>
          </a:solidFill>
          <a:ln w="12700">
            <a:solidFill>
              <a:srgbClr val="3E8E5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102870" y="2983230"/>
            <a:ext cx="582930" cy="7200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/>
            <a:r>
              <a:rPr lang="en-US" sz="900" b="1" dirty="0">
                <a:solidFill>
                  <a:srgbClr val="3E8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Fulfillment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720090" y="3737610"/>
            <a:ext cx="7200900" cy="445770"/>
          </a:xfrm>
          <a:prstGeom prst="rect">
            <a:avLst/>
          </a:prstGeom>
          <a:solidFill>
            <a:srgbClr val="FDF2E4"/>
          </a:solidFill>
          <a:ln w="12700">
            <a:solidFill>
              <a:srgbClr val="FDF2E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720090" y="3737610"/>
            <a:ext cx="41148" cy="445770"/>
          </a:xfrm>
          <a:prstGeom prst="rect">
            <a:avLst/>
          </a:prstGeom>
          <a:solidFill>
            <a:srgbClr val="D98236"/>
          </a:solidFill>
          <a:ln w="12700">
            <a:solidFill>
              <a:srgbClr val="D9823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102870" y="3737610"/>
            <a:ext cx="582930" cy="4457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/>
            <a:r>
              <a:rPr lang="en-US" sz="900" b="1" dirty="0">
                <a:solidFill>
                  <a:srgbClr val="D982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Billing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720090" y="4217670"/>
            <a:ext cx="7200900" cy="685800"/>
          </a:xfrm>
          <a:prstGeom prst="rect">
            <a:avLst/>
          </a:prstGeom>
          <a:solidFill>
            <a:srgbClr val="FBEAEA"/>
          </a:solidFill>
          <a:ln w="12700">
            <a:solidFill>
              <a:srgbClr val="FBEA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720090" y="4217670"/>
            <a:ext cx="41148" cy="685800"/>
          </a:xfrm>
          <a:prstGeom prst="rect">
            <a:avLst/>
          </a:prstGeom>
          <a:solidFill>
            <a:srgbClr val="C24B4B"/>
          </a:solidFill>
          <a:ln w="12700">
            <a:solidFill>
              <a:srgbClr val="C24B4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102870" y="4217670"/>
            <a:ext cx="58293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/>
            <a:r>
              <a:rPr lang="en-US" sz="900" b="1" dirty="0">
                <a:solidFill>
                  <a:srgbClr val="C24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Assurance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7989570" y="582930"/>
            <a:ext cx="994410" cy="4320540"/>
          </a:xfrm>
          <a:prstGeom prst="rect">
            <a:avLst/>
          </a:prstGeom>
          <a:solidFill>
            <a:srgbClr val="EDE8F5"/>
          </a:solidFill>
          <a:ln w="12700">
            <a:solidFill>
              <a:srgbClr val="EDE8F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7989570" y="582930"/>
            <a:ext cx="41148" cy="4320540"/>
          </a:xfrm>
          <a:prstGeom prst="rect">
            <a:avLst/>
          </a:prstGeom>
          <a:solidFill>
            <a:srgbClr val="6A4FB8"/>
          </a:solidFill>
          <a:ln w="12700">
            <a:solidFill>
              <a:srgbClr val="6A4FB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8044434" y="603504"/>
            <a:ext cx="912114" cy="3086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713" b="1" dirty="0">
                <a:solidFill>
                  <a:srgbClr val="6A4F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 &amp;</a:t>
            </a:r>
            <a:endParaRPr lang="en-US" sz="713" dirty="0"/>
          </a:p>
          <a:p>
            <a:pPr algn="ctr"/>
            <a:r>
              <a:rPr lang="en-US" sz="713" b="1" dirty="0">
                <a:solidFill>
                  <a:srgbClr val="6A4F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Ancillary Capabilities</a:t>
            </a:r>
            <a:endParaRPr lang="en-US" sz="713" dirty="0"/>
          </a:p>
        </p:txBody>
      </p:sp>
      <p:sp>
        <p:nvSpPr>
          <p:cNvPr id="22" name="Shape 20"/>
          <p:cNvSpPr/>
          <p:nvPr/>
        </p:nvSpPr>
        <p:spPr>
          <a:xfrm>
            <a:off x="891540" y="637794"/>
            <a:ext cx="1508760" cy="377190"/>
          </a:xfrm>
          <a:prstGeom prst="rect">
            <a:avLst/>
          </a:prstGeom>
          <a:solidFill>
            <a:srgbClr val="FFFFFF"/>
          </a:solidFill>
          <a:ln w="9525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891540" y="651510"/>
            <a:ext cx="150876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/>
            <a:r>
              <a:rPr lang="en-US" sz="563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Indirect Sales</a:t>
            </a:r>
            <a:endParaRPr lang="en-US" sz="563" dirty="0"/>
          </a:p>
        </p:txBody>
      </p:sp>
      <p:sp>
        <p:nvSpPr>
          <p:cNvPr id="24" name="Shape 22"/>
          <p:cNvSpPr/>
          <p:nvPr/>
        </p:nvSpPr>
        <p:spPr>
          <a:xfrm>
            <a:off x="946404" y="774954"/>
            <a:ext cx="665226" cy="205740"/>
          </a:xfrm>
          <a:prstGeom prst="rect">
            <a:avLst/>
          </a:prstGeom>
          <a:solidFill>
            <a:srgbClr val="FFFFFF"/>
          </a:solidFill>
          <a:ln w="9525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960120" y="774954"/>
            <a:ext cx="637794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6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Ntellipro</a:t>
            </a:r>
            <a:endParaRPr lang="en-US" sz="600" dirty="0"/>
          </a:p>
        </p:txBody>
      </p:sp>
      <p:sp>
        <p:nvSpPr>
          <p:cNvPr id="26" name="Shape 24"/>
          <p:cNvSpPr/>
          <p:nvPr/>
        </p:nvSpPr>
        <p:spPr>
          <a:xfrm>
            <a:off x="1680210" y="774954"/>
            <a:ext cx="665226" cy="205740"/>
          </a:xfrm>
          <a:prstGeom prst="rect">
            <a:avLst/>
          </a:prstGeom>
          <a:solidFill>
            <a:srgbClr val="FFFFFF"/>
          </a:solidFill>
          <a:ln w="9525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1693926" y="774954"/>
            <a:ext cx="637794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6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Cablefinder</a:t>
            </a:r>
            <a:endParaRPr lang="en-US" sz="600" dirty="0"/>
          </a:p>
        </p:txBody>
      </p:sp>
      <p:sp>
        <p:nvSpPr>
          <p:cNvPr id="28" name="Shape 26"/>
          <p:cNvSpPr/>
          <p:nvPr/>
        </p:nvSpPr>
        <p:spPr>
          <a:xfrm>
            <a:off x="2537460" y="637794"/>
            <a:ext cx="1028700" cy="377190"/>
          </a:xfrm>
          <a:prstGeom prst="rect">
            <a:avLst/>
          </a:prstGeom>
          <a:solidFill>
            <a:srgbClr val="FFFFFF"/>
          </a:solidFill>
          <a:ln w="9525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2551176" y="637794"/>
            <a:ext cx="1001268" cy="3771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7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Buy Flow</a:t>
            </a:r>
            <a:endParaRPr lang="en-US" sz="750" dirty="0"/>
          </a:p>
        </p:txBody>
      </p:sp>
      <p:sp>
        <p:nvSpPr>
          <p:cNvPr id="30" name="Shape 28"/>
          <p:cNvSpPr/>
          <p:nvPr/>
        </p:nvSpPr>
        <p:spPr>
          <a:xfrm>
            <a:off x="3806190" y="637794"/>
            <a:ext cx="1165860" cy="857250"/>
          </a:xfrm>
          <a:prstGeom prst="rect">
            <a:avLst/>
          </a:prstGeom>
          <a:solidFill>
            <a:srgbClr val="FFFFFF"/>
          </a:solidFill>
          <a:ln w="9525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3806190" y="651510"/>
            <a:ext cx="116586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/>
            <a:r>
              <a:rPr lang="en-US" sz="563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Fed Gov</a:t>
            </a:r>
            <a:endParaRPr lang="en-US" sz="563" dirty="0"/>
          </a:p>
        </p:txBody>
      </p:sp>
      <p:sp>
        <p:nvSpPr>
          <p:cNvPr id="32" name="Shape 30"/>
          <p:cNvSpPr/>
          <p:nvPr/>
        </p:nvSpPr>
        <p:spPr>
          <a:xfrm>
            <a:off x="3861054" y="788670"/>
            <a:ext cx="1056132" cy="144018"/>
          </a:xfrm>
          <a:prstGeom prst="rect">
            <a:avLst/>
          </a:prstGeom>
          <a:solidFill>
            <a:srgbClr val="FFFFFF"/>
          </a:solidFill>
          <a:ln w="9525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3874770" y="788670"/>
            <a:ext cx="1028700" cy="14401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563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CGS Dynamics</a:t>
            </a:r>
            <a:endParaRPr lang="en-US" sz="563" dirty="0"/>
          </a:p>
        </p:txBody>
      </p:sp>
      <p:sp>
        <p:nvSpPr>
          <p:cNvPr id="34" name="Shape 32"/>
          <p:cNvSpPr/>
          <p:nvPr/>
        </p:nvSpPr>
        <p:spPr>
          <a:xfrm>
            <a:off x="3861054" y="953262"/>
            <a:ext cx="1056132" cy="144018"/>
          </a:xfrm>
          <a:prstGeom prst="rect">
            <a:avLst/>
          </a:prstGeom>
          <a:solidFill>
            <a:srgbClr val="FFFFFF"/>
          </a:solidFill>
          <a:ln w="9525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/>
          <p:nvPr/>
        </p:nvSpPr>
        <p:spPr>
          <a:xfrm>
            <a:off x="3874770" y="953262"/>
            <a:ext cx="1028700" cy="14401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563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ServiceNow</a:t>
            </a:r>
            <a:endParaRPr lang="en-US" sz="563" dirty="0"/>
          </a:p>
        </p:txBody>
      </p:sp>
      <p:sp>
        <p:nvSpPr>
          <p:cNvPr id="36" name="Shape 34"/>
          <p:cNvSpPr/>
          <p:nvPr/>
        </p:nvSpPr>
        <p:spPr>
          <a:xfrm>
            <a:off x="3861054" y="1117854"/>
            <a:ext cx="1056132" cy="144018"/>
          </a:xfrm>
          <a:prstGeom prst="rect">
            <a:avLst/>
          </a:prstGeom>
          <a:solidFill>
            <a:srgbClr val="FFFFFF"/>
          </a:solidFill>
          <a:ln w="9525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Text 35"/>
          <p:cNvSpPr/>
          <p:nvPr/>
        </p:nvSpPr>
        <p:spPr>
          <a:xfrm>
            <a:off x="3874770" y="1117854"/>
            <a:ext cx="1028700" cy="14401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563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Encompass</a:t>
            </a:r>
            <a:endParaRPr lang="en-US" sz="563" dirty="0"/>
          </a:p>
        </p:txBody>
      </p:sp>
      <p:sp>
        <p:nvSpPr>
          <p:cNvPr id="38" name="Shape 36"/>
          <p:cNvSpPr/>
          <p:nvPr/>
        </p:nvSpPr>
        <p:spPr>
          <a:xfrm>
            <a:off x="3861054" y="1282446"/>
            <a:ext cx="1056132" cy="144018"/>
          </a:xfrm>
          <a:prstGeom prst="rect">
            <a:avLst/>
          </a:prstGeom>
          <a:solidFill>
            <a:srgbClr val="FFFFFF"/>
          </a:solidFill>
          <a:ln w="9525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Text 37"/>
          <p:cNvSpPr/>
          <p:nvPr/>
        </p:nvSpPr>
        <p:spPr>
          <a:xfrm>
            <a:off x="3874770" y="1282446"/>
            <a:ext cx="1028700" cy="14401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563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Other Enclave Sys</a:t>
            </a:r>
            <a:endParaRPr lang="en-US" sz="563" dirty="0"/>
          </a:p>
        </p:txBody>
      </p:sp>
      <p:sp>
        <p:nvSpPr>
          <p:cNvPr id="40" name="Shape 38"/>
          <p:cNvSpPr/>
          <p:nvPr/>
        </p:nvSpPr>
        <p:spPr>
          <a:xfrm>
            <a:off x="994410" y="1097280"/>
            <a:ext cx="2811780" cy="397764"/>
          </a:xfrm>
          <a:prstGeom prst="rect">
            <a:avLst/>
          </a:prstGeom>
          <a:solidFill>
            <a:srgbClr val="FFFFFF"/>
          </a:solidFill>
          <a:ln w="9525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" name="Text 39"/>
          <p:cNvSpPr/>
          <p:nvPr/>
        </p:nvSpPr>
        <p:spPr>
          <a:xfrm>
            <a:off x="994410" y="1110996"/>
            <a:ext cx="2811780" cy="1234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/>
            <a:r>
              <a:rPr lang="en-US" sz="563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Abstraction &amp; Integration</a:t>
            </a:r>
            <a:endParaRPr lang="en-US" sz="563" dirty="0"/>
          </a:p>
        </p:txBody>
      </p:sp>
      <p:sp>
        <p:nvSpPr>
          <p:cNvPr id="42" name="Shape 40"/>
          <p:cNvSpPr/>
          <p:nvPr/>
        </p:nvSpPr>
        <p:spPr>
          <a:xfrm>
            <a:off x="1028700" y="1248156"/>
            <a:ext cx="646367" cy="288036"/>
          </a:xfrm>
          <a:prstGeom prst="rect">
            <a:avLst/>
          </a:prstGeom>
          <a:solidFill>
            <a:srgbClr val="DBEAFE"/>
          </a:solidFill>
          <a:ln w="9525">
            <a:solidFill>
              <a:srgbClr val="1D4E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3" name="Text 41"/>
          <p:cNvSpPr/>
          <p:nvPr/>
        </p:nvSpPr>
        <p:spPr>
          <a:xfrm>
            <a:off x="1042416" y="1248156"/>
            <a:ext cx="618935" cy="2880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563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TMF 645</a:t>
            </a:r>
            <a:endParaRPr lang="en-US" sz="638" dirty="0"/>
          </a:p>
          <a:p>
            <a:pPr algn="ctr"/>
            <a:r>
              <a:rPr lang="en-US" sz="525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Serviceability</a:t>
            </a:r>
            <a:endParaRPr lang="en-US" sz="638" dirty="0"/>
          </a:p>
        </p:txBody>
      </p:sp>
      <p:sp>
        <p:nvSpPr>
          <p:cNvPr id="44" name="Shape 42"/>
          <p:cNvSpPr/>
          <p:nvPr/>
        </p:nvSpPr>
        <p:spPr>
          <a:xfrm>
            <a:off x="1723072" y="1248156"/>
            <a:ext cx="646367" cy="288036"/>
          </a:xfrm>
          <a:prstGeom prst="rect">
            <a:avLst/>
          </a:prstGeom>
          <a:solidFill>
            <a:srgbClr val="DBEAFE"/>
          </a:solidFill>
          <a:ln w="9525">
            <a:solidFill>
              <a:srgbClr val="1D4E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5" name="Text 43"/>
          <p:cNvSpPr/>
          <p:nvPr/>
        </p:nvSpPr>
        <p:spPr>
          <a:xfrm>
            <a:off x="1736788" y="1248156"/>
            <a:ext cx="618935" cy="2880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563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TMF 620</a:t>
            </a:r>
            <a:endParaRPr lang="en-US" sz="638" dirty="0"/>
          </a:p>
          <a:p>
            <a:pPr algn="ctr"/>
            <a:r>
              <a:rPr lang="en-US" sz="525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Catalog</a:t>
            </a:r>
            <a:endParaRPr lang="en-US" sz="638" dirty="0"/>
          </a:p>
        </p:txBody>
      </p:sp>
      <p:sp>
        <p:nvSpPr>
          <p:cNvPr id="46" name="Shape 44"/>
          <p:cNvSpPr/>
          <p:nvPr/>
        </p:nvSpPr>
        <p:spPr>
          <a:xfrm>
            <a:off x="2417445" y="1248156"/>
            <a:ext cx="646367" cy="288036"/>
          </a:xfrm>
          <a:prstGeom prst="rect">
            <a:avLst/>
          </a:prstGeom>
          <a:solidFill>
            <a:srgbClr val="DBEAFE"/>
          </a:solidFill>
          <a:ln w="9525">
            <a:solidFill>
              <a:srgbClr val="1D4E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7" name="Text 45"/>
          <p:cNvSpPr/>
          <p:nvPr/>
        </p:nvSpPr>
        <p:spPr>
          <a:xfrm>
            <a:off x="2431161" y="1248156"/>
            <a:ext cx="618935" cy="2880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563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TMF 621</a:t>
            </a:r>
            <a:endParaRPr lang="en-US" sz="638" dirty="0"/>
          </a:p>
          <a:p>
            <a:pPr algn="ctr"/>
            <a:r>
              <a:rPr lang="en-US" sz="525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 Mgmt</a:t>
            </a:r>
            <a:endParaRPr lang="en-US" sz="638" dirty="0"/>
          </a:p>
        </p:txBody>
      </p:sp>
      <p:sp>
        <p:nvSpPr>
          <p:cNvPr id="48" name="Shape 46"/>
          <p:cNvSpPr/>
          <p:nvPr/>
        </p:nvSpPr>
        <p:spPr>
          <a:xfrm>
            <a:off x="3111817" y="1248156"/>
            <a:ext cx="646367" cy="288036"/>
          </a:xfrm>
          <a:prstGeom prst="rect">
            <a:avLst/>
          </a:prstGeom>
          <a:solidFill>
            <a:srgbClr val="DBEAFE"/>
          </a:solidFill>
          <a:ln w="9525">
            <a:solidFill>
              <a:srgbClr val="1D4E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9" name="Text 47"/>
          <p:cNvSpPr/>
          <p:nvPr/>
        </p:nvSpPr>
        <p:spPr>
          <a:xfrm>
            <a:off x="3125533" y="1248156"/>
            <a:ext cx="618935" cy="2880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563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TMF 648</a:t>
            </a:r>
            <a:endParaRPr lang="en-US" sz="638" dirty="0"/>
          </a:p>
          <a:p>
            <a:pPr algn="ctr"/>
            <a:r>
              <a:rPr lang="en-US" sz="525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Quoting</a:t>
            </a:r>
            <a:endParaRPr lang="en-US" sz="638" dirty="0"/>
          </a:p>
        </p:txBody>
      </p:sp>
      <p:sp>
        <p:nvSpPr>
          <p:cNvPr id="50" name="Shape 48"/>
          <p:cNvSpPr/>
          <p:nvPr/>
        </p:nvSpPr>
        <p:spPr>
          <a:xfrm>
            <a:off x="1645920" y="1014984"/>
            <a:ext cx="0" cy="82296"/>
          </a:xfrm>
          <a:prstGeom prst="line">
            <a:avLst/>
          </a:prstGeom>
          <a:noFill/>
          <a:ln w="12700">
            <a:solidFill>
              <a:srgbClr val="334155"/>
            </a:solidFill>
            <a:prstDash val="solid"/>
            <a:headEnd type="triangl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51" name="Shape 49"/>
          <p:cNvSpPr/>
          <p:nvPr/>
        </p:nvSpPr>
        <p:spPr>
          <a:xfrm>
            <a:off x="3051810" y="1014984"/>
            <a:ext cx="0" cy="82296"/>
          </a:xfrm>
          <a:prstGeom prst="line">
            <a:avLst/>
          </a:prstGeom>
          <a:noFill/>
          <a:ln w="12700">
            <a:solidFill>
              <a:srgbClr val="334155"/>
            </a:solidFill>
            <a:prstDash val="solid"/>
            <a:headEnd type="triangl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52" name="Shape 50"/>
          <p:cNvSpPr/>
          <p:nvPr/>
        </p:nvSpPr>
        <p:spPr>
          <a:xfrm>
            <a:off x="1645920" y="1666494"/>
            <a:ext cx="4114800" cy="274320"/>
          </a:xfrm>
          <a:prstGeom prst="rect">
            <a:avLst/>
          </a:prstGeom>
          <a:solidFill>
            <a:srgbClr val="FFFFFF"/>
          </a:solidFill>
          <a:ln w="9525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3" name="Text 51"/>
          <p:cNvSpPr/>
          <p:nvPr/>
        </p:nvSpPr>
        <p:spPr>
          <a:xfrm>
            <a:off x="1659636" y="1666494"/>
            <a:ext cx="40873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825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Dynamics</a:t>
            </a:r>
            <a:endParaRPr lang="en-US" sz="825" dirty="0"/>
          </a:p>
        </p:txBody>
      </p:sp>
      <p:sp>
        <p:nvSpPr>
          <p:cNvPr id="54" name="Shape 52"/>
          <p:cNvSpPr/>
          <p:nvPr/>
        </p:nvSpPr>
        <p:spPr>
          <a:xfrm>
            <a:off x="3703320" y="1495044"/>
            <a:ext cx="0" cy="171450"/>
          </a:xfrm>
          <a:prstGeom prst="line">
            <a:avLst/>
          </a:prstGeom>
          <a:noFill/>
          <a:ln w="12700">
            <a:solidFill>
              <a:srgbClr val="334155"/>
            </a:solidFill>
            <a:prstDash val="solid"/>
            <a:headEnd type="triangl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55" name="Text 53"/>
          <p:cNvSpPr/>
          <p:nvPr/>
        </p:nvSpPr>
        <p:spPr>
          <a:xfrm>
            <a:off x="788670" y="1700784"/>
            <a:ext cx="82296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/>
            <a:r>
              <a:rPr lang="en-US" sz="6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 Sales →</a:t>
            </a:r>
            <a:endParaRPr lang="en-US" sz="600" dirty="0"/>
          </a:p>
        </p:txBody>
      </p:sp>
      <p:sp>
        <p:nvSpPr>
          <p:cNvPr id="56" name="Shape 54"/>
          <p:cNvSpPr/>
          <p:nvPr/>
        </p:nvSpPr>
        <p:spPr>
          <a:xfrm>
            <a:off x="1097280" y="2091690"/>
            <a:ext cx="925830" cy="233172"/>
          </a:xfrm>
          <a:prstGeom prst="rect">
            <a:avLst/>
          </a:prstGeom>
          <a:solidFill>
            <a:srgbClr val="FFFFFF"/>
          </a:solidFill>
          <a:ln w="9525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7" name="Text 55"/>
          <p:cNvSpPr/>
          <p:nvPr/>
        </p:nvSpPr>
        <p:spPr>
          <a:xfrm>
            <a:off x="1110996" y="2091690"/>
            <a:ext cx="898398" cy="2331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675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Frictionless/BB</a:t>
            </a:r>
            <a:endParaRPr lang="en-US" sz="675" dirty="0"/>
          </a:p>
        </p:txBody>
      </p:sp>
      <p:sp>
        <p:nvSpPr>
          <p:cNvPr id="58" name="Shape 56"/>
          <p:cNvSpPr/>
          <p:nvPr/>
        </p:nvSpPr>
        <p:spPr>
          <a:xfrm>
            <a:off x="2228850" y="2091690"/>
            <a:ext cx="685800" cy="233172"/>
          </a:xfrm>
          <a:prstGeom prst="rect">
            <a:avLst/>
          </a:prstGeom>
          <a:solidFill>
            <a:srgbClr val="FFFFFF"/>
          </a:solidFill>
          <a:ln w="9525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9" name="Text 57"/>
          <p:cNvSpPr/>
          <p:nvPr/>
        </p:nvSpPr>
        <p:spPr>
          <a:xfrm>
            <a:off x="2242566" y="2091690"/>
            <a:ext cx="658368" cy="2331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675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SQO</a:t>
            </a:r>
            <a:endParaRPr lang="en-US" sz="675" dirty="0"/>
          </a:p>
        </p:txBody>
      </p:sp>
      <p:sp>
        <p:nvSpPr>
          <p:cNvPr id="60" name="Shape 58"/>
          <p:cNvSpPr/>
          <p:nvPr/>
        </p:nvSpPr>
        <p:spPr>
          <a:xfrm>
            <a:off x="3257550" y="2091690"/>
            <a:ext cx="1714500" cy="233172"/>
          </a:xfrm>
          <a:prstGeom prst="rect">
            <a:avLst/>
          </a:prstGeom>
          <a:solidFill>
            <a:srgbClr val="FFFFFF"/>
          </a:solidFill>
          <a:ln w="9525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1" name="Text 59"/>
          <p:cNvSpPr/>
          <p:nvPr/>
        </p:nvSpPr>
        <p:spPr>
          <a:xfrm>
            <a:off x="3271266" y="2091690"/>
            <a:ext cx="1687068" cy="2331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675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SOW ++</a:t>
            </a:r>
            <a:endParaRPr lang="en-US" sz="675" dirty="0"/>
          </a:p>
        </p:txBody>
      </p:sp>
      <p:sp>
        <p:nvSpPr>
          <p:cNvPr id="62" name="Shape 60"/>
          <p:cNvSpPr/>
          <p:nvPr/>
        </p:nvSpPr>
        <p:spPr>
          <a:xfrm>
            <a:off x="1560195" y="1940814"/>
            <a:ext cx="0" cy="150876"/>
          </a:xfrm>
          <a:prstGeom prst="line">
            <a:avLst/>
          </a:prstGeom>
          <a:noFill/>
          <a:ln w="12700">
            <a:solidFill>
              <a:srgbClr val="334155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63" name="Shape 61"/>
          <p:cNvSpPr/>
          <p:nvPr/>
        </p:nvSpPr>
        <p:spPr>
          <a:xfrm>
            <a:off x="2571750" y="1940814"/>
            <a:ext cx="0" cy="150876"/>
          </a:xfrm>
          <a:prstGeom prst="line">
            <a:avLst/>
          </a:prstGeom>
          <a:noFill/>
          <a:ln w="12700">
            <a:solidFill>
              <a:srgbClr val="334155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64" name="Shape 62"/>
          <p:cNvSpPr/>
          <p:nvPr/>
        </p:nvSpPr>
        <p:spPr>
          <a:xfrm>
            <a:off x="4114800" y="1940814"/>
            <a:ext cx="0" cy="150876"/>
          </a:xfrm>
          <a:prstGeom prst="line">
            <a:avLst/>
          </a:prstGeom>
          <a:noFill/>
          <a:ln w="12700">
            <a:solidFill>
              <a:srgbClr val="334155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65" name="Text 63"/>
          <p:cNvSpPr/>
          <p:nvPr/>
        </p:nvSpPr>
        <p:spPr>
          <a:xfrm>
            <a:off x="1028700" y="1954530"/>
            <a:ext cx="6172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525" i="1" dirty="0">
                <a:solidFill>
                  <a:srgbClr val="475569"/>
                </a:solidFill>
              </a:rPr>
              <a:t>Quoting</a:t>
            </a:r>
            <a:endParaRPr lang="en-US" sz="525" dirty="0"/>
          </a:p>
        </p:txBody>
      </p:sp>
      <p:sp>
        <p:nvSpPr>
          <p:cNvPr id="66" name="Text 64"/>
          <p:cNvSpPr/>
          <p:nvPr/>
        </p:nvSpPr>
        <p:spPr>
          <a:xfrm>
            <a:off x="3188970" y="1954530"/>
            <a:ext cx="6172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525" i="1" dirty="0">
                <a:solidFill>
                  <a:srgbClr val="475569"/>
                </a:solidFill>
              </a:rPr>
              <a:t>Quoting</a:t>
            </a:r>
            <a:endParaRPr lang="en-US" sz="525" dirty="0"/>
          </a:p>
        </p:txBody>
      </p:sp>
      <p:sp>
        <p:nvSpPr>
          <p:cNvPr id="67" name="Shape 65"/>
          <p:cNvSpPr/>
          <p:nvPr/>
        </p:nvSpPr>
        <p:spPr>
          <a:xfrm>
            <a:off x="3600450" y="2420874"/>
            <a:ext cx="1028700" cy="219456"/>
          </a:xfrm>
          <a:prstGeom prst="rect">
            <a:avLst/>
          </a:prstGeom>
          <a:solidFill>
            <a:srgbClr val="DBEAFE"/>
          </a:solidFill>
          <a:ln w="9525">
            <a:solidFill>
              <a:srgbClr val="1D4E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8" name="Text 66"/>
          <p:cNvSpPr/>
          <p:nvPr/>
        </p:nvSpPr>
        <p:spPr>
          <a:xfrm>
            <a:off x="3614166" y="2420874"/>
            <a:ext cx="10012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563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TMF 622</a:t>
            </a:r>
            <a:endParaRPr lang="en-US" sz="638" dirty="0"/>
          </a:p>
          <a:p>
            <a:pPr algn="ctr"/>
            <a:r>
              <a:rPr lang="en-US" sz="525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Order</a:t>
            </a:r>
            <a:endParaRPr lang="en-US" sz="638" dirty="0"/>
          </a:p>
        </p:txBody>
      </p:sp>
      <p:sp>
        <p:nvSpPr>
          <p:cNvPr id="69" name="Shape 67"/>
          <p:cNvSpPr/>
          <p:nvPr/>
        </p:nvSpPr>
        <p:spPr>
          <a:xfrm>
            <a:off x="4114800" y="2324862"/>
            <a:ext cx="0" cy="96012"/>
          </a:xfrm>
          <a:prstGeom prst="line">
            <a:avLst/>
          </a:prstGeom>
          <a:noFill/>
          <a:ln w="12700">
            <a:solidFill>
              <a:srgbClr val="334155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70" name="Shape 68"/>
          <p:cNvSpPr/>
          <p:nvPr/>
        </p:nvSpPr>
        <p:spPr>
          <a:xfrm>
            <a:off x="3257550" y="2681478"/>
            <a:ext cx="1714500" cy="178308"/>
          </a:xfrm>
          <a:prstGeom prst="rect">
            <a:avLst/>
          </a:prstGeom>
          <a:solidFill>
            <a:srgbClr val="FFFFFF"/>
          </a:solidFill>
          <a:ln w="9525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1" name="Text 69"/>
          <p:cNvSpPr/>
          <p:nvPr/>
        </p:nvSpPr>
        <p:spPr>
          <a:xfrm>
            <a:off x="3271266" y="2681478"/>
            <a:ext cx="1687068" cy="178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675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Galaxy</a:t>
            </a:r>
            <a:endParaRPr lang="en-US" sz="675" dirty="0"/>
          </a:p>
        </p:txBody>
      </p:sp>
      <p:sp>
        <p:nvSpPr>
          <p:cNvPr id="72" name="Shape 70"/>
          <p:cNvSpPr/>
          <p:nvPr/>
        </p:nvSpPr>
        <p:spPr>
          <a:xfrm>
            <a:off x="4114800" y="2640330"/>
            <a:ext cx="0" cy="41148"/>
          </a:xfrm>
          <a:prstGeom prst="line">
            <a:avLst/>
          </a:prstGeom>
          <a:noFill/>
          <a:ln w="12700">
            <a:solidFill>
              <a:srgbClr val="334155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73" name="Shape 71"/>
          <p:cNvSpPr/>
          <p:nvPr/>
        </p:nvSpPr>
        <p:spPr>
          <a:xfrm>
            <a:off x="2948940" y="3010662"/>
            <a:ext cx="2331720" cy="342900"/>
          </a:xfrm>
          <a:prstGeom prst="rect">
            <a:avLst/>
          </a:prstGeom>
          <a:solidFill>
            <a:srgbClr val="FFFFFF"/>
          </a:solidFill>
          <a:ln w="9525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4" name="Text 72"/>
          <p:cNvSpPr/>
          <p:nvPr/>
        </p:nvSpPr>
        <p:spPr>
          <a:xfrm>
            <a:off x="2948940" y="3017520"/>
            <a:ext cx="2331720" cy="960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/>
            <a:r>
              <a:rPr lang="en-US" sz="525" b="1" dirty="0">
                <a:solidFill>
                  <a:srgbClr val="475569"/>
                </a:solidFill>
              </a:rPr>
              <a:t>Product Order Gateway</a:t>
            </a:r>
            <a:endParaRPr lang="en-US" sz="525" dirty="0"/>
          </a:p>
        </p:txBody>
      </p:sp>
      <p:sp>
        <p:nvSpPr>
          <p:cNvPr id="75" name="Shape 73"/>
          <p:cNvSpPr/>
          <p:nvPr/>
        </p:nvSpPr>
        <p:spPr>
          <a:xfrm>
            <a:off x="2983230" y="3134106"/>
            <a:ext cx="717804" cy="219456"/>
          </a:xfrm>
          <a:prstGeom prst="rect">
            <a:avLst/>
          </a:prstGeom>
          <a:solidFill>
            <a:srgbClr val="DBEAFE"/>
          </a:solidFill>
          <a:ln w="9525">
            <a:solidFill>
              <a:srgbClr val="1D4E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6" name="Text 74"/>
          <p:cNvSpPr/>
          <p:nvPr/>
        </p:nvSpPr>
        <p:spPr>
          <a:xfrm>
            <a:off x="2996946" y="3134106"/>
            <a:ext cx="6903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525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TMF 620</a:t>
            </a:r>
            <a:endParaRPr lang="en-US" sz="638" dirty="0"/>
          </a:p>
          <a:p>
            <a:pPr algn="ctr"/>
            <a:r>
              <a:rPr lang="en-US" sz="488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Catalog</a:t>
            </a:r>
            <a:endParaRPr lang="en-US" sz="638" dirty="0"/>
          </a:p>
        </p:txBody>
      </p:sp>
      <p:sp>
        <p:nvSpPr>
          <p:cNvPr id="77" name="Shape 75"/>
          <p:cNvSpPr/>
          <p:nvPr/>
        </p:nvSpPr>
        <p:spPr>
          <a:xfrm>
            <a:off x="3731895" y="3134106"/>
            <a:ext cx="717804" cy="219456"/>
          </a:xfrm>
          <a:prstGeom prst="rect">
            <a:avLst/>
          </a:prstGeom>
          <a:solidFill>
            <a:srgbClr val="DBEAFE"/>
          </a:solidFill>
          <a:ln w="9525">
            <a:solidFill>
              <a:srgbClr val="1D4E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8" name="Text 76"/>
          <p:cNvSpPr/>
          <p:nvPr/>
        </p:nvSpPr>
        <p:spPr>
          <a:xfrm>
            <a:off x="3745611" y="3134106"/>
            <a:ext cx="6903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525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TMF 641</a:t>
            </a:r>
            <a:endParaRPr lang="en-US" sz="638" dirty="0"/>
          </a:p>
          <a:p>
            <a:pPr algn="ctr"/>
            <a:r>
              <a:rPr lang="en-US" sz="488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 Order</a:t>
            </a:r>
            <a:endParaRPr lang="en-US" sz="638" dirty="0"/>
          </a:p>
        </p:txBody>
      </p:sp>
      <p:sp>
        <p:nvSpPr>
          <p:cNvPr id="79" name="Shape 77"/>
          <p:cNvSpPr/>
          <p:nvPr/>
        </p:nvSpPr>
        <p:spPr>
          <a:xfrm>
            <a:off x="4480560" y="3134106"/>
            <a:ext cx="717804" cy="219456"/>
          </a:xfrm>
          <a:prstGeom prst="rect">
            <a:avLst/>
          </a:prstGeom>
          <a:solidFill>
            <a:srgbClr val="DBEAFE"/>
          </a:solidFill>
          <a:ln w="9525">
            <a:solidFill>
              <a:srgbClr val="1D4E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0" name="Text 78"/>
          <p:cNvSpPr/>
          <p:nvPr/>
        </p:nvSpPr>
        <p:spPr>
          <a:xfrm>
            <a:off x="4494276" y="3134106"/>
            <a:ext cx="6903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525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TMF</a:t>
            </a:r>
            <a:endParaRPr lang="en-US" sz="638" dirty="0"/>
          </a:p>
          <a:p>
            <a:pPr algn="ctr"/>
            <a:r>
              <a:rPr lang="en-US" sz="488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Services</a:t>
            </a:r>
            <a:endParaRPr lang="en-US" sz="638" dirty="0"/>
          </a:p>
        </p:txBody>
      </p:sp>
      <p:sp>
        <p:nvSpPr>
          <p:cNvPr id="81" name="Shape 79"/>
          <p:cNvSpPr/>
          <p:nvPr/>
        </p:nvSpPr>
        <p:spPr>
          <a:xfrm>
            <a:off x="4114800" y="2859786"/>
            <a:ext cx="0" cy="150876"/>
          </a:xfrm>
          <a:prstGeom prst="line">
            <a:avLst/>
          </a:prstGeom>
          <a:noFill/>
          <a:ln w="12700">
            <a:solidFill>
              <a:srgbClr val="334155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82" name="Shape 80"/>
          <p:cNvSpPr/>
          <p:nvPr/>
        </p:nvSpPr>
        <p:spPr>
          <a:xfrm>
            <a:off x="857250" y="3435858"/>
            <a:ext cx="1319480" cy="288036"/>
          </a:xfrm>
          <a:prstGeom prst="rect">
            <a:avLst/>
          </a:prstGeom>
          <a:solidFill>
            <a:srgbClr val="FFFFFF"/>
          </a:solidFill>
          <a:ln w="9525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3" name="Text 81"/>
          <p:cNvSpPr/>
          <p:nvPr/>
        </p:nvSpPr>
        <p:spPr>
          <a:xfrm>
            <a:off x="870966" y="3435858"/>
            <a:ext cx="1292048" cy="2880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CSG</a:t>
            </a:r>
            <a:endParaRPr lang="en-US" sz="600" dirty="0"/>
          </a:p>
        </p:txBody>
      </p:sp>
      <p:sp>
        <p:nvSpPr>
          <p:cNvPr id="84" name="Shape 82"/>
          <p:cNvSpPr/>
          <p:nvPr/>
        </p:nvSpPr>
        <p:spPr>
          <a:xfrm>
            <a:off x="2259025" y="3435858"/>
            <a:ext cx="1319480" cy="288036"/>
          </a:xfrm>
          <a:prstGeom prst="rect">
            <a:avLst/>
          </a:prstGeom>
          <a:solidFill>
            <a:srgbClr val="FFFFFF"/>
          </a:solidFill>
          <a:ln w="9525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5" name="Text 83"/>
          <p:cNvSpPr/>
          <p:nvPr/>
        </p:nvSpPr>
        <p:spPr>
          <a:xfrm>
            <a:off x="2272741" y="3435858"/>
            <a:ext cx="1292048" cy="2880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OSO</a:t>
            </a:r>
            <a:endParaRPr lang="en-US" sz="600" dirty="0"/>
          </a:p>
        </p:txBody>
      </p:sp>
      <p:sp>
        <p:nvSpPr>
          <p:cNvPr id="86" name="Shape 84"/>
          <p:cNvSpPr/>
          <p:nvPr/>
        </p:nvSpPr>
        <p:spPr>
          <a:xfrm>
            <a:off x="3660800" y="3435858"/>
            <a:ext cx="1319480" cy="288036"/>
          </a:xfrm>
          <a:prstGeom prst="rect">
            <a:avLst/>
          </a:prstGeom>
          <a:solidFill>
            <a:srgbClr val="FFFFFF"/>
          </a:solidFill>
          <a:ln w="9525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7" name="Text 85"/>
          <p:cNvSpPr/>
          <p:nvPr/>
        </p:nvSpPr>
        <p:spPr>
          <a:xfrm>
            <a:off x="3674516" y="3435858"/>
            <a:ext cx="1292048" cy="2880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Landscape</a:t>
            </a:r>
            <a:endParaRPr lang="en-US" sz="600" dirty="0"/>
          </a:p>
        </p:txBody>
      </p:sp>
      <p:sp>
        <p:nvSpPr>
          <p:cNvPr id="88" name="Shape 86"/>
          <p:cNvSpPr/>
          <p:nvPr/>
        </p:nvSpPr>
        <p:spPr>
          <a:xfrm>
            <a:off x="5062576" y="3435858"/>
            <a:ext cx="1319480" cy="288036"/>
          </a:xfrm>
          <a:prstGeom prst="rect">
            <a:avLst/>
          </a:prstGeom>
          <a:solidFill>
            <a:srgbClr val="FFFFFF"/>
          </a:solidFill>
          <a:ln w="9525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9" name="Text 87"/>
          <p:cNvSpPr/>
          <p:nvPr/>
        </p:nvSpPr>
        <p:spPr>
          <a:xfrm>
            <a:off x="5076292" y="3435858"/>
            <a:ext cx="1292048" cy="2880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COSMOS</a:t>
            </a:r>
            <a:endParaRPr lang="en-US" sz="600" dirty="0"/>
          </a:p>
        </p:txBody>
      </p:sp>
      <p:sp>
        <p:nvSpPr>
          <p:cNvPr id="90" name="Shape 88"/>
          <p:cNvSpPr/>
          <p:nvPr/>
        </p:nvSpPr>
        <p:spPr>
          <a:xfrm>
            <a:off x="6464350" y="3435858"/>
            <a:ext cx="1319480" cy="288036"/>
          </a:xfrm>
          <a:prstGeom prst="rect">
            <a:avLst/>
          </a:prstGeom>
          <a:solidFill>
            <a:srgbClr val="FFFFFF"/>
          </a:solidFill>
          <a:ln w="9525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1" name="Text 89"/>
          <p:cNvSpPr/>
          <p:nvPr/>
        </p:nvSpPr>
        <p:spPr>
          <a:xfrm>
            <a:off x="6478066" y="3435858"/>
            <a:ext cx="1292048" cy="2880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… future</a:t>
            </a:r>
            <a:endParaRPr lang="en-US" sz="600" dirty="0"/>
          </a:p>
          <a:p>
            <a:pPr algn="ctr"/>
            <a:r>
              <a:rPr lang="en-US" sz="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Fulfillment system</a:t>
            </a:r>
            <a:endParaRPr lang="en-US" sz="600" dirty="0"/>
          </a:p>
        </p:txBody>
      </p:sp>
      <p:sp>
        <p:nvSpPr>
          <p:cNvPr id="92" name="Shape 90"/>
          <p:cNvSpPr/>
          <p:nvPr/>
        </p:nvSpPr>
        <p:spPr>
          <a:xfrm>
            <a:off x="4114800" y="3353562"/>
            <a:ext cx="0" cy="41148"/>
          </a:xfrm>
          <a:prstGeom prst="line">
            <a:avLst/>
          </a:prstGeom>
          <a:noFill/>
          <a:ln w="1270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3" name="Shape 91"/>
          <p:cNvSpPr/>
          <p:nvPr/>
        </p:nvSpPr>
        <p:spPr>
          <a:xfrm>
            <a:off x="1516990" y="3394710"/>
            <a:ext cx="5607101" cy="0"/>
          </a:xfrm>
          <a:prstGeom prst="line">
            <a:avLst/>
          </a:prstGeom>
          <a:noFill/>
          <a:ln w="1270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4" name="Shape 92"/>
          <p:cNvSpPr/>
          <p:nvPr/>
        </p:nvSpPr>
        <p:spPr>
          <a:xfrm>
            <a:off x="1516990" y="3394710"/>
            <a:ext cx="0" cy="41148"/>
          </a:xfrm>
          <a:prstGeom prst="line">
            <a:avLst/>
          </a:prstGeom>
          <a:noFill/>
          <a:ln w="12700">
            <a:solidFill>
              <a:srgbClr val="334155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95" name="Shape 93"/>
          <p:cNvSpPr/>
          <p:nvPr/>
        </p:nvSpPr>
        <p:spPr>
          <a:xfrm>
            <a:off x="2918765" y="3394710"/>
            <a:ext cx="0" cy="41148"/>
          </a:xfrm>
          <a:prstGeom prst="line">
            <a:avLst/>
          </a:prstGeom>
          <a:noFill/>
          <a:ln w="12700">
            <a:solidFill>
              <a:srgbClr val="334155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96" name="Shape 94"/>
          <p:cNvSpPr/>
          <p:nvPr/>
        </p:nvSpPr>
        <p:spPr>
          <a:xfrm>
            <a:off x="4320540" y="3394710"/>
            <a:ext cx="0" cy="41148"/>
          </a:xfrm>
          <a:prstGeom prst="line">
            <a:avLst/>
          </a:prstGeom>
          <a:noFill/>
          <a:ln w="12700">
            <a:solidFill>
              <a:srgbClr val="334155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97" name="Shape 95"/>
          <p:cNvSpPr/>
          <p:nvPr/>
        </p:nvSpPr>
        <p:spPr>
          <a:xfrm>
            <a:off x="5722316" y="3394710"/>
            <a:ext cx="0" cy="41148"/>
          </a:xfrm>
          <a:prstGeom prst="line">
            <a:avLst/>
          </a:prstGeom>
          <a:noFill/>
          <a:ln w="12700">
            <a:solidFill>
              <a:srgbClr val="334155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98" name="Shape 96"/>
          <p:cNvSpPr/>
          <p:nvPr/>
        </p:nvSpPr>
        <p:spPr>
          <a:xfrm>
            <a:off x="7124090" y="3394710"/>
            <a:ext cx="0" cy="41148"/>
          </a:xfrm>
          <a:prstGeom prst="line">
            <a:avLst/>
          </a:prstGeom>
          <a:noFill/>
          <a:ln w="12700">
            <a:solidFill>
              <a:srgbClr val="334155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99" name="Shape 97"/>
          <p:cNvSpPr/>
          <p:nvPr/>
        </p:nvSpPr>
        <p:spPr>
          <a:xfrm>
            <a:off x="1560195" y="2324862"/>
            <a:ext cx="0" cy="1042416"/>
          </a:xfrm>
          <a:prstGeom prst="line">
            <a:avLst/>
          </a:prstGeom>
          <a:noFill/>
          <a:ln w="1270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0" name="Shape 98"/>
          <p:cNvSpPr/>
          <p:nvPr/>
        </p:nvSpPr>
        <p:spPr>
          <a:xfrm flipH="1">
            <a:off x="1516990" y="3367278"/>
            <a:ext cx="43205" cy="0"/>
          </a:xfrm>
          <a:prstGeom prst="line">
            <a:avLst/>
          </a:prstGeom>
          <a:noFill/>
          <a:ln w="1270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1" name="Shape 99"/>
          <p:cNvSpPr/>
          <p:nvPr/>
        </p:nvSpPr>
        <p:spPr>
          <a:xfrm>
            <a:off x="1516990" y="3367278"/>
            <a:ext cx="0" cy="68580"/>
          </a:xfrm>
          <a:prstGeom prst="line">
            <a:avLst/>
          </a:prstGeom>
          <a:noFill/>
          <a:ln w="12700">
            <a:solidFill>
              <a:srgbClr val="334155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02" name="Shape 100"/>
          <p:cNvSpPr/>
          <p:nvPr/>
        </p:nvSpPr>
        <p:spPr>
          <a:xfrm>
            <a:off x="2571750" y="2324862"/>
            <a:ext cx="0" cy="1042416"/>
          </a:xfrm>
          <a:prstGeom prst="line">
            <a:avLst/>
          </a:prstGeom>
          <a:noFill/>
          <a:ln w="1270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3" name="Shape 101"/>
          <p:cNvSpPr/>
          <p:nvPr/>
        </p:nvSpPr>
        <p:spPr>
          <a:xfrm>
            <a:off x="2571750" y="3367278"/>
            <a:ext cx="347015" cy="0"/>
          </a:xfrm>
          <a:prstGeom prst="line">
            <a:avLst/>
          </a:prstGeom>
          <a:noFill/>
          <a:ln w="1270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4" name="Shape 102"/>
          <p:cNvSpPr/>
          <p:nvPr/>
        </p:nvSpPr>
        <p:spPr>
          <a:xfrm>
            <a:off x="2918765" y="3367278"/>
            <a:ext cx="0" cy="68580"/>
          </a:xfrm>
          <a:prstGeom prst="line">
            <a:avLst/>
          </a:prstGeom>
          <a:noFill/>
          <a:ln w="12700">
            <a:solidFill>
              <a:srgbClr val="334155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05" name="Shape 103"/>
          <p:cNvSpPr/>
          <p:nvPr/>
        </p:nvSpPr>
        <p:spPr>
          <a:xfrm>
            <a:off x="1131570" y="3874770"/>
            <a:ext cx="1536192" cy="274320"/>
          </a:xfrm>
          <a:prstGeom prst="rect">
            <a:avLst/>
          </a:prstGeom>
          <a:solidFill>
            <a:srgbClr val="FFFFFF"/>
          </a:solidFill>
          <a:ln w="9525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6" name="Text 104"/>
          <p:cNvSpPr/>
          <p:nvPr/>
        </p:nvSpPr>
        <p:spPr>
          <a:xfrm>
            <a:off x="1145286" y="3874770"/>
            <a:ext cx="1508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638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CSG</a:t>
            </a:r>
            <a:endParaRPr lang="en-US" sz="638" dirty="0"/>
          </a:p>
        </p:txBody>
      </p:sp>
      <p:sp>
        <p:nvSpPr>
          <p:cNvPr id="107" name="Shape 105"/>
          <p:cNvSpPr/>
          <p:nvPr/>
        </p:nvSpPr>
        <p:spPr>
          <a:xfrm>
            <a:off x="2791206" y="3874770"/>
            <a:ext cx="1536192" cy="274320"/>
          </a:xfrm>
          <a:prstGeom prst="rect">
            <a:avLst/>
          </a:prstGeom>
          <a:solidFill>
            <a:srgbClr val="FFFFFF"/>
          </a:solidFill>
          <a:ln w="9525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8" name="Text 106"/>
          <p:cNvSpPr/>
          <p:nvPr/>
        </p:nvSpPr>
        <p:spPr>
          <a:xfrm>
            <a:off x="2804922" y="3874770"/>
            <a:ext cx="1508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638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Amdocs Biller</a:t>
            </a:r>
            <a:endParaRPr lang="en-US" sz="638" dirty="0"/>
          </a:p>
        </p:txBody>
      </p:sp>
      <p:sp>
        <p:nvSpPr>
          <p:cNvPr id="109" name="Shape 107"/>
          <p:cNvSpPr/>
          <p:nvPr/>
        </p:nvSpPr>
        <p:spPr>
          <a:xfrm>
            <a:off x="4450842" y="3874770"/>
            <a:ext cx="1536192" cy="274320"/>
          </a:xfrm>
          <a:prstGeom prst="rect">
            <a:avLst/>
          </a:prstGeom>
          <a:solidFill>
            <a:srgbClr val="FFFFFF"/>
          </a:solidFill>
          <a:ln w="9525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0" name="Text 108"/>
          <p:cNvSpPr/>
          <p:nvPr/>
        </p:nvSpPr>
        <p:spPr>
          <a:xfrm>
            <a:off x="4464558" y="3874770"/>
            <a:ext cx="1508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638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Geneva</a:t>
            </a:r>
            <a:endParaRPr lang="en-US" sz="638" dirty="0"/>
          </a:p>
          <a:p>
            <a:pPr algn="ctr"/>
            <a:r>
              <a:rPr lang="en-US" sz="638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(International)</a:t>
            </a:r>
            <a:endParaRPr lang="en-US" sz="638" dirty="0"/>
          </a:p>
        </p:txBody>
      </p:sp>
      <p:sp>
        <p:nvSpPr>
          <p:cNvPr id="111" name="Shape 109"/>
          <p:cNvSpPr/>
          <p:nvPr/>
        </p:nvSpPr>
        <p:spPr>
          <a:xfrm>
            <a:off x="6110478" y="3874770"/>
            <a:ext cx="1536192" cy="274320"/>
          </a:xfrm>
          <a:prstGeom prst="rect">
            <a:avLst/>
          </a:prstGeom>
          <a:solidFill>
            <a:srgbClr val="FFFFFF"/>
          </a:solidFill>
          <a:ln w="9525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2" name="Text 110"/>
          <p:cNvSpPr/>
          <p:nvPr/>
        </p:nvSpPr>
        <p:spPr>
          <a:xfrm>
            <a:off x="6124194" y="3874770"/>
            <a:ext cx="1508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638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Singleview</a:t>
            </a:r>
            <a:endParaRPr lang="en-US" sz="638" dirty="0"/>
          </a:p>
        </p:txBody>
      </p:sp>
      <p:sp>
        <p:nvSpPr>
          <p:cNvPr id="113" name="Shape 111"/>
          <p:cNvSpPr/>
          <p:nvPr/>
        </p:nvSpPr>
        <p:spPr>
          <a:xfrm>
            <a:off x="1516990" y="3723894"/>
            <a:ext cx="0" cy="75438"/>
          </a:xfrm>
          <a:prstGeom prst="line">
            <a:avLst/>
          </a:prstGeom>
          <a:noFill/>
          <a:ln w="1270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4" name="Shape 112"/>
          <p:cNvSpPr/>
          <p:nvPr/>
        </p:nvSpPr>
        <p:spPr>
          <a:xfrm>
            <a:off x="1516990" y="3799332"/>
            <a:ext cx="382676" cy="0"/>
          </a:xfrm>
          <a:prstGeom prst="line">
            <a:avLst/>
          </a:prstGeom>
          <a:noFill/>
          <a:ln w="1270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5" name="Shape 113"/>
          <p:cNvSpPr/>
          <p:nvPr/>
        </p:nvSpPr>
        <p:spPr>
          <a:xfrm>
            <a:off x="1899666" y="3799332"/>
            <a:ext cx="0" cy="75438"/>
          </a:xfrm>
          <a:prstGeom prst="line">
            <a:avLst/>
          </a:prstGeom>
          <a:noFill/>
          <a:ln w="1270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6" name="Shape 114"/>
          <p:cNvSpPr/>
          <p:nvPr/>
        </p:nvSpPr>
        <p:spPr>
          <a:xfrm flipV="1">
            <a:off x="1516990" y="3723894"/>
            <a:ext cx="0" cy="54864"/>
          </a:xfrm>
          <a:prstGeom prst="line">
            <a:avLst/>
          </a:prstGeom>
          <a:noFill/>
          <a:ln w="12700">
            <a:solidFill>
              <a:srgbClr val="334155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17" name="Shape 115"/>
          <p:cNvSpPr/>
          <p:nvPr/>
        </p:nvSpPr>
        <p:spPr>
          <a:xfrm>
            <a:off x="1899666" y="3819906"/>
            <a:ext cx="0" cy="54864"/>
          </a:xfrm>
          <a:prstGeom prst="line">
            <a:avLst/>
          </a:prstGeom>
          <a:noFill/>
          <a:ln w="12700">
            <a:solidFill>
              <a:srgbClr val="334155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18" name="Shape 116"/>
          <p:cNvSpPr/>
          <p:nvPr/>
        </p:nvSpPr>
        <p:spPr>
          <a:xfrm>
            <a:off x="2918765" y="3723894"/>
            <a:ext cx="0" cy="75438"/>
          </a:xfrm>
          <a:prstGeom prst="line">
            <a:avLst/>
          </a:prstGeom>
          <a:noFill/>
          <a:ln w="1270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9" name="Shape 117"/>
          <p:cNvSpPr/>
          <p:nvPr/>
        </p:nvSpPr>
        <p:spPr>
          <a:xfrm>
            <a:off x="2918764" y="3799332"/>
            <a:ext cx="640538" cy="0"/>
          </a:xfrm>
          <a:prstGeom prst="line">
            <a:avLst/>
          </a:prstGeom>
          <a:noFill/>
          <a:ln w="1270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0" name="Shape 118"/>
          <p:cNvSpPr/>
          <p:nvPr/>
        </p:nvSpPr>
        <p:spPr>
          <a:xfrm>
            <a:off x="3559302" y="3799332"/>
            <a:ext cx="0" cy="75438"/>
          </a:xfrm>
          <a:prstGeom prst="line">
            <a:avLst/>
          </a:prstGeom>
          <a:noFill/>
          <a:ln w="1270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1" name="Shape 119"/>
          <p:cNvSpPr/>
          <p:nvPr/>
        </p:nvSpPr>
        <p:spPr>
          <a:xfrm flipV="1">
            <a:off x="2918765" y="3723894"/>
            <a:ext cx="0" cy="54864"/>
          </a:xfrm>
          <a:prstGeom prst="line">
            <a:avLst/>
          </a:prstGeom>
          <a:noFill/>
          <a:ln w="12700">
            <a:solidFill>
              <a:srgbClr val="334155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22" name="Shape 120"/>
          <p:cNvSpPr/>
          <p:nvPr/>
        </p:nvSpPr>
        <p:spPr>
          <a:xfrm>
            <a:off x="3559302" y="3819906"/>
            <a:ext cx="0" cy="54864"/>
          </a:xfrm>
          <a:prstGeom prst="line">
            <a:avLst/>
          </a:prstGeom>
          <a:noFill/>
          <a:ln w="12700">
            <a:solidFill>
              <a:srgbClr val="334155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23" name="Shape 121"/>
          <p:cNvSpPr/>
          <p:nvPr/>
        </p:nvSpPr>
        <p:spPr>
          <a:xfrm>
            <a:off x="4320540" y="3723894"/>
            <a:ext cx="0" cy="75438"/>
          </a:xfrm>
          <a:prstGeom prst="line">
            <a:avLst/>
          </a:prstGeom>
          <a:noFill/>
          <a:ln w="1270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4" name="Shape 122"/>
          <p:cNvSpPr/>
          <p:nvPr/>
        </p:nvSpPr>
        <p:spPr>
          <a:xfrm>
            <a:off x="4320540" y="3799332"/>
            <a:ext cx="898398" cy="0"/>
          </a:xfrm>
          <a:prstGeom prst="line">
            <a:avLst/>
          </a:prstGeom>
          <a:noFill/>
          <a:ln w="1270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5" name="Shape 123"/>
          <p:cNvSpPr/>
          <p:nvPr/>
        </p:nvSpPr>
        <p:spPr>
          <a:xfrm>
            <a:off x="5218938" y="3799332"/>
            <a:ext cx="0" cy="75438"/>
          </a:xfrm>
          <a:prstGeom prst="line">
            <a:avLst/>
          </a:prstGeom>
          <a:noFill/>
          <a:ln w="1270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6" name="Shape 124"/>
          <p:cNvSpPr/>
          <p:nvPr/>
        </p:nvSpPr>
        <p:spPr>
          <a:xfrm flipV="1">
            <a:off x="4320540" y="3723894"/>
            <a:ext cx="0" cy="54864"/>
          </a:xfrm>
          <a:prstGeom prst="line">
            <a:avLst/>
          </a:prstGeom>
          <a:noFill/>
          <a:ln w="12700">
            <a:solidFill>
              <a:srgbClr val="334155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27" name="Shape 125"/>
          <p:cNvSpPr/>
          <p:nvPr/>
        </p:nvSpPr>
        <p:spPr>
          <a:xfrm>
            <a:off x="5218938" y="3819906"/>
            <a:ext cx="0" cy="54864"/>
          </a:xfrm>
          <a:prstGeom prst="line">
            <a:avLst/>
          </a:prstGeom>
          <a:noFill/>
          <a:ln w="12700">
            <a:solidFill>
              <a:srgbClr val="334155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28" name="Shape 126"/>
          <p:cNvSpPr/>
          <p:nvPr/>
        </p:nvSpPr>
        <p:spPr>
          <a:xfrm>
            <a:off x="5722316" y="3723894"/>
            <a:ext cx="0" cy="75438"/>
          </a:xfrm>
          <a:prstGeom prst="line">
            <a:avLst/>
          </a:prstGeom>
          <a:noFill/>
          <a:ln w="1270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9" name="Shape 127"/>
          <p:cNvSpPr/>
          <p:nvPr/>
        </p:nvSpPr>
        <p:spPr>
          <a:xfrm>
            <a:off x="5722315" y="3799332"/>
            <a:ext cx="1156259" cy="0"/>
          </a:xfrm>
          <a:prstGeom prst="line">
            <a:avLst/>
          </a:prstGeom>
          <a:noFill/>
          <a:ln w="1270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0" name="Shape 128"/>
          <p:cNvSpPr/>
          <p:nvPr/>
        </p:nvSpPr>
        <p:spPr>
          <a:xfrm>
            <a:off x="6878574" y="3799332"/>
            <a:ext cx="0" cy="75438"/>
          </a:xfrm>
          <a:prstGeom prst="line">
            <a:avLst/>
          </a:prstGeom>
          <a:noFill/>
          <a:ln w="1270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1" name="Shape 129"/>
          <p:cNvSpPr/>
          <p:nvPr/>
        </p:nvSpPr>
        <p:spPr>
          <a:xfrm flipV="1">
            <a:off x="5722316" y="3723894"/>
            <a:ext cx="0" cy="54864"/>
          </a:xfrm>
          <a:prstGeom prst="line">
            <a:avLst/>
          </a:prstGeom>
          <a:noFill/>
          <a:ln w="12700">
            <a:solidFill>
              <a:srgbClr val="334155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32" name="Shape 130"/>
          <p:cNvSpPr/>
          <p:nvPr/>
        </p:nvSpPr>
        <p:spPr>
          <a:xfrm>
            <a:off x="6878574" y="3819906"/>
            <a:ext cx="0" cy="54864"/>
          </a:xfrm>
          <a:prstGeom prst="line">
            <a:avLst/>
          </a:prstGeom>
          <a:noFill/>
          <a:ln w="12700">
            <a:solidFill>
              <a:srgbClr val="334155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33" name="Shape 131"/>
          <p:cNvSpPr/>
          <p:nvPr/>
        </p:nvSpPr>
        <p:spPr>
          <a:xfrm>
            <a:off x="3086100" y="4272534"/>
            <a:ext cx="2468880" cy="377190"/>
          </a:xfrm>
          <a:prstGeom prst="rect">
            <a:avLst/>
          </a:prstGeom>
          <a:solidFill>
            <a:srgbClr val="FFFFFF"/>
          </a:solidFill>
          <a:ln w="9525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4" name="Text 132"/>
          <p:cNvSpPr/>
          <p:nvPr/>
        </p:nvSpPr>
        <p:spPr>
          <a:xfrm>
            <a:off x="3086100" y="4279392"/>
            <a:ext cx="24688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/>
            <a:r>
              <a:rPr lang="en-US" sz="563" b="1" dirty="0">
                <a:solidFill>
                  <a:srgbClr val="475569"/>
                </a:solidFill>
              </a:rPr>
              <a:t>Assurance Integration</a:t>
            </a:r>
            <a:endParaRPr lang="en-US" sz="563" dirty="0"/>
          </a:p>
        </p:txBody>
      </p:sp>
      <p:sp>
        <p:nvSpPr>
          <p:cNvPr id="135" name="Shape 133"/>
          <p:cNvSpPr/>
          <p:nvPr/>
        </p:nvSpPr>
        <p:spPr>
          <a:xfrm>
            <a:off x="3120390" y="4395978"/>
            <a:ext cx="763524" cy="219456"/>
          </a:xfrm>
          <a:prstGeom prst="rect">
            <a:avLst/>
          </a:prstGeom>
          <a:solidFill>
            <a:srgbClr val="DBEAFE"/>
          </a:solidFill>
          <a:ln w="9525">
            <a:solidFill>
              <a:srgbClr val="1D4E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6" name="Text 134"/>
          <p:cNvSpPr/>
          <p:nvPr/>
        </p:nvSpPr>
        <p:spPr>
          <a:xfrm>
            <a:off x="3134106" y="4395978"/>
            <a:ext cx="7360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525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TMF 641</a:t>
            </a:r>
            <a:endParaRPr lang="en-US" sz="600" dirty="0"/>
          </a:p>
          <a:p>
            <a:pPr algn="ctr"/>
            <a:r>
              <a:rPr lang="en-US" sz="488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ICO Service Order</a:t>
            </a:r>
            <a:endParaRPr lang="en-US" sz="600" dirty="0"/>
          </a:p>
        </p:txBody>
      </p:sp>
      <p:sp>
        <p:nvSpPr>
          <p:cNvPr id="137" name="Shape 135"/>
          <p:cNvSpPr/>
          <p:nvPr/>
        </p:nvSpPr>
        <p:spPr>
          <a:xfrm>
            <a:off x="3914775" y="4395978"/>
            <a:ext cx="763524" cy="219456"/>
          </a:xfrm>
          <a:prstGeom prst="rect">
            <a:avLst/>
          </a:prstGeom>
          <a:solidFill>
            <a:srgbClr val="DBEAFE"/>
          </a:solidFill>
          <a:ln w="9525">
            <a:solidFill>
              <a:srgbClr val="1D4E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8" name="Text 136"/>
          <p:cNvSpPr/>
          <p:nvPr/>
        </p:nvSpPr>
        <p:spPr>
          <a:xfrm>
            <a:off x="3928491" y="4395978"/>
            <a:ext cx="7360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525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TMF 621</a:t>
            </a:r>
            <a:endParaRPr lang="en-US" sz="600" dirty="0"/>
          </a:p>
          <a:p>
            <a:pPr algn="ctr"/>
            <a:r>
              <a:rPr lang="en-US" sz="488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 Management</a:t>
            </a:r>
            <a:endParaRPr lang="en-US" sz="600" dirty="0"/>
          </a:p>
        </p:txBody>
      </p:sp>
      <p:sp>
        <p:nvSpPr>
          <p:cNvPr id="139" name="Shape 137"/>
          <p:cNvSpPr/>
          <p:nvPr/>
        </p:nvSpPr>
        <p:spPr>
          <a:xfrm>
            <a:off x="4709160" y="4395978"/>
            <a:ext cx="763524" cy="219456"/>
          </a:xfrm>
          <a:prstGeom prst="rect">
            <a:avLst/>
          </a:prstGeom>
          <a:solidFill>
            <a:srgbClr val="DBEAFE"/>
          </a:solidFill>
          <a:ln w="9525">
            <a:solidFill>
              <a:srgbClr val="1D4E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0" name="Text 138"/>
          <p:cNvSpPr/>
          <p:nvPr/>
        </p:nvSpPr>
        <p:spPr>
          <a:xfrm>
            <a:off x="4722876" y="4395978"/>
            <a:ext cx="7360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6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D360 APIs</a:t>
            </a:r>
            <a:endParaRPr lang="en-US" sz="600" dirty="0"/>
          </a:p>
        </p:txBody>
      </p:sp>
      <p:sp>
        <p:nvSpPr>
          <p:cNvPr id="141" name="Shape 139"/>
          <p:cNvSpPr/>
          <p:nvPr/>
        </p:nvSpPr>
        <p:spPr>
          <a:xfrm>
            <a:off x="857250" y="4752594"/>
            <a:ext cx="1303020" cy="192024"/>
          </a:xfrm>
          <a:prstGeom prst="rect">
            <a:avLst/>
          </a:prstGeom>
          <a:solidFill>
            <a:srgbClr val="FFFFFF"/>
          </a:solidFill>
          <a:ln w="9525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2" name="Text 140"/>
          <p:cNvSpPr/>
          <p:nvPr/>
        </p:nvSpPr>
        <p:spPr>
          <a:xfrm>
            <a:off x="870966" y="4752594"/>
            <a:ext cx="1275588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638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Celestial</a:t>
            </a:r>
            <a:endParaRPr lang="en-US" sz="638" dirty="0"/>
          </a:p>
        </p:txBody>
      </p:sp>
      <p:sp>
        <p:nvSpPr>
          <p:cNvPr id="143" name="Shape 141"/>
          <p:cNvSpPr/>
          <p:nvPr/>
        </p:nvSpPr>
        <p:spPr>
          <a:xfrm>
            <a:off x="2263140" y="4752594"/>
            <a:ext cx="1303020" cy="192024"/>
          </a:xfrm>
          <a:prstGeom prst="rect">
            <a:avLst/>
          </a:prstGeom>
          <a:solidFill>
            <a:srgbClr val="FFFFFF"/>
          </a:solidFill>
          <a:ln w="9525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4" name="Text 142"/>
          <p:cNvSpPr/>
          <p:nvPr/>
        </p:nvSpPr>
        <p:spPr>
          <a:xfrm>
            <a:off x="2276856" y="4752594"/>
            <a:ext cx="1275588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638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ICO</a:t>
            </a:r>
            <a:endParaRPr lang="en-US" sz="638" dirty="0"/>
          </a:p>
        </p:txBody>
      </p:sp>
      <p:sp>
        <p:nvSpPr>
          <p:cNvPr id="145" name="Shape 143"/>
          <p:cNvSpPr/>
          <p:nvPr/>
        </p:nvSpPr>
        <p:spPr>
          <a:xfrm>
            <a:off x="3669030" y="4752594"/>
            <a:ext cx="1303020" cy="192024"/>
          </a:xfrm>
          <a:prstGeom prst="rect">
            <a:avLst/>
          </a:prstGeom>
          <a:solidFill>
            <a:srgbClr val="FFFFFF"/>
          </a:solidFill>
          <a:ln w="9525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6" name="Text 144"/>
          <p:cNvSpPr/>
          <p:nvPr/>
        </p:nvSpPr>
        <p:spPr>
          <a:xfrm>
            <a:off x="3682746" y="4752594"/>
            <a:ext cx="1275588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638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</a:t>
            </a:r>
            <a:endParaRPr lang="en-US" sz="638" dirty="0"/>
          </a:p>
        </p:txBody>
      </p:sp>
      <p:sp>
        <p:nvSpPr>
          <p:cNvPr id="147" name="Shape 145"/>
          <p:cNvSpPr/>
          <p:nvPr/>
        </p:nvSpPr>
        <p:spPr>
          <a:xfrm>
            <a:off x="5074920" y="4752594"/>
            <a:ext cx="1303020" cy="192024"/>
          </a:xfrm>
          <a:prstGeom prst="rect">
            <a:avLst/>
          </a:prstGeom>
          <a:solidFill>
            <a:srgbClr val="FFFFFF"/>
          </a:solidFill>
          <a:ln w="9525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8" name="Text 146"/>
          <p:cNvSpPr/>
          <p:nvPr/>
        </p:nvSpPr>
        <p:spPr>
          <a:xfrm>
            <a:off x="5088636" y="4752594"/>
            <a:ext cx="1275588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638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CAFE</a:t>
            </a:r>
            <a:endParaRPr lang="en-US" sz="638" dirty="0"/>
          </a:p>
        </p:txBody>
      </p:sp>
      <p:sp>
        <p:nvSpPr>
          <p:cNvPr id="149" name="Shape 147"/>
          <p:cNvSpPr/>
          <p:nvPr/>
        </p:nvSpPr>
        <p:spPr>
          <a:xfrm>
            <a:off x="6480810" y="4752594"/>
            <a:ext cx="1303020" cy="192024"/>
          </a:xfrm>
          <a:prstGeom prst="rect">
            <a:avLst/>
          </a:prstGeom>
          <a:solidFill>
            <a:srgbClr val="FFFFFF"/>
          </a:solidFill>
          <a:ln w="9525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0" name="Text 148"/>
          <p:cNvSpPr/>
          <p:nvPr/>
        </p:nvSpPr>
        <p:spPr>
          <a:xfrm>
            <a:off x="6494526" y="4752594"/>
            <a:ext cx="1275588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638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</a:t>
            </a:r>
            <a:endParaRPr lang="en-US" sz="638" dirty="0"/>
          </a:p>
        </p:txBody>
      </p:sp>
      <p:sp>
        <p:nvSpPr>
          <p:cNvPr id="151" name="Shape 149"/>
          <p:cNvSpPr/>
          <p:nvPr/>
        </p:nvSpPr>
        <p:spPr>
          <a:xfrm>
            <a:off x="4320540" y="4649724"/>
            <a:ext cx="0" cy="51435"/>
          </a:xfrm>
          <a:prstGeom prst="line">
            <a:avLst/>
          </a:prstGeom>
          <a:noFill/>
          <a:ln w="1270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2" name="Shape 150"/>
          <p:cNvSpPr/>
          <p:nvPr/>
        </p:nvSpPr>
        <p:spPr>
          <a:xfrm>
            <a:off x="1508760" y="4701159"/>
            <a:ext cx="5623560" cy="0"/>
          </a:xfrm>
          <a:prstGeom prst="line">
            <a:avLst/>
          </a:prstGeom>
          <a:noFill/>
          <a:ln w="1270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3" name="Shape 151"/>
          <p:cNvSpPr/>
          <p:nvPr/>
        </p:nvSpPr>
        <p:spPr>
          <a:xfrm>
            <a:off x="1508760" y="4701159"/>
            <a:ext cx="0" cy="51435"/>
          </a:xfrm>
          <a:prstGeom prst="line">
            <a:avLst/>
          </a:prstGeom>
          <a:noFill/>
          <a:ln w="12700">
            <a:solidFill>
              <a:srgbClr val="334155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54" name="Shape 152"/>
          <p:cNvSpPr/>
          <p:nvPr/>
        </p:nvSpPr>
        <p:spPr>
          <a:xfrm>
            <a:off x="2914650" y="4701159"/>
            <a:ext cx="0" cy="51435"/>
          </a:xfrm>
          <a:prstGeom prst="line">
            <a:avLst/>
          </a:prstGeom>
          <a:noFill/>
          <a:ln w="12700">
            <a:solidFill>
              <a:srgbClr val="334155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55" name="Shape 153"/>
          <p:cNvSpPr/>
          <p:nvPr/>
        </p:nvSpPr>
        <p:spPr>
          <a:xfrm>
            <a:off x="4320540" y="4701159"/>
            <a:ext cx="0" cy="51435"/>
          </a:xfrm>
          <a:prstGeom prst="line">
            <a:avLst/>
          </a:prstGeom>
          <a:noFill/>
          <a:ln w="12700">
            <a:solidFill>
              <a:srgbClr val="334155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56" name="Shape 154"/>
          <p:cNvSpPr/>
          <p:nvPr/>
        </p:nvSpPr>
        <p:spPr>
          <a:xfrm>
            <a:off x="5726430" y="4701159"/>
            <a:ext cx="0" cy="51435"/>
          </a:xfrm>
          <a:prstGeom prst="line">
            <a:avLst/>
          </a:prstGeom>
          <a:noFill/>
          <a:ln w="12700">
            <a:solidFill>
              <a:srgbClr val="334155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57" name="Shape 155"/>
          <p:cNvSpPr/>
          <p:nvPr/>
        </p:nvSpPr>
        <p:spPr>
          <a:xfrm>
            <a:off x="7132320" y="4701159"/>
            <a:ext cx="0" cy="51435"/>
          </a:xfrm>
          <a:prstGeom prst="line">
            <a:avLst/>
          </a:prstGeom>
          <a:noFill/>
          <a:ln w="12700">
            <a:solidFill>
              <a:srgbClr val="334155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58" name="Shape 156"/>
          <p:cNvSpPr/>
          <p:nvPr/>
        </p:nvSpPr>
        <p:spPr>
          <a:xfrm>
            <a:off x="8058150" y="610362"/>
            <a:ext cx="857250" cy="939546"/>
          </a:xfrm>
          <a:prstGeom prst="rect">
            <a:avLst/>
          </a:prstGeom>
          <a:solidFill>
            <a:srgbClr val="FFFFFF"/>
          </a:solidFill>
          <a:ln w="9525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9" name="Text 157"/>
          <p:cNvSpPr/>
          <p:nvPr/>
        </p:nvSpPr>
        <p:spPr>
          <a:xfrm>
            <a:off x="8058150" y="624078"/>
            <a:ext cx="857250" cy="1234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/>
            <a:r>
              <a:rPr lang="en-US" sz="600" b="1" dirty="0">
                <a:solidFill>
                  <a:srgbClr val="475569"/>
                </a:solidFill>
              </a:rPr>
              <a:t>Site</a:t>
            </a:r>
            <a:endParaRPr lang="en-US" sz="600" dirty="0"/>
          </a:p>
        </p:txBody>
      </p:sp>
      <p:sp>
        <p:nvSpPr>
          <p:cNvPr id="160" name="Shape 158"/>
          <p:cNvSpPr/>
          <p:nvPr/>
        </p:nvSpPr>
        <p:spPr>
          <a:xfrm>
            <a:off x="8099298" y="761238"/>
            <a:ext cx="774954" cy="173165"/>
          </a:xfrm>
          <a:prstGeom prst="rect">
            <a:avLst/>
          </a:prstGeom>
          <a:solidFill>
            <a:srgbClr val="FFFFFF"/>
          </a:solidFill>
          <a:ln w="9525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1" name="Text 159"/>
          <p:cNvSpPr/>
          <p:nvPr/>
        </p:nvSpPr>
        <p:spPr>
          <a:xfrm>
            <a:off x="8113014" y="761238"/>
            <a:ext cx="747522" cy="1731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525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ELOC/Insite</a:t>
            </a:r>
            <a:endParaRPr lang="en-US" sz="525" dirty="0"/>
          </a:p>
        </p:txBody>
      </p:sp>
      <p:sp>
        <p:nvSpPr>
          <p:cNvPr id="162" name="Shape 160"/>
          <p:cNvSpPr/>
          <p:nvPr/>
        </p:nvSpPr>
        <p:spPr>
          <a:xfrm>
            <a:off x="8099298" y="954976"/>
            <a:ext cx="774954" cy="173165"/>
          </a:xfrm>
          <a:prstGeom prst="rect">
            <a:avLst/>
          </a:prstGeom>
          <a:solidFill>
            <a:srgbClr val="FFFFFF"/>
          </a:solidFill>
          <a:ln w="9525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3" name="Text 161"/>
          <p:cNvSpPr/>
          <p:nvPr/>
        </p:nvSpPr>
        <p:spPr>
          <a:xfrm>
            <a:off x="8113014" y="954976"/>
            <a:ext cx="747522" cy="1731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525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CDP</a:t>
            </a:r>
            <a:endParaRPr lang="en-US" sz="525" dirty="0"/>
          </a:p>
        </p:txBody>
      </p:sp>
      <p:sp>
        <p:nvSpPr>
          <p:cNvPr id="164" name="Shape 162"/>
          <p:cNvSpPr/>
          <p:nvPr/>
        </p:nvSpPr>
        <p:spPr>
          <a:xfrm>
            <a:off x="8099298" y="1148715"/>
            <a:ext cx="774954" cy="173165"/>
          </a:xfrm>
          <a:prstGeom prst="rect">
            <a:avLst/>
          </a:prstGeom>
          <a:solidFill>
            <a:srgbClr val="FFFFFF"/>
          </a:solidFill>
          <a:ln w="9525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5" name="Text 163"/>
          <p:cNvSpPr/>
          <p:nvPr/>
        </p:nvSpPr>
        <p:spPr>
          <a:xfrm>
            <a:off x="8113014" y="1148715"/>
            <a:ext cx="747522" cy="1731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525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P2 Survey</a:t>
            </a:r>
            <a:endParaRPr lang="en-US" sz="525" dirty="0"/>
          </a:p>
        </p:txBody>
      </p:sp>
      <p:sp>
        <p:nvSpPr>
          <p:cNvPr id="166" name="Shape 164"/>
          <p:cNvSpPr/>
          <p:nvPr/>
        </p:nvSpPr>
        <p:spPr>
          <a:xfrm>
            <a:off x="8099298" y="1342453"/>
            <a:ext cx="774954" cy="173165"/>
          </a:xfrm>
          <a:prstGeom prst="rect">
            <a:avLst/>
          </a:prstGeom>
          <a:solidFill>
            <a:srgbClr val="FFFFFF"/>
          </a:solidFill>
          <a:ln w="9525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7" name="Text 165"/>
          <p:cNvSpPr/>
          <p:nvPr/>
        </p:nvSpPr>
        <p:spPr>
          <a:xfrm>
            <a:off x="8113014" y="1342453"/>
            <a:ext cx="747522" cy="1731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525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OASIS</a:t>
            </a:r>
            <a:endParaRPr lang="en-US" sz="525" dirty="0"/>
          </a:p>
        </p:txBody>
      </p:sp>
      <p:sp>
        <p:nvSpPr>
          <p:cNvPr id="168" name="Shape 166"/>
          <p:cNvSpPr/>
          <p:nvPr/>
        </p:nvSpPr>
        <p:spPr>
          <a:xfrm>
            <a:off x="8058150" y="1639062"/>
            <a:ext cx="857250" cy="1282446"/>
          </a:xfrm>
          <a:prstGeom prst="rect">
            <a:avLst/>
          </a:prstGeom>
          <a:solidFill>
            <a:srgbClr val="FFFFFF"/>
          </a:solidFill>
          <a:ln w="9525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9" name="Text 167"/>
          <p:cNvSpPr/>
          <p:nvPr/>
        </p:nvSpPr>
        <p:spPr>
          <a:xfrm>
            <a:off x="8058150" y="1652778"/>
            <a:ext cx="857250" cy="1234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/>
            <a:r>
              <a:rPr lang="en-US" sz="600" b="1" dirty="0">
                <a:solidFill>
                  <a:srgbClr val="475569"/>
                </a:solidFill>
              </a:rPr>
              <a:t>Product Catalog</a:t>
            </a:r>
            <a:endParaRPr lang="en-US" sz="600" dirty="0"/>
          </a:p>
        </p:txBody>
      </p:sp>
      <p:sp>
        <p:nvSpPr>
          <p:cNvPr id="170" name="Shape 168"/>
          <p:cNvSpPr/>
          <p:nvPr/>
        </p:nvSpPr>
        <p:spPr>
          <a:xfrm>
            <a:off x="8099298" y="1789938"/>
            <a:ext cx="774954" cy="352044"/>
          </a:xfrm>
          <a:prstGeom prst="rect">
            <a:avLst/>
          </a:prstGeom>
          <a:solidFill>
            <a:srgbClr val="FFFFFF"/>
          </a:solidFill>
          <a:ln w="9525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1" name="Text 169"/>
          <p:cNvSpPr/>
          <p:nvPr/>
        </p:nvSpPr>
        <p:spPr>
          <a:xfrm>
            <a:off x="8113014" y="1789938"/>
            <a:ext cx="747522" cy="3520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525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MEC C1/D1</a:t>
            </a:r>
            <a:endParaRPr lang="en-US" sz="525" dirty="0"/>
          </a:p>
        </p:txBody>
      </p:sp>
      <p:sp>
        <p:nvSpPr>
          <p:cNvPr id="172" name="Shape 170"/>
          <p:cNvSpPr/>
          <p:nvPr/>
        </p:nvSpPr>
        <p:spPr>
          <a:xfrm>
            <a:off x="8099298" y="2162556"/>
            <a:ext cx="774954" cy="352044"/>
          </a:xfrm>
          <a:prstGeom prst="rect">
            <a:avLst/>
          </a:prstGeom>
          <a:solidFill>
            <a:srgbClr val="FFFFFF"/>
          </a:solidFill>
          <a:ln w="9525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3" name="Text 171"/>
          <p:cNvSpPr/>
          <p:nvPr/>
        </p:nvSpPr>
        <p:spPr>
          <a:xfrm>
            <a:off x="8113014" y="2162556"/>
            <a:ext cx="747522" cy="3520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525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Galaxy 360</a:t>
            </a:r>
            <a:endParaRPr lang="en-US" sz="525" dirty="0"/>
          </a:p>
        </p:txBody>
      </p:sp>
      <p:sp>
        <p:nvSpPr>
          <p:cNvPr id="174" name="Shape 172"/>
          <p:cNvSpPr/>
          <p:nvPr/>
        </p:nvSpPr>
        <p:spPr>
          <a:xfrm>
            <a:off x="8099298" y="2535174"/>
            <a:ext cx="774954" cy="352044"/>
          </a:xfrm>
          <a:prstGeom prst="rect">
            <a:avLst/>
          </a:prstGeom>
          <a:solidFill>
            <a:srgbClr val="FFFFFF"/>
          </a:solidFill>
          <a:ln w="9525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5" name="Text 173"/>
          <p:cNvSpPr/>
          <p:nvPr/>
        </p:nvSpPr>
        <p:spPr>
          <a:xfrm>
            <a:off x="8113014" y="2535174"/>
            <a:ext cx="747522" cy="3520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525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Catalog</a:t>
            </a:r>
            <a:endParaRPr lang="en-US" sz="525" dirty="0"/>
          </a:p>
        </p:txBody>
      </p:sp>
      <p:sp>
        <p:nvSpPr>
          <p:cNvPr id="176" name="Shape 174"/>
          <p:cNvSpPr/>
          <p:nvPr/>
        </p:nvSpPr>
        <p:spPr>
          <a:xfrm>
            <a:off x="8058150" y="3010662"/>
            <a:ext cx="857250" cy="665226"/>
          </a:xfrm>
          <a:prstGeom prst="rect">
            <a:avLst/>
          </a:prstGeom>
          <a:solidFill>
            <a:srgbClr val="FFFFFF"/>
          </a:solidFill>
          <a:ln w="9525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7" name="Text 175"/>
          <p:cNvSpPr/>
          <p:nvPr/>
        </p:nvSpPr>
        <p:spPr>
          <a:xfrm>
            <a:off x="8058150" y="3024378"/>
            <a:ext cx="857250" cy="1234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/>
            <a:r>
              <a:rPr lang="en-US" sz="600" b="1" dirty="0">
                <a:solidFill>
                  <a:srgbClr val="475569"/>
                </a:solidFill>
              </a:rPr>
              <a:t>Fulfillment</a:t>
            </a:r>
            <a:endParaRPr lang="en-US" sz="600" dirty="0"/>
          </a:p>
        </p:txBody>
      </p:sp>
      <p:sp>
        <p:nvSpPr>
          <p:cNvPr id="178" name="Shape 176"/>
          <p:cNvSpPr/>
          <p:nvPr/>
        </p:nvSpPr>
        <p:spPr>
          <a:xfrm>
            <a:off x="8099298" y="3161538"/>
            <a:ext cx="774954" cy="62865"/>
          </a:xfrm>
          <a:prstGeom prst="rect">
            <a:avLst/>
          </a:prstGeom>
          <a:solidFill>
            <a:srgbClr val="FFFFFF"/>
          </a:solidFill>
          <a:ln w="9525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9" name="Text 177"/>
          <p:cNvSpPr/>
          <p:nvPr/>
        </p:nvSpPr>
        <p:spPr>
          <a:xfrm>
            <a:off x="8113014" y="3161538"/>
            <a:ext cx="747522" cy="628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525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P2 Survey</a:t>
            </a:r>
            <a:endParaRPr lang="en-US" sz="525" dirty="0"/>
          </a:p>
        </p:txBody>
      </p:sp>
      <p:sp>
        <p:nvSpPr>
          <p:cNvPr id="180" name="Shape 178"/>
          <p:cNvSpPr/>
          <p:nvPr/>
        </p:nvSpPr>
        <p:spPr>
          <a:xfrm>
            <a:off x="8099298" y="3244977"/>
            <a:ext cx="774954" cy="62865"/>
          </a:xfrm>
          <a:prstGeom prst="rect">
            <a:avLst/>
          </a:prstGeom>
          <a:solidFill>
            <a:srgbClr val="FFFFFF"/>
          </a:solidFill>
          <a:ln w="9525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1" name="Text 179"/>
          <p:cNvSpPr/>
          <p:nvPr/>
        </p:nvSpPr>
        <p:spPr>
          <a:xfrm>
            <a:off x="8113014" y="3244977"/>
            <a:ext cx="747522" cy="628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525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FSO</a:t>
            </a:r>
            <a:endParaRPr lang="en-US" sz="525" dirty="0"/>
          </a:p>
        </p:txBody>
      </p:sp>
      <p:sp>
        <p:nvSpPr>
          <p:cNvPr id="182" name="Shape 180"/>
          <p:cNvSpPr/>
          <p:nvPr/>
        </p:nvSpPr>
        <p:spPr>
          <a:xfrm>
            <a:off x="8099298" y="3328416"/>
            <a:ext cx="774954" cy="62865"/>
          </a:xfrm>
          <a:prstGeom prst="rect">
            <a:avLst/>
          </a:prstGeom>
          <a:solidFill>
            <a:srgbClr val="FFFFFF"/>
          </a:solidFill>
          <a:ln w="9525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3" name="Text 181"/>
          <p:cNvSpPr/>
          <p:nvPr/>
        </p:nvSpPr>
        <p:spPr>
          <a:xfrm>
            <a:off x="8113014" y="3328416"/>
            <a:ext cx="747522" cy="628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525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DCP/TTUA/Zeus</a:t>
            </a:r>
            <a:endParaRPr lang="en-US" sz="525" dirty="0"/>
          </a:p>
        </p:txBody>
      </p:sp>
      <p:sp>
        <p:nvSpPr>
          <p:cNvPr id="184" name="Shape 182"/>
          <p:cNvSpPr/>
          <p:nvPr/>
        </p:nvSpPr>
        <p:spPr>
          <a:xfrm>
            <a:off x="8099298" y="3411855"/>
            <a:ext cx="774954" cy="62865"/>
          </a:xfrm>
          <a:prstGeom prst="rect">
            <a:avLst/>
          </a:prstGeom>
          <a:solidFill>
            <a:srgbClr val="FFFFFF"/>
          </a:solidFill>
          <a:ln w="9525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5" name="Text 183"/>
          <p:cNvSpPr/>
          <p:nvPr/>
        </p:nvSpPr>
        <p:spPr>
          <a:xfrm>
            <a:off x="8113014" y="3411855"/>
            <a:ext cx="747522" cy="628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525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OfficeTrack</a:t>
            </a:r>
            <a:endParaRPr lang="en-US" sz="525" dirty="0"/>
          </a:p>
        </p:txBody>
      </p:sp>
      <p:sp>
        <p:nvSpPr>
          <p:cNvPr id="186" name="Shape 184"/>
          <p:cNvSpPr/>
          <p:nvPr/>
        </p:nvSpPr>
        <p:spPr>
          <a:xfrm>
            <a:off x="8099298" y="3495294"/>
            <a:ext cx="774954" cy="62865"/>
          </a:xfrm>
          <a:prstGeom prst="rect">
            <a:avLst/>
          </a:prstGeom>
          <a:solidFill>
            <a:srgbClr val="FFFFFF"/>
          </a:solidFill>
          <a:ln w="9525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7" name="Text 185"/>
          <p:cNvSpPr/>
          <p:nvPr/>
        </p:nvSpPr>
        <p:spPr>
          <a:xfrm>
            <a:off x="8113014" y="3495294"/>
            <a:ext cx="747522" cy="628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525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WFX</a:t>
            </a:r>
            <a:endParaRPr lang="en-US" sz="525" dirty="0"/>
          </a:p>
        </p:txBody>
      </p:sp>
      <p:sp>
        <p:nvSpPr>
          <p:cNvPr id="188" name="Shape 186"/>
          <p:cNvSpPr/>
          <p:nvPr/>
        </p:nvSpPr>
        <p:spPr>
          <a:xfrm>
            <a:off x="8099298" y="3578733"/>
            <a:ext cx="774954" cy="62865"/>
          </a:xfrm>
          <a:prstGeom prst="rect">
            <a:avLst/>
          </a:prstGeom>
          <a:solidFill>
            <a:srgbClr val="FFFFFF"/>
          </a:solidFill>
          <a:ln w="9525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9" name="Text 187"/>
          <p:cNvSpPr/>
          <p:nvPr/>
        </p:nvSpPr>
        <p:spPr>
          <a:xfrm>
            <a:off x="8113014" y="3578733"/>
            <a:ext cx="747522" cy="628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525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..N tools</a:t>
            </a:r>
            <a:endParaRPr lang="en-US" sz="525" dirty="0"/>
          </a:p>
        </p:txBody>
      </p:sp>
      <p:sp>
        <p:nvSpPr>
          <p:cNvPr id="190" name="Shape 188"/>
          <p:cNvSpPr/>
          <p:nvPr/>
        </p:nvSpPr>
        <p:spPr>
          <a:xfrm>
            <a:off x="8058150" y="3765042"/>
            <a:ext cx="857250" cy="1110996"/>
          </a:xfrm>
          <a:prstGeom prst="rect">
            <a:avLst/>
          </a:prstGeom>
          <a:solidFill>
            <a:srgbClr val="FFFFFF"/>
          </a:solidFill>
          <a:ln w="9525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1" name="Text 189"/>
          <p:cNvSpPr/>
          <p:nvPr/>
        </p:nvSpPr>
        <p:spPr>
          <a:xfrm>
            <a:off x="8058150" y="3778758"/>
            <a:ext cx="857250" cy="1234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/>
            <a:r>
              <a:rPr lang="en-US" sz="600" b="1" dirty="0">
                <a:solidFill>
                  <a:srgbClr val="475569"/>
                </a:solidFill>
              </a:rPr>
              <a:t>Billing &amp; Assurance</a:t>
            </a:r>
            <a:endParaRPr lang="en-US" sz="600" dirty="0"/>
          </a:p>
        </p:txBody>
      </p:sp>
      <p:sp>
        <p:nvSpPr>
          <p:cNvPr id="192" name="Shape 190"/>
          <p:cNvSpPr/>
          <p:nvPr/>
        </p:nvSpPr>
        <p:spPr>
          <a:xfrm>
            <a:off x="8099298" y="3915918"/>
            <a:ext cx="774954" cy="294894"/>
          </a:xfrm>
          <a:prstGeom prst="rect">
            <a:avLst/>
          </a:prstGeom>
          <a:solidFill>
            <a:srgbClr val="FFFFFF"/>
          </a:solidFill>
          <a:ln w="9525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3" name="Text 191"/>
          <p:cNvSpPr/>
          <p:nvPr/>
        </p:nvSpPr>
        <p:spPr>
          <a:xfrm>
            <a:off x="8113014" y="3915918"/>
            <a:ext cx="747522" cy="2948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525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ODS</a:t>
            </a:r>
            <a:endParaRPr lang="en-US" sz="525" dirty="0"/>
          </a:p>
        </p:txBody>
      </p:sp>
      <p:sp>
        <p:nvSpPr>
          <p:cNvPr id="194" name="Shape 192"/>
          <p:cNvSpPr/>
          <p:nvPr/>
        </p:nvSpPr>
        <p:spPr>
          <a:xfrm>
            <a:off x="8099298" y="4231386"/>
            <a:ext cx="774954" cy="294894"/>
          </a:xfrm>
          <a:prstGeom prst="rect">
            <a:avLst/>
          </a:prstGeom>
          <a:solidFill>
            <a:srgbClr val="FFFFFF"/>
          </a:solidFill>
          <a:ln w="9525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5" name="Text 193"/>
          <p:cNvSpPr/>
          <p:nvPr/>
        </p:nvSpPr>
        <p:spPr>
          <a:xfrm>
            <a:off x="8113014" y="4231386"/>
            <a:ext cx="747522" cy="2948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525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SIGMA</a:t>
            </a:r>
            <a:endParaRPr lang="en-US" sz="525" dirty="0"/>
          </a:p>
        </p:txBody>
      </p:sp>
      <p:sp>
        <p:nvSpPr>
          <p:cNvPr id="196" name="Shape 194"/>
          <p:cNvSpPr/>
          <p:nvPr/>
        </p:nvSpPr>
        <p:spPr>
          <a:xfrm>
            <a:off x="8099298" y="4546854"/>
            <a:ext cx="774954" cy="294894"/>
          </a:xfrm>
          <a:prstGeom prst="rect">
            <a:avLst/>
          </a:prstGeom>
          <a:solidFill>
            <a:srgbClr val="FFFFFF"/>
          </a:solidFill>
          <a:ln w="9525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7" name="Text 195"/>
          <p:cNvSpPr/>
          <p:nvPr/>
        </p:nvSpPr>
        <p:spPr>
          <a:xfrm>
            <a:off x="8113014" y="4546854"/>
            <a:ext cx="747522" cy="2948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525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 Assurance Monitoring (SAM)</a:t>
            </a:r>
            <a:endParaRPr lang="en-US" sz="525" dirty="0"/>
          </a:p>
        </p:txBody>
      </p:sp>
      <p:sp>
        <p:nvSpPr>
          <p:cNvPr id="198" name="Shape 196"/>
          <p:cNvSpPr/>
          <p:nvPr/>
        </p:nvSpPr>
        <p:spPr>
          <a:xfrm>
            <a:off x="7818120" y="1080135"/>
            <a:ext cx="185166" cy="0"/>
          </a:xfrm>
          <a:prstGeom prst="line">
            <a:avLst/>
          </a:prstGeom>
          <a:noFill/>
          <a:ln w="12700">
            <a:solidFill>
              <a:srgbClr val="334155"/>
            </a:solidFill>
            <a:prstDash val="solid"/>
            <a:headEnd type="triangl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99" name="Shape 197"/>
          <p:cNvSpPr/>
          <p:nvPr/>
        </p:nvSpPr>
        <p:spPr>
          <a:xfrm>
            <a:off x="7818120" y="2280285"/>
            <a:ext cx="185166" cy="0"/>
          </a:xfrm>
          <a:prstGeom prst="line">
            <a:avLst/>
          </a:prstGeom>
          <a:noFill/>
          <a:ln w="12700">
            <a:solidFill>
              <a:srgbClr val="334155"/>
            </a:solidFill>
            <a:prstDash val="solid"/>
            <a:headEnd type="triangl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200" name="Shape 198"/>
          <p:cNvSpPr/>
          <p:nvPr/>
        </p:nvSpPr>
        <p:spPr>
          <a:xfrm>
            <a:off x="7818120" y="3343275"/>
            <a:ext cx="185166" cy="0"/>
          </a:xfrm>
          <a:prstGeom prst="line">
            <a:avLst/>
          </a:prstGeom>
          <a:noFill/>
          <a:ln w="12700">
            <a:solidFill>
              <a:srgbClr val="334155"/>
            </a:solidFill>
            <a:prstDash val="solid"/>
            <a:headEnd type="triangl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201" name="Shape 199"/>
          <p:cNvSpPr/>
          <p:nvPr/>
        </p:nvSpPr>
        <p:spPr>
          <a:xfrm>
            <a:off x="7818120" y="3960495"/>
            <a:ext cx="185166" cy="0"/>
          </a:xfrm>
          <a:prstGeom prst="line">
            <a:avLst/>
          </a:prstGeom>
          <a:noFill/>
          <a:ln w="12700">
            <a:solidFill>
              <a:srgbClr val="334155"/>
            </a:solidFill>
            <a:prstDash val="solid"/>
            <a:headEnd type="triangl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202" name="Shape 200"/>
          <p:cNvSpPr/>
          <p:nvPr/>
        </p:nvSpPr>
        <p:spPr>
          <a:xfrm>
            <a:off x="7818120" y="4560570"/>
            <a:ext cx="185166" cy="0"/>
          </a:xfrm>
          <a:prstGeom prst="line">
            <a:avLst/>
          </a:prstGeom>
          <a:noFill/>
          <a:ln w="12700">
            <a:solidFill>
              <a:srgbClr val="334155"/>
            </a:solidFill>
            <a:prstDash val="solid"/>
            <a:headEnd type="triangle"/>
            <a:tailEnd type="triangle"/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320040"/>
            <a:ext cx="1097280" cy="292608"/>
          </a:xfrm>
          <a:prstGeom prst="rect">
            <a:avLst/>
          </a:prstGeom>
          <a:solidFill>
            <a:srgbClr val="0F2B4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731520" y="320040"/>
            <a:ext cx="1097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1965960" y="274320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0F2B4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Impacts to Current State  (1/2)</a:t>
            </a:r>
            <a:endParaRPr lang="en-US" sz="28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0516550"/>
              </p:ext>
            </p:extLst>
          </p:nvPr>
        </p:nvGraphicFramePr>
        <p:xfrm>
          <a:off x="274320" y="914400"/>
          <a:ext cx="7251192" cy="3721609"/>
        </p:xfrm>
        <a:graphic>
          <a:graphicData uri="http://schemas.openxmlformats.org/drawingml/2006/table">
            <a:tbl>
              <a:tblPr/>
              <a:tblGrid>
                <a:gridCol w="126895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3791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44431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06485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Platform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B4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Feature Impacts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B4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Next Steps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B4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12971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Amdocs (Mid Market/Standard stack)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Performance improvements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Decision on catalog options — build vs. buy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12971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SOW++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8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CPQ and SOW support to replace the current SOW and Configurators. New catalog to support standard and non-standard requirements, includes authoring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>
                        <a:buNone/>
                      </a:pP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8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Accelerate design and dev in 2026. Decision on options — build vs. buy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>
                        <a:buNone/>
                      </a:pP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12971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Galaxy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Add all standard products to support new custom and large site orders.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Product build in Galaxy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12971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POG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Impacts for new products/services and new flow from SOW++. Ethernet and Fed Gov products via POG.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Align POG roadmap for product builds.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816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Singleview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New product support for standard products not currently in Singleview and only in Orion.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Assess delta of standard products in Orion vs Singleview</a:t>
                      </a:r>
                    </a:p>
                    <a:p>
                      <a:pPr marL="0" indent="0">
                        <a:buNone/>
                      </a:pP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816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latin typeface="Calibri" charset="0"/>
                          <a:ea typeface="Calibri" charset="0"/>
                          <a:cs typeface="Calibri" charset="0"/>
                        </a:rPr>
                        <a:t>Next Gen Biller</a:t>
                      </a: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latin typeface="Calibri" charset="0"/>
                          <a:ea typeface="Calibri" charset="0"/>
                          <a:cs typeface="Calibri" charset="0"/>
                        </a:rPr>
                        <a:t>Biller evolution.</a:t>
                      </a: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8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Get with Netcracker and CSG to evaluate next gen options for Custom Enterprise (and maybe standard) biller.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>
                        <a:buNone/>
                      </a:pP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44867026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320040"/>
            <a:ext cx="1097280" cy="292608"/>
          </a:xfrm>
          <a:prstGeom prst="rect">
            <a:avLst/>
          </a:prstGeom>
          <a:solidFill>
            <a:srgbClr val="0F2B4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731520" y="320040"/>
            <a:ext cx="1097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1965960" y="274320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0F2B4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Impacts to Current State  (2/2)</a:t>
            </a:r>
            <a:endParaRPr lang="en-US" sz="28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59082747"/>
              </p:ext>
            </p:extLst>
          </p:nvPr>
        </p:nvGraphicFramePr>
        <p:xfrm>
          <a:off x="274320" y="914400"/>
          <a:ext cx="8595360" cy="3429000"/>
        </p:xfrm>
        <a:graphic>
          <a:graphicData uri="http://schemas.openxmlformats.org/drawingml/2006/table">
            <a:tbl>
              <a:tblPr/>
              <a:tblGrid>
                <a:gridCol w="12801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603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801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4747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2004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Platform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B4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Feature Impacts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B4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Program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B4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Next Steps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B4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Middleware / TMF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TMF APIs handled by S3 and Compass. Determine if other TMF APIs needed for Assurance, Ticketing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S3/Compass in CBG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Align architecture on TMF and other APIs in fulfillment, assurance, and billing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Digital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Digital convergence impacted by Custom implementation in SOW++ → Singleview. Assess roadmap for D360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Digital Convergence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Align with Digital stakeholders to determine impacts to platform and program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CBG/Nitel Migration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Identify a migration strategy.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TBD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Align with business on migration strategy for 2026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International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International service locations and currency support in the custom stack, SOW++ through Billing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TBD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Get with Netcracker and CSG to evaluate better options for International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CBM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TBD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CBM TMo/Genesis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Identify patterns to support upmarket – 100s of lines and 100s sites.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Public Sector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Implement functionality above the line in Enclave. Updates below the line to integrate via POG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Fed Gov / S3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Align Enclave integration with POG roadmap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7432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0F2B4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Key Takeaways &amp; Next Steps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731520" y="960120"/>
            <a:ext cx="1828800" cy="36576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731520" y="1234440"/>
            <a:ext cx="320040" cy="320040"/>
          </a:xfrm>
          <a:prstGeom prst="rect">
            <a:avLst/>
          </a:prstGeom>
          <a:solidFill>
            <a:srgbClr val="0F2B4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731520" y="123444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234440" y="118872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0F2B4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Dual-Stack Reality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234440" y="1463040"/>
            <a:ext cx="7132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 and Custom stacks will coexist; plan for parallel support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731520" y="1856232"/>
            <a:ext cx="320040" cy="320040"/>
          </a:xfrm>
          <a:prstGeom prst="rect">
            <a:avLst/>
          </a:prstGeom>
          <a:solidFill>
            <a:srgbClr val="0F2B4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731520" y="1856232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234440" y="1810512"/>
            <a:ext cx="348843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0F2B4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SOW++ and Custom Catalog Is the Pivot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234440" y="2084832"/>
            <a:ext cx="7132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CPQ and SOW replacement is the key — accelerate design and development in 2026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731520" y="2478024"/>
            <a:ext cx="320040" cy="320040"/>
          </a:xfrm>
          <a:prstGeom prst="rect">
            <a:avLst/>
          </a:prstGeom>
          <a:solidFill>
            <a:srgbClr val="0F2B4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731520" y="2478024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234440" y="2432304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00" b="1" dirty="0">
                <a:solidFill>
                  <a:srgbClr val="0F2B4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International Strategy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234440" y="2706624"/>
            <a:ext cx="7132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1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Currency and location support built in custom stack; Netcracker biller evaluation needs to happen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731520" y="3099816"/>
            <a:ext cx="320040" cy="320040"/>
          </a:xfrm>
          <a:prstGeom prst="rect">
            <a:avLst/>
          </a:prstGeom>
          <a:solidFill>
            <a:srgbClr val="0F2B4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731520" y="3099816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234440" y="3054096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0F2B4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Galaxy stack – Product build out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1234440" y="3328416"/>
            <a:ext cx="7132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out standard products in the Galaxy stack (and POG)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731520" y="3721608"/>
            <a:ext cx="320040" cy="320040"/>
          </a:xfrm>
          <a:prstGeom prst="rect">
            <a:avLst/>
          </a:prstGeom>
          <a:solidFill>
            <a:srgbClr val="0F2B4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731520" y="3721608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1234440" y="3675888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00" b="1" dirty="0">
                <a:solidFill>
                  <a:srgbClr val="0F2B4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CBM Growth Path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1234440" y="3950208"/>
            <a:ext cx="7132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100" dirty="0">
                <a:solidFill>
                  <a:srgbClr val="2D3748"/>
                </a:solidFill>
                <a:latin typeface="Calibri" pitchFamily="34" charset="0"/>
                <a:cs typeface="Calibri" pitchFamily="34" charset="-120"/>
              </a:rPr>
              <a:t>Identify OSS/BSS stack options for CBM upmarket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731520" y="434340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1056</TotalTime>
  <Words>1574</Words>
  <Application>Microsoft Macintosh PowerPoint</Application>
  <PresentationFormat>On-screen Show (16:9)</PresentationFormat>
  <Paragraphs>457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7" baseType="lpstr">
      <vt:lpstr>Arial</vt:lpstr>
      <vt:lpstr>Calibri</vt:lpstr>
      <vt:lpstr>Source Sans 3</vt:lpstr>
      <vt:lpstr>Trebuchet MS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Standard vs. Custom BSS/OSS Pattern</dc:title>
  <dc:subject>PptxGenJS Presentation</dc:subject>
  <dc:creator>Sudhaman Chandrasekaran</dc:creator>
  <cp:lastModifiedBy>Chandrasekaran, Sudhaman</cp:lastModifiedBy>
  <cp:revision>15</cp:revision>
  <dcterms:created xsi:type="dcterms:W3CDTF">2026-04-20T21:44:04Z</dcterms:created>
  <dcterms:modified xsi:type="dcterms:W3CDTF">2026-04-21T15:21:58Z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d0979fc8-5559-4f19-93ee-e28ca03d7638_Enabled">
    <vt:lpwstr>true</vt:lpwstr>
  </property>
  <property fmtid="{D5CDD505-2E9C-101B-9397-08002B2CF9AE}" pid="3" name="MSIP_Label_d0979fc8-5559-4f19-93ee-e28ca03d7638_SetDate">
    <vt:lpwstr>2026-04-20T21:45:56Z</vt:lpwstr>
  </property>
  <property fmtid="{D5CDD505-2E9C-101B-9397-08002B2CF9AE}" pid="4" name="MSIP_Label_d0979fc8-5559-4f19-93ee-e28ca03d7638_Method">
    <vt:lpwstr>Privileged</vt:lpwstr>
  </property>
  <property fmtid="{D5CDD505-2E9C-101B-9397-08002B2CF9AE}" pid="5" name="MSIP_Label_d0979fc8-5559-4f19-93ee-e28ca03d7638_Name">
    <vt:lpwstr>General Business Information (G)</vt:lpwstr>
  </property>
  <property fmtid="{D5CDD505-2E9C-101B-9397-08002B2CF9AE}" pid="6" name="MSIP_Label_d0979fc8-5559-4f19-93ee-e28ca03d7638_SiteId">
    <vt:lpwstr>906aefe9-76a7-4f65-b82d-5ec20775d5aa</vt:lpwstr>
  </property>
  <property fmtid="{D5CDD505-2E9C-101B-9397-08002B2CF9AE}" pid="7" name="MSIP_Label_d0979fc8-5559-4f19-93ee-e28ca03d7638_ActionId">
    <vt:lpwstr>ba13f17e-9d43-4ef0-979a-874e8dbf0cbd</vt:lpwstr>
  </property>
  <property fmtid="{D5CDD505-2E9C-101B-9397-08002B2CF9AE}" pid="8" name="MSIP_Label_d0979fc8-5559-4f19-93ee-e28ca03d7638_ContentBits">
    <vt:lpwstr>0</vt:lpwstr>
  </property>
  <property fmtid="{D5CDD505-2E9C-101B-9397-08002B2CF9AE}" pid="9" name="MSIP_Label_d0979fc8-5559-4f19-93ee-e28ca03d7638_Tag">
    <vt:lpwstr>50, 0, 1, 1</vt:lpwstr>
  </property>
</Properties>
</file>